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Market Value (₹ Cr)</c:v>
                </c:pt>
              </c:strCache>
            </c:strRef>
          </c:tx>
          <c:spPr>
            <a:solidFill>
              <a:srgbClr val="D9782D"/>
            </a:solidFill>
            <a:effectLst/>
          </c:spPr>
          <c:invertIfNegative val="0"/>
          <c:dLbls>
            <c:numFmt formatCode="#,##0" sourceLinked="0"/>
            <c:txPr>
              <a:bodyPr/>
              <a:lstStyle/>
              <a:p>
                <a:pPr>
                  <a:defRPr b="0" i="0" strike="noStrike" sz="950" u="none">
                    <a:solidFill>
                      <a:srgbClr val="232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Surat</c:v>
                  </c:pt>
                  <c:pt idx="1">
                    <c:v>Valsad</c:v>
                  </c:pt>
                  <c:pt idx="2">
                    <c:v>Bharuch</c:v>
                  </c:pt>
                  <c:pt idx="3">
                    <c:v>Navsari</c:v>
                  </c:pt>
                  <c:pt idx="4">
                    <c:v>Tapi</c:v>
                  </c:pt>
                </c:lvl>
              </c:multiLvlStrCache>
            </c:multiLvlStrRef>
          </c:cat>
          <c:val>
            <c:numRef>
              <c:f>Sheet1!$B$2:$B$6</c:f>
              <c:numCache>
                <c:formatCode>General</c:formatCode>
                <c:ptCount val="5"/>
                <c:pt idx="0">
                  <c:v>17778</c:v>
                </c:pt>
                <c:pt idx="1">
                  <c:v>2678</c:v>
                </c:pt>
                <c:pt idx="2">
                  <c:v>1616</c:v>
                </c:pt>
                <c:pt idx="3">
                  <c:v>865</c:v>
                </c:pt>
                <c:pt idx="4">
                  <c:v>22</c:v>
                </c:pt>
              </c:numCache>
            </c:numRef>
          </c:val>
        </c:ser>
        <c:dLbls>
          <c:numFmt formatCode="#,##0" sourceLinked="0"/>
          <c:txPr>
            <a:bodyPr/>
            <a:lstStyle/>
            <a:p>
              <a:pPr>
                <a:defRPr b="0" i="0" strike="noStrike" sz="950" u="none">
                  <a:solidFill>
                    <a:srgbClr val="23262A"/>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EE1E3"/>
            </a:solidFill>
            <a:prstDash val="solid"/>
            <a:round/>
          </a:ln>
        </c:spPr>
        <c:txPr>
          <a:bodyPr/>
          <a:lstStyle/>
          <a:p>
            <a:pPr>
              <a:defRPr sz="1000" b="0" i="0" u="none" strike="noStrike">
                <a:solidFill>
                  <a:srgbClr val="3D414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EE1E3"/>
              </a:solidFill>
              <a:prstDash val="solid"/>
              <a:round/>
            </a:ln>
          </c:spPr>
        </c:majorGridlines>
        <c:numFmt formatCode="General" sourceLinked="0"/>
        <c:majorTickMark val="out"/>
        <c:minorTickMark val="none"/>
        <c:tickLblPos val="low"/>
        <c:spPr>
          <a:ln w="12700" cap="flat">
            <a:solidFill>
              <a:srgbClr val="DEE1E3"/>
            </a:solidFill>
            <a:prstDash val="solid"/>
            <a:round/>
          </a:ln>
        </c:spPr>
        <c:txPr>
          <a:bodyPr/>
          <a:lstStyle/>
          <a:p>
            <a:pPr>
              <a:defRPr sz="850" b="0" i="0" u="none" strike="noStrike">
                <a:solidFill>
                  <a:srgbClr val="70757C"/>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Category Mix</c:v>
                </c:pt>
              </c:strCache>
            </c:strRef>
          </c:tx>
          <c:spPr>
            <a:solidFill>
              <a:schemeClr val="accent1"/>
            </a:solidFill>
            <a:ln w="9525" cap="flat">
              <a:solidFill>
                <a:srgbClr val="F9F9F9"/>
              </a:solidFill>
              <a:prstDash val="solid"/>
              <a:round/>
            </a:ln>
            <a:effectLst/>
          </c:spPr>
          <c:dPt>
            <c:idx val="0"/>
            <c:bubble3D val="0"/>
            <c:spPr>
              <a:solidFill>
                <a:srgbClr val="D9782D"/>
              </a:solidFill>
              <a:effectLst/>
            </c:spPr>
          </c:dPt>
          <c:dPt>
            <c:idx val="1"/>
            <c:bubble3D val="0"/>
            <c:spPr>
              <a:solidFill>
                <a:srgbClr val="45606F"/>
              </a:solidFill>
              <a:effectLst/>
            </c:spPr>
          </c:dPt>
          <c:dPt>
            <c:idx val="2"/>
            <c:bubble3D val="0"/>
            <c:spPr>
              <a:solidFill>
                <a:srgbClr val="3A3F45"/>
              </a:solidFill>
              <a:effectLst/>
            </c:spPr>
          </c:dPt>
          <c:dPt>
            <c:idx val="3"/>
            <c:bubble3D val="0"/>
            <c:spPr>
              <a:solidFill>
                <a:srgbClr val="DEE1E3"/>
              </a:solidFill>
              <a:effectLst/>
            </c:spPr>
          </c:dPt>
          <c:dLbls>
            <c:dLbl>
              <c:idx val="0"/>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Residential</c:v>
                </c:pt>
                <c:pt idx="1">
                  <c:v>Mixed Development</c:v>
                </c:pt>
                <c:pt idx="2">
                  <c:v>Commercial</c:v>
                </c:pt>
                <c:pt idx="3">
                  <c:v>Plotted Development</c:v>
                </c:pt>
              </c:strCache>
            </c:strRef>
          </c:cat>
          <c:val>
            <c:numRef>
              <c:f>Sheet1!$B$2:$B$5</c:f>
              <c:numCache>
                <c:ptCount val="4"/>
                <c:pt idx="0">
                  <c:v>47.26</c:v>
                </c:pt>
                <c:pt idx="1">
                  <c:v>28.03</c:v>
                </c:pt>
                <c:pt idx="2">
                  <c:v>16.27</c:v>
                </c:pt>
                <c:pt idx="3">
                  <c:v>8.44</c:v>
                </c:pt>
              </c:numCache>
            </c:numRef>
          </c:val>
        </c:ser>
        <c:firstSliceAng val="0"/>
        <c:holeSize val="55"/>
      </c:doughnutChart>
      <c:spPr>
        <a:noFill/>
        <a:ln>
          <a:noFill/>
        </a:ln>
        <a:effectLst/>
      </c:spPr>
    </c:plotArea>
    <c:legend>
      <c:legendPos val="r"/>
      <c:overlay val="0"/>
      <c:txPr>
        <a:bodyPr/>
        <a:lstStyle/>
        <a:p>
          <a:pPr>
            <a:defRPr sz="1000">
              <a:solidFill>
                <a:srgbClr val="3D414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a="http://schemas.openxmlformats.org/drawingml/2006/main" xmlns:c="http://schemas.openxmlformats.org/drawingml/2006/chart"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SOM (₹ Cr)</c:v>
                </c:pt>
              </c:strCache>
            </c:strRef>
          </c:tx>
          <c:spPr>
            <a:solidFill>
              <a:srgbClr val="D9782D"/>
            </a:solidFill>
            <a:effectLst/>
          </c:spPr>
          <c:invertIfNegative val="0"/>
          <c:dLbls>
            <c:numFmt formatCode="#,##0" sourceLinked="0"/>
            <c:txPr>
              <a:bodyPr/>
              <a:lstStyle/>
              <a:p>
                <a:pPr>
                  <a:defRPr b="0" i="0" strike="noStrike" sz="950" u="none">
                    <a:solidFill>
                      <a:srgbClr val="232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1297.170576</c:v>
                </c:pt>
                <c:pt idx="1">
                  <c:v>2594.341152</c:v>
                </c:pt>
                <c:pt idx="2">
                  <c:v>3891.511728</c:v>
                </c:pt>
                <c:pt idx="3">
                  <c:v>4669.814074</c:v>
                </c:pt>
                <c:pt idx="4">
                  <c:v>5188.682304</c:v>
                </c:pt>
              </c:numCache>
            </c:numRef>
          </c:val>
        </c:ser>
        <c:dLbls>
          <c:numFmt formatCode="#,##0" sourceLinked="0"/>
          <c:txPr>
            <a:bodyPr/>
            <a:lstStyle/>
            <a:p>
              <a:pPr>
                <a:defRPr b="0" i="0" strike="noStrike" sz="950" u="none">
                  <a:solidFill>
                    <a:srgbClr val="23262A"/>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EE1E3"/>
            </a:solidFill>
            <a:prstDash val="solid"/>
            <a:round/>
          </a:ln>
        </c:spPr>
        <c:txPr>
          <a:bodyPr/>
          <a:lstStyle/>
          <a:p>
            <a:pPr>
              <a:defRPr sz="1050" b="0" i="0" u="none" strike="noStrike">
                <a:solidFill>
                  <a:srgbClr val="3D414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EE1E3"/>
              </a:solidFill>
              <a:prstDash val="solid"/>
              <a:round/>
            </a:ln>
          </c:spPr>
        </c:majorGridlines>
        <c:numFmt formatCode="General" sourceLinked="0"/>
        <c:majorTickMark val="out"/>
        <c:minorTickMark val="none"/>
        <c:tickLblPos val="nextTo"/>
        <c:spPr>
          <a:ln w="12700" cap="flat">
            <a:solidFill>
              <a:srgbClr val="DEE1E3"/>
            </a:solidFill>
            <a:prstDash val="solid"/>
            <a:round/>
          </a:ln>
        </c:spPr>
        <c:txPr>
          <a:bodyPr/>
          <a:lstStyle/>
          <a:p>
            <a:pPr>
              <a:defRPr sz="850" b="0" i="0" u="none" strike="noStrike">
                <a:solidFill>
                  <a:srgbClr val="70757C"/>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Threat</c:v>
                </c:pt>
              </c:strCache>
            </c:strRef>
          </c:tx>
          <c:spPr>
            <a:solidFill>
              <a:schemeClr val="accent1"/>
            </a:solidFill>
            <a:ln w="9525" cap="flat">
              <a:solidFill>
                <a:srgbClr val="F9F9F9"/>
              </a:solidFill>
              <a:prstDash val="solid"/>
              <a:round/>
            </a:ln>
            <a:effectLst/>
          </c:spPr>
          <c:dPt>
            <c:idx val="0"/>
            <c:bubble3D val="0"/>
            <c:spPr>
              <a:solidFill>
                <a:srgbClr val="B23A34"/>
              </a:solidFill>
              <a:effectLst/>
            </c:spPr>
          </c:dPt>
          <c:dPt>
            <c:idx val="1"/>
            <c:bubble3D val="0"/>
            <c:spPr>
              <a:solidFill>
                <a:srgbClr val="B85F1E"/>
              </a:solidFill>
              <a:effectLst/>
            </c:spPr>
          </c:dPt>
          <c:dPt>
            <c:idx val="2"/>
            <c:bubble3D val="0"/>
            <c:spPr>
              <a:solidFill>
                <a:srgbClr val="45606F"/>
              </a:solidFill>
              <a:effectLst/>
            </c:spPr>
          </c:dPt>
          <c:dLbls>
            <c:dLbl>
              <c:idx val="0"/>
              <c:numFmt formatCode="General" sourceLinked="0"/>
              <c:spPr/>
              <c:txPr>
                <a:bodyPr/>
                <a:lstStyle/>
                <a:p>
                  <a:pPr>
                    <a:defRPr sz="1000" b="0"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000" b="0"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000" b="0"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24</c:v>
                </c:pt>
                <c:pt idx="1">
                  <c:v>26</c:v>
                </c:pt>
                <c:pt idx="2">
                  <c:v>16</c:v>
                </c:pt>
              </c:numCache>
            </c:numRef>
          </c:val>
        </c:ser>
        <c:firstSliceAng val="0"/>
        <c:holeSize val="55"/>
      </c:doughnutChart>
      <c:spPr>
        <a:noFill/>
        <a:ln>
          <a:noFill/>
        </a:ln>
        <a:effectLst/>
      </c:spPr>
    </c:plotArea>
    <c:legend>
      <c:legendPos val="b"/>
      <c:overlay val="0"/>
      <c:txPr>
        <a:bodyPr/>
        <a:lstStyle/>
        <a:p>
          <a:pPr>
            <a:defRPr sz="950">
              <a:solidFill>
                <a:srgbClr val="3D414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Demand (m³)</c:v>
                </c:pt>
              </c:strCache>
            </c:strRef>
          </c:tx>
          <c:spPr>
            <a:solidFill>
              <a:srgbClr val="45606F"/>
            </a:solidFill>
            <a:effectLst/>
          </c:spPr>
          <c:invertIfNegative val="0"/>
          <c:dLbls>
            <c:numFmt formatCode="#,##0" sourceLinked="0"/>
            <c:txPr>
              <a:bodyPr/>
              <a:lstStyle/>
              <a:p>
                <a:pPr>
                  <a:defRPr b="0" i="0" strike="noStrike" sz="900" u="none">
                    <a:solidFill>
                      <a:srgbClr val="232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Bharuch</c:v>
                  </c:pt>
                  <c:pt idx="1">
                    <c:v>Surat</c:v>
                  </c:pt>
                  <c:pt idx="2">
                    <c:v>Valsad</c:v>
                  </c:pt>
                  <c:pt idx="3">
                    <c:v>Tapi</c:v>
                  </c:pt>
                  <c:pt idx="4">
                    <c:v>Navsari</c:v>
                  </c:pt>
                </c:lvl>
              </c:multiLvlStrCache>
            </c:multiLvlStrRef>
          </c:cat>
          <c:val>
            <c:numRef>
              <c:f>Sheet1!$B$2:$B$6</c:f>
              <c:numCache>
                <c:formatCode>General</c:formatCode>
                <c:ptCount val="5"/>
                <c:pt idx="0">
                  <c:v>2749297</c:v>
                </c:pt>
                <c:pt idx="1">
                  <c:v>1663256</c:v>
                </c:pt>
                <c:pt idx="2">
                  <c:v>814144</c:v>
                </c:pt>
                <c:pt idx="3">
                  <c:v>602100</c:v>
                </c:pt>
                <c:pt idx="4">
                  <c:v>549696</c:v>
                </c:pt>
              </c:numCache>
            </c:numRef>
          </c:val>
        </c:ser>
        <c:dLbls>
          <c:numFmt formatCode="#,##0" sourceLinked="0"/>
          <c:txPr>
            <a:bodyPr/>
            <a:lstStyle/>
            <a:p>
              <a:pPr>
                <a:defRPr b="0" i="0" strike="noStrike" sz="900" u="none">
                  <a:solidFill>
                    <a:srgbClr val="23262A"/>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EE1E3"/>
            </a:solidFill>
            <a:prstDash val="solid"/>
            <a:round/>
          </a:ln>
        </c:spPr>
        <c:txPr>
          <a:bodyPr/>
          <a:lstStyle/>
          <a:p>
            <a:pPr>
              <a:defRPr sz="1000" b="0" i="0" u="none" strike="noStrike">
                <a:solidFill>
                  <a:srgbClr val="3D414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EE1E3"/>
              </a:solidFill>
              <a:prstDash val="solid"/>
              <a:round/>
            </a:ln>
          </c:spPr>
        </c:majorGridlines>
        <c:numFmt formatCode="#,##0" sourceLinked="0"/>
        <c:majorTickMark val="out"/>
        <c:minorTickMark val="none"/>
        <c:tickLblPos val="low"/>
        <c:spPr>
          <a:ln w="12700" cap="flat">
            <a:solidFill>
              <a:srgbClr val="DEE1E3"/>
            </a:solidFill>
            <a:prstDash val="solid"/>
            <a:round/>
          </a:ln>
        </c:spPr>
        <c:txPr>
          <a:bodyPr/>
          <a:lstStyle/>
          <a:p>
            <a:pPr>
              <a:defRPr sz="800" b="0" i="0" u="none" strike="noStrike">
                <a:solidFill>
                  <a:srgbClr val="70757C"/>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a="http://schemas.openxmlformats.org/drawingml/2006/main" xmlns:c="http://schemas.openxmlformats.org/drawingml/2006/chart"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 Cr)</c:v>
                </c:pt>
              </c:strCache>
            </c:strRef>
          </c:tx>
          <c:spPr>
            <a:solidFill>
              <a:srgbClr val="45606F"/>
            </a:solidFill>
            <a:effectLst/>
          </c:spPr>
          <c:invertIfNegative val="0"/>
          <c:dLbls>
            <c:numFmt formatCode="#,##0" sourceLinked="0"/>
            <c:txPr>
              <a:bodyPr/>
              <a:lstStyle/>
              <a:p>
                <a:pPr>
                  <a:defRPr b="0" i="0" strike="noStrike" sz="900" u="none">
                    <a:solidFill>
                      <a:srgbClr val="2326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38.237823</c:v>
                </c:pt>
                <c:pt idx="1">
                  <c:v>78.769916</c:v>
                </c:pt>
                <c:pt idx="2">
                  <c:v>121.69952</c:v>
                </c:pt>
                <c:pt idx="3">
                  <c:v>125.350505</c:v>
                </c:pt>
                <c:pt idx="4">
                  <c:v>129.11102</c:v>
                </c:pt>
              </c:numCache>
            </c:numRef>
          </c:val>
        </c:ser>
        <c:dLbls>
          <c:numFmt formatCode="#,##0" sourceLinked="0"/>
          <c:txPr>
            <a:bodyPr/>
            <a:lstStyle/>
            <a:p>
              <a:pPr>
                <a:defRPr b="0" i="0" strike="noStrike" sz="900" u="none">
                  <a:solidFill>
                    <a:srgbClr val="23262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EBITDA (₹ Cr)</c:v>
                </c:pt>
              </c:strCache>
            </c:strRef>
          </c:tx>
          <c:spPr>
            <a:solidFill>
              <a:srgbClr val="D9782D"/>
            </a:solidFill>
            <a:ln w="38100" cap="flat">
              <a:solidFill>
                <a:srgbClr val="D9782D"/>
              </a:solidFill>
              <a:prstDash val="solid"/>
              <a:round/>
            </a:ln>
            <a:effectLst/>
          </c:spPr>
          <c:invertIfNegative val="0"/>
          <c:dLbls>
            <c:numFmt formatCode="#,##0" sourceLinked="0"/>
            <c:txPr>
              <a:bodyPr/>
              <a:lstStyle/>
              <a:p>
                <a:pPr>
                  <a:defRPr b="0" i="0" strike="noStrike" sz="900" u="none">
                    <a:solidFill>
                      <a:srgbClr val="23262A"/>
                    </a:solidFill>
                    <a:latin typeface="Calibri"/>
                  </a:defRPr>
                </a:pPr>
              </a:p>
            </c:txPr>
            <c:dLblPos val="t"/>
            <c:showLegendKey val="0"/>
            <c:showVal val="1"/>
            <c:showCatName val="0"/>
            <c:showSerName val="0"/>
            <c:showPercent val="0"/>
            <c:showBubbleSize val="0"/>
            <c:showLeaderLines val="0"/>
          </c:dLbls>
          <c:marker>
            <c:symbol val="circle"/>
            <c:size val="7"/>
            <c:spPr>
              <a:solidFill>
                <a:srgbClr val="D9782D"/>
              </a:solidFill>
              <a:ln w="9525" cap="flat">
                <a:solidFill>
                  <a:srgbClr val="D9782D"/>
                </a:solidFill>
                <a:prstDash val="solid"/>
                <a:round/>
              </a:ln>
              <a:effectLst/>
            </c:spPr>
          </c:marker>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8.657823</c:v>
                </c:pt>
                <c:pt idx="1">
                  <c:v>17.871116</c:v>
                </c:pt>
                <c:pt idx="2">
                  <c:v>27.664874</c:v>
                </c:pt>
                <c:pt idx="3">
                  <c:v>28.54882</c:v>
                </c:pt>
                <c:pt idx="4">
                  <c:v>29.459284</c:v>
                </c:pt>
              </c:numCache>
            </c:numRef>
          </c:val>
          <c:smooth val="0"/>
        </c:ser>
        <c:dLbls>
          <c:numFmt formatCode="#,##0" sourceLinked="0"/>
          <c:txPr>
            <a:bodyPr/>
            <a:lstStyle/>
            <a:p>
              <a:pPr>
                <a:defRPr b="0" i="0" strike="noStrike" sz="900" u="none">
                  <a:solidFill>
                    <a:srgbClr val="23262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EE1E3"/>
            </a:solidFill>
            <a:prstDash val="solid"/>
            <a:round/>
          </a:ln>
        </c:spPr>
        <c:txPr>
          <a:bodyPr/>
          <a:lstStyle/>
          <a:p>
            <a:pPr>
              <a:defRPr sz="1050" b="0" i="0" u="none" strike="noStrike">
                <a:solidFill>
                  <a:srgbClr val="3D4147"/>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EE1E3"/>
              </a:solidFill>
              <a:prstDash val="solid"/>
              <a:round/>
            </a:ln>
          </c:spPr>
        </c:majorGridlines>
        <c:numFmt formatCode="General" sourceLinked="0"/>
        <c:majorTickMark val="out"/>
        <c:minorTickMark val="none"/>
        <c:tickLblPos val="nextTo"/>
        <c:spPr>
          <a:ln w="12700" cap="flat">
            <a:solidFill>
              <a:srgbClr val="DEE1E3"/>
            </a:solidFill>
            <a:prstDash val="solid"/>
            <a:round/>
          </a:ln>
        </c:spPr>
        <c:txPr>
          <a:bodyPr/>
          <a:lstStyle/>
          <a:p>
            <a:pPr>
              <a:defRPr sz="850" b="0" i="0" u="none" strike="noStrike">
                <a:solidFill>
                  <a:srgbClr val="70757C"/>
                </a:solidFill>
                <a:latin typeface="Calibri"/>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000">
              <a:solidFill>
                <a:srgbClr val="3D414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this clearly as an independent portfolio project, not an UltraTech-commissioned study. The analysis uses UltraTech as a realistic case-study subject to demonstrate market-entry feasibility work end to end: market sizing, competitive intelligence, financial modelling and risk assessment, built from a 10-sheet linked Excel model. State the headline up front if asked: the recommendation is GO, on a phased basis. Keep this slide brief — it's a cover, not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sections following the same structure a strategy-consulting team would use for an investment-committee package: context and objectives first, then market and competitive evidence, then the financial case, then risk, then the recommendation and roadmap. The final two sections are portfolio-specific: future opportunities beyond the base case, and the analytical skills this exercise demonstrates.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answer-first slide. Lead with the recommendation: GO, on a phased basis. The market is large (₹26,760 Cr TAM) but concentrated in Surat, which is why the entry sequencing matters. The financial case clears a normal hurdle rate comfortably at the base case (12% discount rate vs 40.8% IRR), and the downside is bounded by a milestone-gated rollout rather than committing all ₹51 Cr of capex on day one. Every number on this slide is unpacked in the sections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strategic question the rest of the deck answers, not a foregone conclusion. The region is growing quickly and is not yet consolidated — 66 competitors is a large number, but the threat-scoring later in the deck shows most are regionally or sub-regionally constrained. This slide sets up why timing and sequencing matter as much as the decision to enter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map directly to the six analytical sections that follow. Worth noting for a technical audience: each objective was built as its own linked sheet in the underlying Excel model, so the market sizing, competitive scoring, financial model and risk register are all traceable back to source data rather than static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 this mirrors the sheet structure of the underlying Excel model, so each step here corresponds to an actual linked worksheet with source data and formulas, not a static one-off estimate. All analysis is independently compiled from public sources and consultant benchmark assumptions — no proprietary or confidential UltraTech data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private RERA-tracked construction only — infrastructure demand is layered on separately in the infrastructure section. Surat alone accounts for 77% of tracked market value, which is the single biggest reason the recommendation leads with a Surat-first rollout. Residential and mixed-development projects together make up 75% of the value, so product and pricing strategy should be built around those two segments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 is the full private-plus-infrastructure concrete opportunity across all five districts. SAM narrows this to what's realistically reachable from a South Gujarat plant network — 97.7% of TAM, since only Navsari and Tapi carry a partial reachability discount. SOM is the phased capture assumption used in the financial model: starting at 5% market share in Year 1 and ramping to 20% by Year 5 as the plant network scales from one to three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66 competitors sounds crowded, but the threat scoring tells a more precise story: only 24 are rated high-threat, and most of those are small independents with narrow geographic reach, not multi-plant networks. The national Tier-1 players — RDC, Nuvoco — are rated low-threat individually because they compete on captive project work rather than open-market pricing. Buyer power and rivalry are the two forces to watch most closely; supplier power is more manageable given multiple aggregate, sand and fly-ash sources in the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Bharuch punches above its private-market weight here — it's a smaller residential market than Surat, but the Bhadbhut Barrage and Jambusar Bulk Drug Park alone add nearly 2.1M m³ of demand. This is part of why Bharuch stays in the Year-1/2 priority list even though Surat leads on private-project volume. The Surat Metro Rail project is the single largest infrastructure demand driver in the corridor at just over 1 million m³.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rollout is phased — one plant in Year 1, a second in Year 2, a third in Year 3 — which is why Revenue and EBITDA step up sharply through Year 3 and then grow more modestly as the network reaches steady state. Total CapEx across all three plants is ₹51 Cr. On the base case, a 12% discount rate against a 40.8% IRR leaves a wide margin of safety; the Optimistic and Pessimistic scenarios are covered on the following slides where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19 risks carry a named mitigation in the underlying model — none are left unaddressed. The three critical risks share a common thread: they are all about sequencing and concentration, not about the market being unattractive. That's exactly why the recommendation is a phased, milestone-gated rollout rather than a single big-bang investment: it directly mitigates the two highest-severity risks — Surat concentration and SOM capture-ramp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executive dashboard tab in the underlying Excel model — the single page a CFO or investment committee would actually keep open during a decision meeting. Worth flagging proactively: Tapi carries only 4 sampled projects (0.1% of the dataset), so any Tapi-specific figures should be read as directional, not precise. Surat, at 78.5% sample share, is by far the highest-confidence number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sequencing is the recommendation, not just the destination. Every gate between phases is tied to a measurable threshold — utilization and realized pricing between Year 1 and 2, sustained margin between Year 2 and 3 — so capital for Plants 2 and 3 is only committed once Plant 1 proves the model. This directly addresses the two critical risks flagged earlier: Surat concentration and SOM capture-ramp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four pillars in one breath: big market, strong returns, contained risk, clear path. If pressed for the single most important caveat, it's the same one flagged in the risk section — Surat concentration — which is precisely why the roadmap does not treat this as a single go/no-go moment but as three gated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are required for the base-case investment thesis to work — they're upside optionality once the core 3-plant network is operating profitably. The digital ordering platform is worth flagging specifically: Infra.Market already operates as a tech-aggregator in both Surat and Valsad, so a direct-to-customer digital channel is as much a defensive move as a growth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aimed at the portfolio audience specifically — a recruiter, an MBA panel, or anyone assessing the analytical work rather than the RMC business case. Every skill listed here maps to an actual worksheet or deliverable in the underlying model: the Excel workbook, the TAM-SAM-SOM funnel, the competitor scoring, the 5-year DCF, the risk matrix, the dashboard, and this presentation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and invite questions. Good anticipated questions: why Surat first (72% of SAM), what happens if the Pessimistic scenario plays out (negative NPV, which is exactly why the rollout is gated rather than committed upfront), and how the 66-competitor threat scoring was built (Porter's Five Forces plus a probability-weighted capacity/pricing/positioning assessment, detailed in the appendix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p:cSld name="Slide 1">
    <p:bg>
      <p:bgPr>
        <a:solidFill>
          <a:srgbClr val="23262A"/>
        </a:solidFill>
      </p:bgPr>
    </p:bg>
    <p:spTree>
      <p:nvGrpSpPr>
        <p:cNvPr id="1" name=""/>
        <p:cNvGrpSpPr/>
        <p:nvPr/>
      </p:nvGrpSpPr>
      <p:grpSpPr>
        <a:xfrm>
          <a:off x="0" y="0"/>
          <a:ext cx="0" cy="0"/>
          <a:chOff x="0" y="0"/>
          <a:chExt cx="0" cy="0"/>
        </a:xfrm>
      </p:grpSpPr>
      <p:sp>
        <p:nvSpPr>
          <p:cNvPr id="2" name="Shape 0"/>
          <p:cNvSpPr/>
          <p:nvPr/>
        </p:nvSpPr>
        <p:spPr>
          <a:xfrm>
            <a:off x="8503920" y="-2377440"/>
            <a:ext cx="5943600" cy="5943600"/>
          </a:xfrm>
          <a:prstGeom prst="ellipse">
            <a:avLst/>
          </a:prstGeom>
          <a:solidFill>
            <a:srgbClr val="2E3237"/>
          </a:solidFill>
          <a:ln/>
        </p:spPr>
      </p:sp>
      <p:sp>
        <p:nvSpPr>
          <p:cNvPr id="3" name="Shape 1"/>
          <p:cNvSpPr/>
          <p:nvPr/>
        </p:nvSpPr>
        <p:spPr>
          <a:xfrm>
            <a:off x="10332720" y="4480560"/>
            <a:ext cx="2377440" cy="2377440"/>
          </a:xfrm>
          <a:prstGeom prst="ellipse">
            <a:avLst/>
          </a:prstGeom>
          <a:ln w="13970">
            <a:solidFill>
              <a:srgbClr val="D9782D"/>
            </a:solidFill>
            <a:prstDash val="solid"/>
          </a:ln>
        </p:spPr>
      </p:sp>
      <p:sp>
        <p:nvSpPr>
          <p:cNvPr id="4" name="Shape 2"/>
          <p:cNvSpPr/>
          <p:nvPr/>
        </p:nvSpPr>
        <p:spPr>
          <a:xfrm>
            <a:off x="-1280160" y="5120640"/>
            <a:ext cx="2926080" cy="2926080"/>
          </a:xfrm>
          <a:prstGeom prst="ellipse">
            <a:avLst/>
          </a:prstGeom>
          <a:ln w="12700">
            <a:solidFill>
              <a:srgbClr val="3A3F45"/>
            </a:solidFill>
            <a:prstDash val="solid"/>
          </a:ln>
        </p:spPr>
      </p:sp>
      <p:sp>
        <p:nvSpPr>
          <p:cNvPr id="5" name="Text 3"/>
          <p:cNvSpPr/>
          <p:nvPr/>
        </p:nvSpPr>
        <p:spPr>
          <a:xfrm>
            <a:off x="548640" y="868680"/>
            <a:ext cx="9601200" cy="320040"/>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BUSINESS ANALYTICS PORTFOLIO PROJECT   ·   CONSTRUCTION MATERIALS INDUSTRY</a:t>
            </a:r>
            <a:endParaRPr lang="en-US" sz="1250" dirty="0"/>
          </a:p>
        </p:txBody>
      </p:sp>
      <p:sp>
        <p:nvSpPr>
          <p:cNvPr id="6" name="Text 4"/>
          <p:cNvSpPr/>
          <p:nvPr/>
        </p:nvSpPr>
        <p:spPr>
          <a:xfrm>
            <a:off x="548640" y="1874520"/>
            <a:ext cx="10607040" cy="1783080"/>
          </a:xfrm>
          <a:prstGeom prst="rect">
            <a:avLst/>
          </a:prstGeom>
          <a:noFill/>
          <a:ln/>
        </p:spPr>
        <p:txBody>
          <a:bodyPr wrap="square" lIns="0" tIns="0" rIns="0" bIns="0" rtlCol="0" anchor="t"/>
          <a:lstStyle/>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South Gujarat RMC</a:t>
            </a:r>
            <a:endParaRPr lang="en-US" sz="4600" dirty="0"/>
          </a:p>
          <a:p>
            <a:pPr indent="0" marL="0">
              <a:lnSpc>
                <a:spcPct val="102000"/>
              </a:lnSpc>
              <a:buNone/>
            </a:pPr>
            <a:r>
              <a:rPr lang="en-US" sz="4600" b="1" dirty="0">
                <a:solidFill>
                  <a:srgbClr val="FFFFFF"/>
                </a:solidFill>
                <a:latin typeface="Cambria" pitchFamily="34" charset="0"/>
                <a:ea typeface="Cambria" pitchFamily="34" charset="-122"/>
                <a:cs typeface="Cambria" pitchFamily="34" charset="-120"/>
              </a:rPr>
              <a:t>Market Entry</a:t>
            </a:r>
            <a:endParaRPr lang="en-US" sz="4600" dirty="0"/>
          </a:p>
        </p:txBody>
      </p:sp>
      <p:sp>
        <p:nvSpPr>
          <p:cNvPr id="7" name="Text 5"/>
          <p:cNvSpPr/>
          <p:nvPr/>
        </p:nvSpPr>
        <p:spPr>
          <a:xfrm>
            <a:off x="548640" y="3703320"/>
            <a:ext cx="9875520" cy="457200"/>
          </a:xfrm>
          <a:prstGeom prst="rect">
            <a:avLst/>
          </a:prstGeom>
          <a:noFill/>
          <a:ln/>
        </p:spPr>
        <p:txBody>
          <a:bodyPr wrap="square" lIns="0" tIns="0" rIns="0" bIns="0" rtlCol="0" anchor="ctr"/>
          <a:lstStyle/>
          <a:p>
            <a:pPr indent="0" marL="0">
              <a:buNone/>
            </a:pPr>
            <a:r>
              <a:rPr lang="en-US" sz="2000" dirty="0">
                <a:solidFill>
                  <a:srgbClr val="D9782D"/>
                </a:solidFill>
                <a:latin typeface="Calibri" pitchFamily="34" charset="0"/>
                <a:ea typeface="Calibri" pitchFamily="34" charset="-122"/>
                <a:cs typeface="Calibri" pitchFamily="34" charset="-120"/>
              </a:rPr>
              <a:t>Feasibility Study &amp; Investment Recommendation</a:t>
            </a:r>
            <a:endParaRPr lang="en-US" sz="2000" dirty="0"/>
          </a:p>
        </p:txBody>
      </p:sp>
      <p:sp>
        <p:nvSpPr>
          <p:cNvPr id="8" name="Text 6"/>
          <p:cNvSpPr/>
          <p:nvPr/>
        </p:nvSpPr>
        <p:spPr>
          <a:xfrm>
            <a:off x="548640" y="4187952"/>
            <a:ext cx="9875520" cy="365760"/>
          </a:xfrm>
          <a:prstGeom prst="rect">
            <a:avLst/>
          </a:prstGeom>
          <a:noFill/>
          <a:ln/>
        </p:spPr>
        <p:txBody>
          <a:bodyPr wrap="square" lIns="0" tIns="0" rIns="0" bIns="0" rtlCol="0" anchor="ctr"/>
          <a:lstStyle/>
          <a:p>
            <a:pPr indent="0" marL="0">
              <a:buNone/>
            </a:pPr>
            <a:r>
              <a:rPr lang="en-US" sz="1350" i="1" dirty="0">
                <a:solidFill>
                  <a:srgbClr val="B9BEC4"/>
                </a:solidFill>
                <a:latin typeface="Calibri" pitchFamily="34" charset="0"/>
                <a:ea typeface="Calibri" pitchFamily="34" charset="-122"/>
                <a:cs typeface="Calibri" pitchFamily="34" charset="-120"/>
              </a:rPr>
              <a:t>Independent Portfolio Case Study — RMC Market Entry</a:t>
            </a:r>
            <a:endParaRPr lang="en-US" sz="1350" dirty="0"/>
          </a:p>
        </p:txBody>
      </p:sp>
      <p:sp>
        <p:nvSpPr>
          <p:cNvPr id="9" name="Text 7"/>
          <p:cNvSpPr/>
          <p:nvPr/>
        </p:nvSpPr>
        <p:spPr>
          <a:xfrm>
            <a:off x="548640" y="4892040"/>
            <a:ext cx="2423160" cy="219456"/>
          </a:xfrm>
          <a:prstGeom prst="rect">
            <a:avLst/>
          </a:prstGeom>
          <a:noFill/>
          <a:ln/>
        </p:spPr>
        <p:txBody>
          <a:bodyPr wrap="square" lIns="0" tIns="0" rIns="0" bIns="0" rtlCol="0" anchor="ctr"/>
          <a:lstStyle/>
          <a:p>
            <a:pPr indent="0" marL="0">
              <a:buNone/>
            </a:pPr>
            <a:r>
              <a:rPr lang="en-US" sz="950" b="1" spc="100" kern="0" dirty="0">
                <a:solidFill>
                  <a:srgbClr val="D9782D"/>
                </a:solidFill>
                <a:latin typeface="Calibri" pitchFamily="34" charset="0"/>
                <a:ea typeface="Calibri" pitchFamily="34" charset="-122"/>
                <a:cs typeface="Calibri" pitchFamily="34" charset="-120"/>
              </a:rPr>
              <a:t>PREPARED BY</a:t>
            </a:r>
            <a:endParaRPr lang="en-US" sz="950" dirty="0"/>
          </a:p>
        </p:txBody>
      </p:sp>
      <p:sp>
        <p:nvSpPr>
          <p:cNvPr id="10" name="Text 8"/>
          <p:cNvSpPr/>
          <p:nvPr/>
        </p:nvSpPr>
        <p:spPr>
          <a:xfrm>
            <a:off x="548640" y="5120640"/>
            <a:ext cx="24231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Abhinav Dubey</a:t>
            </a:r>
            <a:endParaRPr lang="en-US" sz="1250" dirty="0"/>
          </a:p>
        </p:txBody>
      </p:sp>
      <p:sp>
        <p:nvSpPr>
          <p:cNvPr id="11" name="Text 9"/>
          <p:cNvSpPr/>
          <p:nvPr/>
        </p:nvSpPr>
        <p:spPr>
          <a:xfrm>
            <a:off x="3154680" y="4892040"/>
            <a:ext cx="2423160" cy="219456"/>
          </a:xfrm>
          <a:prstGeom prst="rect">
            <a:avLst/>
          </a:prstGeom>
          <a:noFill/>
          <a:ln/>
        </p:spPr>
        <p:txBody>
          <a:bodyPr wrap="square" lIns="0" tIns="0" rIns="0" bIns="0" rtlCol="0" anchor="ctr"/>
          <a:lstStyle/>
          <a:p>
            <a:pPr indent="0" marL="0">
              <a:buNone/>
            </a:pPr>
            <a:r>
              <a:rPr lang="en-US" sz="950" b="1" spc="100" kern="0" dirty="0">
                <a:solidFill>
                  <a:srgbClr val="D9782D"/>
                </a:solidFill>
                <a:latin typeface="Calibri" pitchFamily="34" charset="0"/>
                <a:ea typeface="Calibri" pitchFamily="34" charset="-122"/>
                <a:cs typeface="Calibri" pitchFamily="34" charset="-120"/>
              </a:rPr>
              <a:t>ROLE</a:t>
            </a:r>
            <a:endParaRPr lang="en-US" sz="950" dirty="0"/>
          </a:p>
        </p:txBody>
      </p:sp>
      <p:sp>
        <p:nvSpPr>
          <p:cNvPr id="12" name="Text 10"/>
          <p:cNvSpPr/>
          <p:nvPr/>
        </p:nvSpPr>
        <p:spPr>
          <a:xfrm>
            <a:off x="3154680" y="5120640"/>
            <a:ext cx="24231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MIS Executive</a:t>
            </a:r>
            <a:endParaRPr lang="en-US" sz="1250" dirty="0"/>
          </a:p>
        </p:txBody>
      </p:sp>
      <p:sp>
        <p:nvSpPr>
          <p:cNvPr id="13" name="Text 11"/>
          <p:cNvSpPr/>
          <p:nvPr/>
        </p:nvSpPr>
        <p:spPr>
          <a:xfrm>
            <a:off x="5760720" y="4892040"/>
            <a:ext cx="2423160" cy="219456"/>
          </a:xfrm>
          <a:prstGeom prst="rect">
            <a:avLst/>
          </a:prstGeom>
          <a:noFill/>
          <a:ln/>
        </p:spPr>
        <p:txBody>
          <a:bodyPr wrap="square" lIns="0" tIns="0" rIns="0" bIns="0" rtlCol="0" anchor="ctr"/>
          <a:lstStyle/>
          <a:p>
            <a:pPr indent="0" marL="0">
              <a:buNone/>
            </a:pPr>
            <a:r>
              <a:rPr lang="en-US" sz="950" b="1" spc="100" kern="0" dirty="0">
                <a:solidFill>
                  <a:srgbClr val="D9782D"/>
                </a:solidFill>
                <a:latin typeface="Calibri" pitchFamily="34" charset="0"/>
                <a:ea typeface="Calibri" pitchFamily="34" charset="-122"/>
                <a:cs typeface="Calibri" pitchFamily="34" charset="-120"/>
              </a:rPr>
              <a:t>TOOLS</a:t>
            </a:r>
            <a:endParaRPr lang="en-US" sz="950" dirty="0"/>
          </a:p>
        </p:txBody>
      </p:sp>
      <p:sp>
        <p:nvSpPr>
          <p:cNvPr id="14" name="Text 12"/>
          <p:cNvSpPr/>
          <p:nvPr/>
        </p:nvSpPr>
        <p:spPr>
          <a:xfrm>
            <a:off x="5760720" y="5120640"/>
            <a:ext cx="24231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Advanced Excel · Financial Modelling</a:t>
            </a:r>
            <a:endParaRPr lang="en-US" sz="1250" dirty="0"/>
          </a:p>
        </p:txBody>
      </p:sp>
      <p:sp>
        <p:nvSpPr>
          <p:cNvPr id="15" name="Text 13"/>
          <p:cNvSpPr/>
          <p:nvPr/>
        </p:nvSpPr>
        <p:spPr>
          <a:xfrm>
            <a:off x="8366760" y="4892040"/>
            <a:ext cx="2423160" cy="219456"/>
          </a:xfrm>
          <a:prstGeom prst="rect">
            <a:avLst/>
          </a:prstGeom>
          <a:noFill/>
          <a:ln/>
        </p:spPr>
        <p:txBody>
          <a:bodyPr wrap="square" lIns="0" tIns="0" rIns="0" bIns="0" rtlCol="0" anchor="ctr"/>
          <a:lstStyle/>
          <a:p>
            <a:pPr indent="0" marL="0">
              <a:buNone/>
            </a:pPr>
            <a:r>
              <a:rPr lang="en-US" sz="950" b="1" spc="100" kern="0" dirty="0">
                <a:solidFill>
                  <a:srgbClr val="D9782D"/>
                </a:solidFill>
                <a:latin typeface="Calibri" pitchFamily="34" charset="0"/>
                <a:ea typeface="Calibri" pitchFamily="34" charset="-122"/>
                <a:cs typeface="Calibri" pitchFamily="34" charset="-120"/>
              </a:rPr>
              <a:t>DATE</a:t>
            </a:r>
            <a:endParaRPr lang="en-US" sz="950" dirty="0"/>
          </a:p>
        </p:txBody>
      </p:sp>
      <p:sp>
        <p:nvSpPr>
          <p:cNvPr id="16" name="Text 14"/>
          <p:cNvSpPr/>
          <p:nvPr/>
        </p:nvSpPr>
        <p:spPr>
          <a:xfrm>
            <a:off x="8366760" y="5120640"/>
            <a:ext cx="2423160" cy="3657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July 2026</a:t>
            </a:r>
            <a:endParaRPr lang="en-US" sz="1250" dirty="0"/>
          </a:p>
        </p:txBody>
      </p:sp>
      <p:sp>
        <p:nvSpPr>
          <p:cNvPr id="17" name="Shape 15"/>
          <p:cNvSpPr/>
          <p:nvPr/>
        </p:nvSpPr>
        <p:spPr>
          <a:xfrm>
            <a:off x="548640" y="5715000"/>
            <a:ext cx="11094415" cy="777240"/>
          </a:xfrm>
          <a:prstGeom prst="roundRect">
            <a:avLst>
              <a:gd name="adj" fmla="val 8235"/>
            </a:avLst>
          </a:prstGeom>
          <a:solidFill>
            <a:srgbClr val="2E3237"/>
          </a:solidFill>
          <a:ln/>
        </p:spPr>
      </p:sp>
      <p:sp>
        <p:nvSpPr>
          <p:cNvPr id="18" name="Text 16"/>
          <p:cNvSpPr/>
          <p:nvPr/>
        </p:nvSpPr>
        <p:spPr>
          <a:xfrm>
            <a:off x="777240" y="5715000"/>
            <a:ext cx="10637215" cy="777240"/>
          </a:xfrm>
          <a:prstGeom prst="rect">
            <a:avLst/>
          </a:prstGeom>
          <a:noFill/>
          <a:ln/>
        </p:spPr>
        <p:txBody>
          <a:bodyPr wrap="square" lIns="0" tIns="0" rIns="0" bIns="0" rtlCol="0" anchor="ctr"/>
          <a:lstStyle/>
          <a:p>
            <a:pPr indent="0" marL="0">
              <a:lnSpc>
                <a:spcPct val="112000"/>
              </a:lnSpc>
              <a:buNone/>
            </a:pPr>
            <a:r>
              <a:rPr lang="en-US" sz="1050" dirty="0">
                <a:solidFill>
                  <a:srgbClr val="B9BEC4"/>
                </a:solidFill>
                <a:latin typeface="Calibri" pitchFamily="34" charset="0"/>
                <a:ea typeface="Calibri" pitchFamily="34" charset="-122"/>
                <a:cs typeface="Calibri" pitchFamily="34" charset="-120"/>
              </a:rPr>
              <a:t>This is NOT an official UltraTech Cement project. It is an independent analytical project developed for learning and portfolio demonstration, using publicly available information and consultant assumptions — not commissioned, endorsed, or affiliated with UltraTech Cement Limited.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02  </a:t>
            </a:r>
            <a:pPr indent="0" marL="0">
              <a:buNone/>
            </a:pPr>
            <a:r>
              <a:rPr lang="en-US" sz="1250" b="1" spc="200" kern="0" dirty="0">
                <a:solidFill>
                  <a:srgbClr val="D9782D"/>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800" b="1" dirty="0">
                <a:solidFill>
                  <a:srgbClr val="23262A"/>
                </a:solidFill>
                <a:latin typeface="Cambria" pitchFamily="34" charset="0"/>
                <a:ea typeface="Cambria" pitchFamily="34" charset="-122"/>
                <a:cs typeface="Cambria" pitchFamily="34" charset="-120"/>
              </a:rPr>
              <a:t>What We'll Cover</a:t>
            </a:r>
            <a:endParaRPr lang="en-US" sz="2800" dirty="0"/>
          </a:p>
        </p:txBody>
      </p:sp>
      <p:sp>
        <p:nvSpPr>
          <p:cNvPr id="4" name="Shape 2"/>
          <p:cNvSpPr/>
          <p:nvPr/>
        </p:nvSpPr>
        <p:spPr>
          <a:xfrm>
            <a:off x="548640" y="1965960"/>
            <a:ext cx="2554148" cy="932688"/>
          </a:xfrm>
          <a:prstGeom prst="roundRect">
            <a:avLst>
              <a:gd name="adj" fmla="val 6863"/>
            </a:avLst>
          </a:prstGeom>
          <a:solidFill>
            <a:srgbClr val="EEF0F1"/>
          </a:solidFill>
          <a:ln/>
        </p:spPr>
      </p:sp>
      <p:sp>
        <p:nvSpPr>
          <p:cNvPr id="5" name="Text 3"/>
          <p:cNvSpPr/>
          <p:nvPr/>
        </p:nvSpPr>
        <p:spPr>
          <a:xfrm>
            <a:off x="694944" y="205740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03</a:t>
            </a:r>
            <a:endParaRPr lang="en-US" sz="2000" dirty="0"/>
          </a:p>
        </p:txBody>
      </p:sp>
      <p:sp>
        <p:nvSpPr>
          <p:cNvPr id="6" name="Text 4"/>
          <p:cNvSpPr/>
          <p:nvPr/>
        </p:nvSpPr>
        <p:spPr>
          <a:xfrm>
            <a:off x="694944" y="242316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Executive Summary</a:t>
            </a:r>
            <a:endParaRPr lang="en-US" sz="1250" dirty="0"/>
          </a:p>
        </p:txBody>
      </p:sp>
      <p:sp>
        <p:nvSpPr>
          <p:cNvPr id="7" name="Shape 5"/>
          <p:cNvSpPr/>
          <p:nvPr/>
        </p:nvSpPr>
        <p:spPr>
          <a:xfrm>
            <a:off x="3395396" y="1965960"/>
            <a:ext cx="2554148" cy="932688"/>
          </a:xfrm>
          <a:prstGeom prst="roundRect">
            <a:avLst>
              <a:gd name="adj" fmla="val 6863"/>
            </a:avLst>
          </a:prstGeom>
          <a:solidFill>
            <a:srgbClr val="F5F6F5"/>
          </a:solidFill>
          <a:ln/>
        </p:spPr>
      </p:sp>
      <p:sp>
        <p:nvSpPr>
          <p:cNvPr id="8" name="Text 6"/>
          <p:cNvSpPr/>
          <p:nvPr/>
        </p:nvSpPr>
        <p:spPr>
          <a:xfrm>
            <a:off x="3541700" y="205740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04</a:t>
            </a:r>
            <a:endParaRPr lang="en-US" sz="2000" dirty="0"/>
          </a:p>
        </p:txBody>
      </p:sp>
      <p:sp>
        <p:nvSpPr>
          <p:cNvPr id="9" name="Text 7"/>
          <p:cNvSpPr/>
          <p:nvPr/>
        </p:nvSpPr>
        <p:spPr>
          <a:xfrm>
            <a:off x="3541700" y="242316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Business Problem</a:t>
            </a:r>
            <a:endParaRPr lang="en-US" sz="1250" dirty="0"/>
          </a:p>
        </p:txBody>
      </p:sp>
      <p:sp>
        <p:nvSpPr>
          <p:cNvPr id="10" name="Shape 8"/>
          <p:cNvSpPr/>
          <p:nvPr/>
        </p:nvSpPr>
        <p:spPr>
          <a:xfrm>
            <a:off x="6242152" y="1965960"/>
            <a:ext cx="2554148" cy="932688"/>
          </a:xfrm>
          <a:prstGeom prst="roundRect">
            <a:avLst>
              <a:gd name="adj" fmla="val 6863"/>
            </a:avLst>
          </a:prstGeom>
          <a:solidFill>
            <a:srgbClr val="EEF0F1"/>
          </a:solidFill>
          <a:ln/>
        </p:spPr>
      </p:sp>
      <p:sp>
        <p:nvSpPr>
          <p:cNvPr id="11" name="Text 9"/>
          <p:cNvSpPr/>
          <p:nvPr/>
        </p:nvSpPr>
        <p:spPr>
          <a:xfrm>
            <a:off x="6388456" y="205740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05</a:t>
            </a:r>
            <a:endParaRPr lang="en-US" sz="2000" dirty="0"/>
          </a:p>
        </p:txBody>
      </p:sp>
      <p:sp>
        <p:nvSpPr>
          <p:cNvPr id="12" name="Text 10"/>
          <p:cNvSpPr/>
          <p:nvPr/>
        </p:nvSpPr>
        <p:spPr>
          <a:xfrm>
            <a:off x="6388456" y="242316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Project Objectives</a:t>
            </a:r>
            <a:endParaRPr lang="en-US" sz="1250" dirty="0"/>
          </a:p>
        </p:txBody>
      </p:sp>
      <p:sp>
        <p:nvSpPr>
          <p:cNvPr id="13" name="Shape 11"/>
          <p:cNvSpPr/>
          <p:nvPr/>
        </p:nvSpPr>
        <p:spPr>
          <a:xfrm>
            <a:off x="9088907" y="1965960"/>
            <a:ext cx="2554148" cy="932688"/>
          </a:xfrm>
          <a:prstGeom prst="roundRect">
            <a:avLst>
              <a:gd name="adj" fmla="val 6863"/>
            </a:avLst>
          </a:prstGeom>
          <a:solidFill>
            <a:srgbClr val="F5F6F5"/>
          </a:solidFill>
          <a:ln/>
        </p:spPr>
      </p:sp>
      <p:sp>
        <p:nvSpPr>
          <p:cNvPr id="14" name="Text 12"/>
          <p:cNvSpPr/>
          <p:nvPr/>
        </p:nvSpPr>
        <p:spPr>
          <a:xfrm>
            <a:off x="9235211" y="205740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06</a:t>
            </a:r>
            <a:endParaRPr lang="en-US" sz="2000" dirty="0"/>
          </a:p>
        </p:txBody>
      </p:sp>
      <p:sp>
        <p:nvSpPr>
          <p:cNvPr id="15" name="Text 13"/>
          <p:cNvSpPr/>
          <p:nvPr/>
        </p:nvSpPr>
        <p:spPr>
          <a:xfrm>
            <a:off x="9235211" y="242316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Methodology</a:t>
            </a:r>
            <a:endParaRPr lang="en-US" sz="1250" dirty="0"/>
          </a:p>
        </p:txBody>
      </p:sp>
      <p:sp>
        <p:nvSpPr>
          <p:cNvPr id="16" name="Shape 14"/>
          <p:cNvSpPr/>
          <p:nvPr/>
        </p:nvSpPr>
        <p:spPr>
          <a:xfrm>
            <a:off x="548640" y="3063240"/>
            <a:ext cx="2554148" cy="932688"/>
          </a:xfrm>
          <a:prstGeom prst="roundRect">
            <a:avLst>
              <a:gd name="adj" fmla="val 6863"/>
            </a:avLst>
          </a:prstGeom>
          <a:solidFill>
            <a:srgbClr val="F5F6F5"/>
          </a:solidFill>
          <a:ln/>
        </p:spPr>
      </p:sp>
      <p:sp>
        <p:nvSpPr>
          <p:cNvPr id="17" name="Text 15"/>
          <p:cNvSpPr/>
          <p:nvPr/>
        </p:nvSpPr>
        <p:spPr>
          <a:xfrm>
            <a:off x="694944" y="315468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07</a:t>
            </a:r>
            <a:endParaRPr lang="en-US" sz="2000" dirty="0"/>
          </a:p>
        </p:txBody>
      </p:sp>
      <p:sp>
        <p:nvSpPr>
          <p:cNvPr id="18" name="Text 16"/>
          <p:cNvSpPr/>
          <p:nvPr/>
        </p:nvSpPr>
        <p:spPr>
          <a:xfrm>
            <a:off x="694944" y="352044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Market Opportunity</a:t>
            </a:r>
            <a:endParaRPr lang="en-US" sz="1250" dirty="0"/>
          </a:p>
        </p:txBody>
      </p:sp>
      <p:sp>
        <p:nvSpPr>
          <p:cNvPr id="19" name="Shape 17"/>
          <p:cNvSpPr/>
          <p:nvPr/>
        </p:nvSpPr>
        <p:spPr>
          <a:xfrm>
            <a:off x="3395396" y="3063240"/>
            <a:ext cx="2554148" cy="932688"/>
          </a:xfrm>
          <a:prstGeom prst="roundRect">
            <a:avLst>
              <a:gd name="adj" fmla="val 6863"/>
            </a:avLst>
          </a:prstGeom>
          <a:solidFill>
            <a:srgbClr val="EEF0F1"/>
          </a:solidFill>
          <a:ln/>
        </p:spPr>
      </p:sp>
      <p:sp>
        <p:nvSpPr>
          <p:cNvPr id="20" name="Text 18"/>
          <p:cNvSpPr/>
          <p:nvPr/>
        </p:nvSpPr>
        <p:spPr>
          <a:xfrm>
            <a:off x="3541700" y="315468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08</a:t>
            </a:r>
            <a:endParaRPr lang="en-US" sz="2000" dirty="0"/>
          </a:p>
        </p:txBody>
      </p:sp>
      <p:sp>
        <p:nvSpPr>
          <p:cNvPr id="21" name="Text 19"/>
          <p:cNvSpPr/>
          <p:nvPr/>
        </p:nvSpPr>
        <p:spPr>
          <a:xfrm>
            <a:off x="3541700" y="352044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TAM / SAM / SOM</a:t>
            </a:r>
            <a:endParaRPr lang="en-US" sz="1250" dirty="0"/>
          </a:p>
        </p:txBody>
      </p:sp>
      <p:sp>
        <p:nvSpPr>
          <p:cNvPr id="22" name="Shape 20"/>
          <p:cNvSpPr/>
          <p:nvPr/>
        </p:nvSpPr>
        <p:spPr>
          <a:xfrm>
            <a:off x="6242152" y="3063240"/>
            <a:ext cx="2554148" cy="932688"/>
          </a:xfrm>
          <a:prstGeom prst="roundRect">
            <a:avLst>
              <a:gd name="adj" fmla="val 6863"/>
            </a:avLst>
          </a:prstGeom>
          <a:solidFill>
            <a:srgbClr val="F5F6F5"/>
          </a:solidFill>
          <a:ln/>
        </p:spPr>
      </p:sp>
      <p:sp>
        <p:nvSpPr>
          <p:cNvPr id="23" name="Text 21"/>
          <p:cNvSpPr/>
          <p:nvPr/>
        </p:nvSpPr>
        <p:spPr>
          <a:xfrm>
            <a:off x="6388456" y="315468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09</a:t>
            </a:r>
            <a:endParaRPr lang="en-US" sz="2000" dirty="0"/>
          </a:p>
        </p:txBody>
      </p:sp>
      <p:sp>
        <p:nvSpPr>
          <p:cNvPr id="24" name="Text 22"/>
          <p:cNvSpPr/>
          <p:nvPr/>
        </p:nvSpPr>
        <p:spPr>
          <a:xfrm>
            <a:off x="6388456" y="352044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Competitor Landscape</a:t>
            </a:r>
            <a:endParaRPr lang="en-US" sz="1250" dirty="0"/>
          </a:p>
        </p:txBody>
      </p:sp>
      <p:sp>
        <p:nvSpPr>
          <p:cNvPr id="25" name="Shape 23"/>
          <p:cNvSpPr/>
          <p:nvPr/>
        </p:nvSpPr>
        <p:spPr>
          <a:xfrm>
            <a:off x="9088907" y="3063240"/>
            <a:ext cx="2554148" cy="932688"/>
          </a:xfrm>
          <a:prstGeom prst="roundRect">
            <a:avLst>
              <a:gd name="adj" fmla="val 6863"/>
            </a:avLst>
          </a:prstGeom>
          <a:solidFill>
            <a:srgbClr val="EEF0F1"/>
          </a:solidFill>
          <a:ln/>
        </p:spPr>
      </p:sp>
      <p:sp>
        <p:nvSpPr>
          <p:cNvPr id="26" name="Text 24"/>
          <p:cNvSpPr/>
          <p:nvPr/>
        </p:nvSpPr>
        <p:spPr>
          <a:xfrm>
            <a:off x="9235211" y="315468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10</a:t>
            </a:r>
            <a:endParaRPr lang="en-US" sz="2000" dirty="0"/>
          </a:p>
        </p:txBody>
      </p:sp>
      <p:sp>
        <p:nvSpPr>
          <p:cNvPr id="27" name="Text 25"/>
          <p:cNvSpPr/>
          <p:nvPr/>
        </p:nvSpPr>
        <p:spPr>
          <a:xfrm>
            <a:off x="9235211" y="352044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Infrastructure Analysis</a:t>
            </a:r>
            <a:endParaRPr lang="en-US" sz="1250" dirty="0"/>
          </a:p>
        </p:txBody>
      </p:sp>
      <p:sp>
        <p:nvSpPr>
          <p:cNvPr id="28" name="Shape 26"/>
          <p:cNvSpPr/>
          <p:nvPr/>
        </p:nvSpPr>
        <p:spPr>
          <a:xfrm>
            <a:off x="548640" y="4160520"/>
            <a:ext cx="2554148" cy="932688"/>
          </a:xfrm>
          <a:prstGeom prst="roundRect">
            <a:avLst>
              <a:gd name="adj" fmla="val 6863"/>
            </a:avLst>
          </a:prstGeom>
          <a:solidFill>
            <a:srgbClr val="EEF0F1"/>
          </a:solidFill>
          <a:ln/>
        </p:spPr>
      </p:sp>
      <p:sp>
        <p:nvSpPr>
          <p:cNvPr id="29" name="Text 27"/>
          <p:cNvSpPr/>
          <p:nvPr/>
        </p:nvSpPr>
        <p:spPr>
          <a:xfrm>
            <a:off x="694944" y="425196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11</a:t>
            </a:r>
            <a:endParaRPr lang="en-US" sz="2000" dirty="0"/>
          </a:p>
        </p:txBody>
      </p:sp>
      <p:sp>
        <p:nvSpPr>
          <p:cNvPr id="30" name="Text 28"/>
          <p:cNvSpPr/>
          <p:nvPr/>
        </p:nvSpPr>
        <p:spPr>
          <a:xfrm>
            <a:off x="694944" y="461772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Financial Highlights</a:t>
            </a:r>
            <a:endParaRPr lang="en-US" sz="1250" dirty="0"/>
          </a:p>
        </p:txBody>
      </p:sp>
      <p:sp>
        <p:nvSpPr>
          <p:cNvPr id="31" name="Shape 29"/>
          <p:cNvSpPr/>
          <p:nvPr/>
        </p:nvSpPr>
        <p:spPr>
          <a:xfrm>
            <a:off x="3395396" y="4160520"/>
            <a:ext cx="2554148" cy="932688"/>
          </a:xfrm>
          <a:prstGeom prst="roundRect">
            <a:avLst>
              <a:gd name="adj" fmla="val 6863"/>
            </a:avLst>
          </a:prstGeom>
          <a:solidFill>
            <a:srgbClr val="F5F6F5"/>
          </a:solidFill>
          <a:ln/>
        </p:spPr>
      </p:sp>
      <p:sp>
        <p:nvSpPr>
          <p:cNvPr id="32" name="Text 30"/>
          <p:cNvSpPr/>
          <p:nvPr/>
        </p:nvSpPr>
        <p:spPr>
          <a:xfrm>
            <a:off x="3541700" y="425196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12</a:t>
            </a:r>
            <a:endParaRPr lang="en-US" sz="2000" dirty="0"/>
          </a:p>
        </p:txBody>
      </p:sp>
      <p:sp>
        <p:nvSpPr>
          <p:cNvPr id="33" name="Text 31"/>
          <p:cNvSpPr/>
          <p:nvPr/>
        </p:nvSpPr>
        <p:spPr>
          <a:xfrm>
            <a:off x="3541700" y="461772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Risk Analysis</a:t>
            </a:r>
            <a:endParaRPr lang="en-US" sz="1250" dirty="0"/>
          </a:p>
        </p:txBody>
      </p:sp>
      <p:sp>
        <p:nvSpPr>
          <p:cNvPr id="34" name="Shape 32"/>
          <p:cNvSpPr/>
          <p:nvPr/>
        </p:nvSpPr>
        <p:spPr>
          <a:xfrm>
            <a:off x="6242152" y="4160520"/>
            <a:ext cx="2554148" cy="932688"/>
          </a:xfrm>
          <a:prstGeom prst="roundRect">
            <a:avLst>
              <a:gd name="adj" fmla="val 6863"/>
            </a:avLst>
          </a:prstGeom>
          <a:solidFill>
            <a:srgbClr val="EEF0F1"/>
          </a:solidFill>
          <a:ln/>
        </p:spPr>
      </p:sp>
      <p:sp>
        <p:nvSpPr>
          <p:cNvPr id="35" name="Text 33"/>
          <p:cNvSpPr/>
          <p:nvPr/>
        </p:nvSpPr>
        <p:spPr>
          <a:xfrm>
            <a:off x="6388456" y="425196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13</a:t>
            </a:r>
            <a:endParaRPr lang="en-US" sz="2000" dirty="0"/>
          </a:p>
        </p:txBody>
      </p:sp>
      <p:sp>
        <p:nvSpPr>
          <p:cNvPr id="36" name="Text 34"/>
          <p:cNvSpPr/>
          <p:nvPr/>
        </p:nvSpPr>
        <p:spPr>
          <a:xfrm>
            <a:off x="6388456" y="461772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Dashboard Highlights</a:t>
            </a:r>
            <a:endParaRPr lang="en-US" sz="1250" dirty="0"/>
          </a:p>
        </p:txBody>
      </p:sp>
      <p:sp>
        <p:nvSpPr>
          <p:cNvPr id="37" name="Shape 35"/>
          <p:cNvSpPr/>
          <p:nvPr/>
        </p:nvSpPr>
        <p:spPr>
          <a:xfrm>
            <a:off x="9088907" y="4160520"/>
            <a:ext cx="2554148" cy="932688"/>
          </a:xfrm>
          <a:prstGeom prst="roundRect">
            <a:avLst>
              <a:gd name="adj" fmla="val 6863"/>
            </a:avLst>
          </a:prstGeom>
          <a:solidFill>
            <a:srgbClr val="F5F6F5"/>
          </a:solidFill>
          <a:ln/>
        </p:spPr>
      </p:sp>
      <p:sp>
        <p:nvSpPr>
          <p:cNvPr id="38" name="Text 36"/>
          <p:cNvSpPr/>
          <p:nvPr/>
        </p:nvSpPr>
        <p:spPr>
          <a:xfrm>
            <a:off x="9235211" y="425196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14</a:t>
            </a:r>
            <a:endParaRPr lang="en-US" sz="2000" dirty="0"/>
          </a:p>
        </p:txBody>
      </p:sp>
      <p:sp>
        <p:nvSpPr>
          <p:cNvPr id="39" name="Text 37"/>
          <p:cNvSpPr/>
          <p:nvPr/>
        </p:nvSpPr>
        <p:spPr>
          <a:xfrm>
            <a:off x="9235211" y="461772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Strategic Recommendation</a:t>
            </a:r>
            <a:endParaRPr lang="en-US" sz="1250" dirty="0"/>
          </a:p>
        </p:txBody>
      </p:sp>
      <p:sp>
        <p:nvSpPr>
          <p:cNvPr id="40" name="Shape 38"/>
          <p:cNvSpPr/>
          <p:nvPr/>
        </p:nvSpPr>
        <p:spPr>
          <a:xfrm>
            <a:off x="548640" y="5257800"/>
            <a:ext cx="2554148" cy="932688"/>
          </a:xfrm>
          <a:prstGeom prst="roundRect">
            <a:avLst>
              <a:gd name="adj" fmla="val 6863"/>
            </a:avLst>
          </a:prstGeom>
          <a:solidFill>
            <a:srgbClr val="F5F6F5"/>
          </a:solidFill>
          <a:ln/>
        </p:spPr>
      </p:sp>
      <p:sp>
        <p:nvSpPr>
          <p:cNvPr id="41" name="Text 39"/>
          <p:cNvSpPr/>
          <p:nvPr/>
        </p:nvSpPr>
        <p:spPr>
          <a:xfrm>
            <a:off x="694944" y="534924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15</a:t>
            </a:r>
            <a:endParaRPr lang="en-US" sz="2000" dirty="0"/>
          </a:p>
        </p:txBody>
      </p:sp>
      <p:sp>
        <p:nvSpPr>
          <p:cNvPr id="42" name="Text 40"/>
          <p:cNvSpPr/>
          <p:nvPr/>
        </p:nvSpPr>
        <p:spPr>
          <a:xfrm>
            <a:off x="694944" y="571500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Conclusion</a:t>
            </a:r>
            <a:endParaRPr lang="en-US" sz="1250" dirty="0"/>
          </a:p>
        </p:txBody>
      </p:sp>
      <p:sp>
        <p:nvSpPr>
          <p:cNvPr id="43" name="Shape 41"/>
          <p:cNvSpPr/>
          <p:nvPr/>
        </p:nvSpPr>
        <p:spPr>
          <a:xfrm>
            <a:off x="3395396" y="5257800"/>
            <a:ext cx="2554148" cy="932688"/>
          </a:xfrm>
          <a:prstGeom prst="roundRect">
            <a:avLst>
              <a:gd name="adj" fmla="val 6863"/>
            </a:avLst>
          </a:prstGeom>
          <a:solidFill>
            <a:srgbClr val="EEF0F1"/>
          </a:solidFill>
          <a:ln/>
        </p:spPr>
      </p:sp>
      <p:sp>
        <p:nvSpPr>
          <p:cNvPr id="44" name="Text 42"/>
          <p:cNvSpPr/>
          <p:nvPr/>
        </p:nvSpPr>
        <p:spPr>
          <a:xfrm>
            <a:off x="3541700" y="534924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16</a:t>
            </a:r>
            <a:endParaRPr lang="en-US" sz="2000" dirty="0"/>
          </a:p>
        </p:txBody>
      </p:sp>
      <p:sp>
        <p:nvSpPr>
          <p:cNvPr id="45" name="Text 43"/>
          <p:cNvSpPr/>
          <p:nvPr/>
        </p:nvSpPr>
        <p:spPr>
          <a:xfrm>
            <a:off x="3541700" y="571500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Future Opportunities</a:t>
            </a:r>
            <a:endParaRPr lang="en-US" sz="1250" dirty="0"/>
          </a:p>
        </p:txBody>
      </p:sp>
      <p:sp>
        <p:nvSpPr>
          <p:cNvPr id="46" name="Shape 44"/>
          <p:cNvSpPr/>
          <p:nvPr/>
        </p:nvSpPr>
        <p:spPr>
          <a:xfrm>
            <a:off x="6242152" y="5257800"/>
            <a:ext cx="2554148" cy="932688"/>
          </a:xfrm>
          <a:prstGeom prst="roundRect">
            <a:avLst>
              <a:gd name="adj" fmla="val 6863"/>
            </a:avLst>
          </a:prstGeom>
          <a:solidFill>
            <a:srgbClr val="F5F6F5"/>
          </a:solidFill>
          <a:ln/>
        </p:spPr>
      </p:sp>
      <p:sp>
        <p:nvSpPr>
          <p:cNvPr id="47" name="Text 45"/>
          <p:cNvSpPr/>
          <p:nvPr/>
        </p:nvSpPr>
        <p:spPr>
          <a:xfrm>
            <a:off x="6388456" y="534924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17</a:t>
            </a:r>
            <a:endParaRPr lang="en-US" sz="2000" dirty="0"/>
          </a:p>
        </p:txBody>
      </p:sp>
      <p:sp>
        <p:nvSpPr>
          <p:cNvPr id="48" name="Text 46"/>
          <p:cNvSpPr/>
          <p:nvPr/>
        </p:nvSpPr>
        <p:spPr>
          <a:xfrm>
            <a:off x="6388456" y="571500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Skills Demonstrated</a:t>
            </a:r>
            <a:endParaRPr lang="en-US" sz="1250" dirty="0"/>
          </a:p>
        </p:txBody>
      </p:sp>
      <p:sp>
        <p:nvSpPr>
          <p:cNvPr id="49" name="Shape 47"/>
          <p:cNvSpPr/>
          <p:nvPr/>
        </p:nvSpPr>
        <p:spPr>
          <a:xfrm>
            <a:off x="9088907" y="5257800"/>
            <a:ext cx="2554148" cy="932688"/>
          </a:xfrm>
          <a:prstGeom prst="roundRect">
            <a:avLst>
              <a:gd name="adj" fmla="val 6863"/>
            </a:avLst>
          </a:prstGeom>
          <a:solidFill>
            <a:srgbClr val="EEF0F1"/>
          </a:solidFill>
          <a:ln/>
        </p:spPr>
      </p:sp>
      <p:sp>
        <p:nvSpPr>
          <p:cNvPr id="50" name="Text 48"/>
          <p:cNvSpPr/>
          <p:nvPr/>
        </p:nvSpPr>
        <p:spPr>
          <a:xfrm>
            <a:off x="9235211" y="5349240"/>
            <a:ext cx="2261540" cy="365760"/>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18</a:t>
            </a:r>
            <a:endParaRPr lang="en-US" sz="2000" dirty="0"/>
          </a:p>
        </p:txBody>
      </p:sp>
      <p:sp>
        <p:nvSpPr>
          <p:cNvPr id="51" name="Text 49"/>
          <p:cNvSpPr/>
          <p:nvPr/>
        </p:nvSpPr>
        <p:spPr>
          <a:xfrm>
            <a:off x="9235211" y="5715000"/>
            <a:ext cx="2261540" cy="420624"/>
          </a:xfrm>
          <a:prstGeom prst="rect">
            <a:avLst/>
          </a:prstGeom>
          <a:noFill/>
          <a:ln/>
        </p:spPr>
        <p:txBody>
          <a:bodyPr wrap="square" lIns="0" tIns="0" rIns="0" bIns="0" rtlCol="0" anchor="t"/>
          <a:lstStyle/>
          <a:p>
            <a:pPr indent="0" marL="0">
              <a:lnSpc>
                <a:spcPct val="100000"/>
              </a:lnSpc>
              <a:buNone/>
            </a:pPr>
            <a:r>
              <a:rPr lang="en-US" sz="1250" b="1" dirty="0">
                <a:solidFill>
                  <a:srgbClr val="23262A"/>
                </a:solidFill>
                <a:latin typeface="Calibri" pitchFamily="34" charset="0"/>
                <a:ea typeface="Calibri" pitchFamily="34" charset="-122"/>
                <a:cs typeface="Calibri" pitchFamily="34" charset="-120"/>
              </a:rPr>
              <a:t>Thank You</a:t>
            </a:r>
            <a:endParaRPr lang="en-US" sz="1250" dirty="0"/>
          </a:p>
        </p:txBody>
      </p:sp>
      <p:sp>
        <p:nvSpPr>
          <p:cNvPr id="52" name="Text 50"/>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53" name="Text 51"/>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03  </a:t>
            </a:r>
            <a:pPr indent="0" marL="0">
              <a:buNone/>
            </a:pPr>
            <a:r>
              <a:rPr lang="en-US" sz="1250" b="1" spc="200" kern="0" dirty="0">
                <a:solidFill>
                  <a:srgbClr val="D9782D"/>
                </a:solidFill>
                <a:latin typeface="Calibri" pitchFamily="34" charset="0"/>
                <a:ea typeface="Calibri" pitchFamily="34" charset="-122"/>
                <a:cs typeface="Calibri" pitchFamily="34" charset="-120"/>
              </a:rPr>
              <a:t>EXECUTIVE SUMMARY</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400" b="1" dirty="0">
                <a:solidFill>
                  <a:srgbClr val="23262A"/>
                </a:solidFill>
                <a:latin typeface="Cambria" pitchFamily="34" charset="0"/>
                <a:ea typeface="Cambria" pitchFamily="34" charset="-122"/>
                <a:cs typeface="Cambria" pitchFamily="34" charset="-120"/>
              </a:rPr>
              <a:t>A large, fragmented market with a financially compelling, phased path to entry</a:t>
            </a:r>
            <a:endParaRPr lang="en-US" sz="2400" dirty="0"/>
          </a:p>
        </p:txBody>
      </p:sp>
      <p:sp>
        <p:nvSpPr>
          <p:cNvPr id="4" name="Shape 2"/>
          <p:cNvSpPr/>
          <p:nvPr/>
        </p:nvSpPr>
        <p:spPr>
          <a:xfrm>
            <a:off x="548640" y="1874520"/>
            <a:ext cx="2651760" cy="1234440"/>
          </a:xfrm>
          <a:prstGeom prst="roundRect">
            <a:avLst>
              <a:gd name="adj" fmla="val 6667"/>
            </a:avLst>
          </a:prstGeom>
          <a:solidFill>
            <a:srgbClr val="23262A"/>
          </a:solidFill>
          <a:ln/>
          <a:effectLst>
            <a:outerShdw sx="100000" sy="100000" kx="0" ky="0" algn="bl" rotWithShape="0" blurRad="101600" dist="25400" dir="5400000">
              <a:srgbClr val="1A1C1F">
                <a:alpha val="10000"/>
              </a:srgbClr>
            </a:outerShdw>
          </a:effectLst>
        </p:spPr>
      </p:sp>
      <p:sp>
        <p:nvSpPr>
          <p:cNvPr id="5" name="Text 3"/>
          <p:cNvSpPr/>
          <p:nvPr/>
        </p:nvSpPr>
        <p:spPr>
          <a:xfrm>
            <a:off x="731520" y="2002536"/>
            <a:ext cx="2286000" cy="228600"/>
          </a:xfrm>
          <a:prstGeom prst="rect">
            <a:avLst/>
          </a:prstGeom>
          <a:noFill/>
          <a:ln/>
        </p:spPr>
        <p:txBody>
          <a:bodyPr wrap="square" lIns="0" tIns="0" rIns="0" bIns="0" rtlCol="0" anchor="ctr"/>
          <a:lstStyle/>
          <a:p>
            <a:pPr indent="0" marL="0">
              <a:buNone/>
            </a:pPr>
            <a:r>
              <a:rPr lang="en-US" sz="950" b="1" spc="120" kern="0" dirty="0">
                <a:solidFill>
                  <a:srgbClr val="D9782D"/>
                </a:solidFill>
                <a:latin typeface="Calibri" pitchFamily="34" charset="0"/>
                <a:ea typeface="Calibri" pitchFamily="34" charset="-122"/>
                <a:cs typeface="Calibri" pitchFamily="34" charset="-120"/>
              </a:rPr>
              <a:t>RECOMMENDATION</a:t>
            </a:r>
            <a:endParaRPr lang="en-US" sz="950" dirty="0"/>
          </a:p>
        </p:txBody>
      </p:sp>
      <p:sp>
        <p:nvSpPr>
          <p:cNvPr id="6" name="Text 4"/>
          <p:cNvSpPr/>
          <p:nvPr/>
        </p:nvSpPr>
        <p:spPr>
          <a:xfrm>
            <a:off x="685800" y="2130552"/>
            <a:ext cx="2377440" cy="621792"/>
          </a:xfrm>
          <a:prstGeom prst="rect">
            <a:avLst/>
          </a:prstGeom>
          <a:noFill/>
          <a:ln/>
        </p:spPr>
        <p:txBody>
          <a:bodyPr wrap="square" lIns="0" tIns="0" rIns="0" bIns="0" rtlCol="0" anchor="ctr"/>
          <a:lstStyle/>
          <a:p>
            <a:pPr algn="l" indent="0" marL="0">
              <a:buNone/>
            </a:pPr>
            <a:r>
              <a:rPr lang="en-US" sz="4400" b="1" dirty="0">
                <a:solidFill>
                  <a:srgbClr val="FFFFFF"/>
                </a:solidFill>
                <a:latin typeface="Cambria" pitchFamily="34" charset="0"/>
                <a:ea typeface="Cambria" pitchFamily="34" charset="-122"/>
                <a:cs typeface="Cambria" pitchFamily="34" charset="-120"/>
              </a:rPr>
              <a:t>GO</a:t>
            </a:r>
            <a:endParaRPr lang="en-US" sz="4400" dirty="0"/>
          </a:p>
        </p:txBody>
      </p:sp>
      <p:sp>
        <p:nvSpPr>
          <p:cNvPr id="7" name="Text 5"/>
          <p:cNvSpPr/>
          <p:nvPr/>
        </p:nvSpPr>
        <p:spPr>
          <a:xfrm>
            <a:off x="731520" y="2816352"/>
            <a:ext cx="2286000" cy="256032"/>
          </a:xfrm>
          <a:prstGeom prst="rect">
            <a:avLst/>
          </a:prstGeom>
          <a:noFill/>
          <a:ln/>
        </p:spPr>
        <p:txBody>
          <a:bodyPr wrap="square" lIns="0" tIns="0" rIns="0" bIns="0" rtlCol="0" anchor="ctr"/>
          <a:lstStyle/>
          <a:p>
            <a:pPr indent="0" marL="0">
              <a:buNone/>
            </a:pPr>
            <a:r>
              <a:rPr lang="en-US" sz="900" dirty="0">
                <a:solidFill>
                  <a:srgbClr val="B9BEC4"/>
                </a:solidFill>
                <a:latin typeface="Calibri" pitchFamily="34" charset="0"/>
                <a:ea typeface="Calibri" pitchFamily="34" charset="-122"/>
                <a:cs typeface="Calibri" pitchFamily="34" charset="-120"/>
              </a:rPr>
              <a:t>Positive NPV · 40.8% IRR · 2.9-yr payback</a:t>
            </a:r>
            <a:endParaRPr lang="en-US" sz="900" dirty="0"/>
          </a:p>
        </p:txBody>
      </p:sp>
      <p:sp>
        <p:nvSpPr>
          <p:cNvPr id="8" name="Shape 6"/>
          <p:cNvSpPr/>
          <p:nvPr/>
        </p:nvSpPr>
        <p:spPr>
          <a:xfrm>
            <a:off x="3383280" y="1874520"/>
            <a:ext cx="1962074" cy="1234440"/>
          </a:xfrm>
          <a:prstGeom prst="roundRect">
            <a:avLst>
              <a:gd name="adj" fmla="val 6667"/>
            </a:avLst>
          </a:prstGeom>
          <a:solidFill>
            <a:srgbClr val="EEF0F1"/>
          </a:solidFill>
          <a:ln/>
          <a:effectLst>
            <a:outerShdw sx="100000" sy="100000" kx="0" ky="0" algn="bl" rotWithShape="0" blurRad="101600" dist="25400" dir="5400000">
              <a:srgbClr val="1A1C1F">
                <a:alpha val="10000"/>
              </a:srgbClr>
            </a:outerShdw>
          </a:effectLst>
        </p:spPr>
      </p:sp>
      <p:sp>
        <p:nvSpPr>
          <p:cNvPr id="9" name="Text 7"/>
          <p:cNvSpPr/>
          <p:nvPr/>
        </p:nvSpPr>
        <p:spPr>
          <a:xfrm>
            <a:off x="3547872" y="2002536"/>
            <a:ext cx="1632890" cy="641909"/>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₹26,760 Cr</a:t>
            </a:r>
            <a:endParaRPr lang="en-US" sz="2100" dirty="0"/>
          </a:p>
        </p:txBody>
      </p:sp>
      <p:sp>
        <p:nvSpPr>
          <p:cNvPr id="10" name="Text 8"/>
          <p:cNvSpPr/>
          <p:nvPr/>
        </p:nvSpPr>
        <p:spPr>
          <a:xfrm>
            <a:off x="3547872" y="2615184"/>
            <a:ext cx="163289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TOTAL MARKET</a:t>
            </a:r>
            <a:endParaRPr lang="en-US" sz="950" dirty="0"/>
          </a:p>
        </p:txBody>
      </p:sp>
      <p:sp>
        <p:nvSpPr>
          <p:cNvPr id="11" name="Text 9"/>
          <p:cNvSpPr/>
          <p:nvPr/>
        </p:nvSpPr>
        <p:spPr>
          <a:xfrm>
            <a:off x="3547872" y="2834640"/>
            <a:ext cx="163289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3,087 projects</a:t>
            </a:r>
            <a:endParaRPr lang="en-US" sz="850" dirty="0"/>
          </a:p>
        </p:txBody>
      </p:sp>
      <p:sp>
        <p:nvSpPr>
          <p:cNvPr id="12" name="Shape 10"/>
          <p:cNvSpPr/>
          <p:nvPr/>
        </p:nvSpPr>
        <p:spPr>
          <a:xfrm>
            <a:off x="5482514" y="1874520"/>
            <a:ext cx="1962074" cy="1234440"/>
          </a:xfrm>
          <a:prstGeom prst="roundRect">
            <a:avLst>
              <a:gd name="adj" fmla="val 6667"/>
            </a:avLst>
          </a:prstGeom>
          <a:solidFill>
            <a:srgbClr val="EEF0F1"/>
          </a:solidFill>
          <a:ln/>
          <a:effectLst>
            <a:outerShdw sx="100000" sy="100000" kx="0" ky="0" algn="bl" rotWithShape="0" blurRad="101600" dist="25400" dir="5400000">
              <a:srgbClr val="1A1C1F">
                <a:alpha val="10000"/>
              </a:srgbClr>
            </a:outerShdw>
          </a:effectLst>
        </p:spPr>
      </p:sp>
      <p:sp>
        <p:nvSpPr>
          <p:cNvPr id="13" name="Text 11"/>
          <p:cNvSpPr/>
          <p:nvPr/>
        </p:nvSpPr>
        <p:spPr>
          <a:xfrm>
            <a:off x="5647106" y="2002536"/>
            <a:ext cx="1632890" cy="641909"/>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₹30.8 Cr</a:t>
            </a:r>
            <a:endParaRPr lang="en-US" sz="2100" dirty="0"/>
          </a:p>
        </p:txBody>
      </p:sp>
      <p:sp>
        <p:nvSpPr>
          <p:cNvPr id="14" name="Text 12"/>
          <p:cNvSpPr/>
          <p:nvPr/>
        </p:nvSpPr>
        <p:spPr>
          <a:xfrm>
            <a:off x="5647106" y="2615184"/>
            <a:ext cx="163289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BASE CASE NPV</a:t>
            </a:r>
            <a:endParaRPr lang="en-US" sz="950" dirty="0"/>
          </a:p>
        </p:txBody>
      </p:sp>
      <p:sp>
        <p:nvSpPr>
          <p:cNvPr id="15" name="Text 13"/>
          <p:cNvSpPr/>
          <p:nvPr/>
        </p:nvSpPr>
        <p:spPr>
          <a:xfrm>
            <a:off x="5647106" y="2834640"/>
            <a:ext cx="163289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 12% discount rate</a:t>
            </a:r>
            <a:endParaRPr lang="en-US" sz="850" dirty="0"/>
          </a:p>
        </p:txBody>
      </p:sp>
      <p:sp>
        <p:nvSpPr>
          <p:cNvPr id="16" name="Shape 14"/>
          <p:cNvSpPr/>
          <p:nvPr/>
        </p:nvSpPr>
        <p:spPr>
          <a:xfrm>
            <a:off x="7581748" y="1874520"/>
            <a:ext cx="1962074" cy="1234440"/>
          </a:xfrm>
          <a:prstGeom prst="roundRect">
            <a:avLst>
              <a:gd name="adj" fmla="val 6667"/>
            </a:avLst>
          </a:prstGeom>
          <a:solidFill>
            <a:srgbClr val="EEF0F1"/>
          </a:solidFill>
          <a:ln/>
          <a:effectLst>
            <a:outerShdw sx="100000" sy="100000" kx="0" ky="0" algn="bl" rotWithShape="0" blurRad="101600" dist="25400" dir="5400000">
              <a:srgbClr val="1A1C1F">
                <a:alpha val="10000"/>
              </a:srgbClr>
            </a:outerShdw>
          </a:effectLst>
        </p:spPr>
      </p:sp>
      <p:sp>
        <p:nvSpPr>
          <p:cNvPr id="17" name="Text 15"/>
          <p:cNvSpPr/>
          <p:nvPr/>
        </p:nvSpPr>
        <p:spPr>
          <a:xfrm>
            <a:off x="7746340" y="2002536"/>
            <a:ext cx="1632890" cy="641909"/>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40.8%</a:t>
            </a:r>
            <a:endParaRPr lang="en-US" sz="2100" dirty="0"/>
          </a:p>
        </p:txBody>
      </p:sp>
      <p:sp>
        <p:nvSpPr>
          <p:cNvPr id="18" name="Text 16"/>
          <p:cNvSpPr/>
          <p:nvPr/>
        </p:nvSpPr>
        <p:spPr>
          <a:xfrm>
            <a:off x="7746340" y="2615184"/>
            <a:ext cx="163289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BASE CASE IRR</a:t>
            </a:r>
            <a:endParaRPr lang="en-US" sz="950" dirty="0"/>
          </a:p>
        </p:txBody>
      </p:sp>
      <p:sp>
        <p:nvSpPr>
          <p:cNvPr id="19" name="Text 17"/>
          <p:cNvSpPr/>
          <p:nvPr/>
        </p:nvSpPr>
        <p:spPr>
          <a:xfrm>
            <a:off x="7746340" y="2834640"/>
            <a:ext cx="163289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5-year investment horizon</a:t>
            </a:r>
            <a:endParaRPr lang="en-US" sz="850" dirty="0"/>
          </a:p>
        </p:txBody>
      </p:sp>
      <p:sp>
        <p:nvSpPr>
          <p:cNvPr id="20" name="Shape 18"/>
          <p:cNvSpPr/>
          <p:nvPr/>
        </p:nvSpPr>
        <p:spPr>
          <a:xfrm>
            <a:off x="9680981" y="1874520"/>
            <a:ext cx="1962074" cy="1234440"/>
          </a:xfrm>
          <a:prstGeom prst="roundRect">
            <a:avLst>
              <a:gd name="adj" fmla="val 6667"/>
            </a:avLst>
          </a:prstGeom>
          <a:solidFill>
            <a:srgbClr val="EEF0F1"/>
          </a:solidFill>
          <a:ln/>
          <a:effectLst>
            <a:outerShdw sx="100000" sy="100000" kx="0" ky="0" algn="bl" rotWithShape="0" blurRad="101600" dist="25400" dir="5400000">
              <a:srgbClr val="1A1C1F">
                <a:alpha val="10000"/>
              </a:srgbClr>
            </a:outerShdw>
          </a:effectLst>
        </p:spPr>
      </p:sp>
      <p:sp>
        <p:nvSpPr>
          <p:cNvPr id="21" name="Text 19"/>
          <p:cNvSpPr/>
          <p:nvPr/>
        </p:nvSpPr>
        <p:spPr>
          <a:xfrm>
            <a:off x="9845573" y="2002536"/>
            <a:ext cx="1632890" cy="641909"/>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2.9 Yrs</a:t>
            </a:r>
            <a:endParaRPr lang="en-US" sz="2100" dirty="0"/>
          </a:p>
        </p:txBody>
      </p:sp>
      <p:sp>
        <p:nvSpPr>
          <p:cNvPr id="22" name="Text 20"/>
          <p:cNvSpPr/>
          <p:nvPr/>
        </p:nvSpPr>
        <p:spPr>
          <a:xfrm>
            <a:off x="9845573" y="2615184"/>
            <a:ext cx="163289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PAYBACK PERIOD</a:t>
            </a:r>
            <a:endParaRPr lang="en-US" sz="950" dirty="0"/>
          </a:p>
        </p:txBody>
      </p:sp>
      <p:sp>
        <p:nvSpPr>
          <p:cNvPr id="23" name="Text 21"/>
          <p:cNvSpPr/>
          <p:nvPr/>
        </p:nvSpPr>
        <p:spPr>
          <a:xfrm>
            <a:off x="9845573" y="2834640"/>
            <a:ext cx="163289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on ₹51 Cr phased CapEx</a:t>
            </a:r>
            <a:endParaRPr lang="en-US" sz="850" dirty="0"/>
          </a:p>
        </p:txBody>
      </p:sp>
      <p:sp>
        <p:nvSpPr>
          <p:cNvPr id="24" name="Shape 22"/>
          <p:cNvSpPr/>
          <p:nvPr/>
        </p:nvSpPr>
        <p:spPr>
          <a:xfrm>
            <a:off x="548640" y="3429000"/>
            <a:ext cx="475488" cy="475488"/>
          </a:xfrm>
          <a:prstGeom prst="ellipse">
            <a:avLst/>
          </a:prstGeom>
          <a:solidFill>
            <a:srgbClr val="D9782D"/>
          </a:solidFill>
          <a:ln/>
        </p:spPr>
      </p:sp>
      <p:pic>
        <p:nvPicPr>
          <p:cNvPr id="25" name="Image 0" descr="./assets/target_white.png">    </p:cNvPr>
          <p:cNvPicPr>
            <a:picLocks noChangeAspect="1"/>
          </p:cNvPicPr>
          <p:nvPr/>
        </p:nvPicPr>
        <p:blipFill>
          <a:blip r:embed="rId1"/>
          <a:stretch>
            <a:fillRect/>
          </a:stretch>
        </p:blipFill>
        <p:spPr>
          <a:xfrm>
            <a:off x="672267" y="3552627"/>
            <a:ext cx="228234" cy="228234"/>
          </a:xfrm>
          <a:prstGeom prst="rect">
            <a:avLst/>
          </a:prstGeom>
        </p:spPr>
      </p:pic>
      <p:sp>
        <p:nvSpPr>
          <p:cNvPr id="26" name="Text 23"/>
          <p:cNvSpPr/>
          <p:nvPr/>
        </p:nvSpPr>
        <p:spPr>
          <a:xfrm>
            <a:off x="1207008" y="3401568"/>
            <a:ext cx="1943786" cy="274320"/>
          </a:xfrm>
          <a:prstGeom prst="rect">
            <a:avLst/>
          </a:prstGeom>
          <a:noFill/>
          <a:ln/>
        </p:spPr>
        <p:txBody>
          <a:bodyPr wrap="square" lIns="0" tIns="0" rIns="0" bIns="0" rtlCol="0" anchor="t"/>
          <a:lstStyle/>
          <a:p>
            <a:pPr indent="0" marL="0">
              <a:buNone/>
            </a:pPr>
            <a:r>
              <a:rPr lang="en-US" sz="1150" b="1" dirty="0">
                <a:solidFill>
                  <a:srgbClr val="23262A"/>
                </a:solidFill>
                <a:latin typeface="Calibri" pitchFamily="34" charset="0"/>
                <a:ea typeface="Calibri" pitchFamily="34" charset="-122"/>
                <a:cs typeface="Calibri" pitchFamily="34" charset="-120"/>
              </a:rPr>
              <a:t>MARKET</a:t>
            </a:r>
            <a:endParaRPr lang="en-US" sz="1150" dirty="0"/>
          </a:p>
        </p:txBody>
      </p:sp>
      <p:sp>
        <p:nvSpPr>
          <p:cNvPr id="27" name="Text 24"/>
          <p:cNvSpPr/>
          <p:nvPr/>
        </p:nvSpPr>
        <p:spPr>
          <a:xfrm>
            <a:off x="1207008" y="3675888"/>
            <a:ext cx="1943786" cy="246888"/>
          </a:xfrm>
          <a:prstGeom prst="rect">
            <a:avLst/>
          </a:prstGeom>
          <a:noFill/>
          <a:ln/>
        </p:spPr>
        <p:txBody>
          <a:bodyPr wrap="square" lIns="0" tIns="0" rIns="0" bIns="0" rtlCol="0" anchor="t"/>
          <a:lstStyle/>
          <a:p>
            <a:pPr indent="0" marL="0">
              <a:lnSpc>
                <a:spcPct val="105000"/>
              </a:lnSpc>
              <a:buNone/>
            </a:pPr>
            <a:r>
              <a:rPr lang="en-US" sz="1000" dirty="0">
                <a:solidFill>
                  <a:srgbClr val="70757C"/>
                </a:solidFill>
                <a:latin typeface="Calibri" pitchFamily="34" charset="0"/>
                <a:ea typeface="Calibri" pitchFamily="34" charset="-122"/>
                <a:cs typeface="Calibri" pitchFamily="34" charset="-120"/>
              </a:rPr>
              <a:t>₹26,760 Cr addressable market across 3,087 projects; Surat holds 71% of reachable demand (SAM).</a:t>
            </a:r>
            <a:endParaRPr lang="en-US" sz="1000" dirty="0"/>
          </a:p>
        </p:txBody>
      </p:sp>
      <p:sp>
        <p:nvSpPr>
          <p:cNvPr id="28" name="Shape 25"/>
          <p:cNvSpPr/>
          <p:nvPr/>
        </p:nvSpPr>
        <p:spPr>
          <a:xfrm>
            <a:off x="3379394" y="3429000"/>
            <a:ext cx="475488" cy="475488"/>
          </a:xfrm>
          <a:prstGeom prst="ellipse">
            <a:avLst/>
          </a:prstGeom>
          <a:solidFill>
            <a:srgbClr val="45606F"/>
          </a:solidFill>
          <a:ln/>
        </p:spPr>
      </p:sp>
      <p:pic>
        <p:nvPicPr>
          <p:cNvPr id="29" name="Image 1" descr="./assets/users_white.png">    </p:cNvPr>
          <p:cNvPicPr>
            <a:picLocks noChangeAspect="1"/>
          </p:cNvPicPr>
          <p:nvPr/>
        </p:nvPicPr>
        <p:blipFill>
          <a:blip r:embed="rId2"/>
          <a:stretch>
            <a:fillRect/>
          </a:stretch>
        </p:blipFill>
        <p:spPr>
          <a:xfrm>
            <a:off x="3503021" y="3552627"/>
            <a:ext cx="228234" cy="228234"/>
          </a:xfrm>
          <a:prstGeom prst="rect">
            <a:avLst/>
          </a:prstGeom>
        </p:spPr>
      </p:pic>
      <p:sp>
        <p:nvSpPr>
          <p:cNvPr id="30" name="Text 26"/>
          <p:cNvSpPr/>
          <p:nvPr/>
        </p:nvSpPr>
        <p:spPr>
          <a:xfrm>
            <a:off x="4037762" y="3401568"/>
            <a:ext cx="1943786" cy="274320"/>
          </a:xfrm>
          <a:prstGeom prst="rect">
            <a:avLst/>
          </a:prstGeom>
          <a:noFill/>
          <a:ln/>
        </p:spPr>
        <p:txBody>
          <a:bodyPr wrap="square" lIns="0" tIns="0" rIns="0" bIns="0" rtlCol="0" anchor="t"/>
          <a:lstStyle/>
          <a:p>
            <a:pPr indent="0" marL="0">
              <a:buNone/>
            </a:pPr>
            <a:r>
              <a:rPr lang="en-US" sz="1150" b="1" dirty="0">
                <a:solidFill>
                  <a:srgbClr val="23262A"/>
                </a:solidFill>
                <a:latin typeface="Calibri" pitchFamily="34" charset="0"/>
                <a:ea typeface="Calibri" pitchFamily="34" charset="-122"/>
                <a:cs typeface="Calibri" pitchFamily="34" charset="-120"/>
              </a:rPr>
              <a:t>COMPETITION</a:t>
            </a:r>
            <a:endParaRPr lang="en-US" sz="1150" dirty="0"/>
          </a:p>
        </p:txBody>
      </p:sp>
      <p:sp>
        <p:nvSpPr>
          <p:cNvPr id="31" name="Text 27"/>
          <p:cNvSpPr/>
          <p:nvPr/>
        </p:nvSpPr>
        <p:spPr>
          <a:xfrm>
            <a:off x="4037762" y="3675888"/>
            <a:ext cx="1943786" cy="246888"/>
          </a:xfrm>
          <a:prstGeom prst="rect">
            <a:avLst/>
          </a:prstGeom>
          <a:noFill/>
          <a:ln/>
        </p:spPr>
        <p:txBody>
          <a:bodyPr wrap="square" lIns="0" tIns="0" rIns="0" bIns="0" rtlCol="0" anchor="t"/>
          <a:lstStyle/>
          <a:p>
            <a:pPr indent="0" marL="0">
              <a:lnSpc>
                <a:spcPct val="105000"/>
              </a:lnSpc>
              <a:buNone/>
            </a:pPr>
            <a:r>
              <a:rPr lang="en-US" sz="1000" dirty="0">
                <a:solidFill>
                  <a:srgbClr val="70757C"/>
                </a:solidFill>
                <a:latin typeface="Calibri" pitchFamily="34" charset="0"/>
                <a:ea typeface="Calibri" pitchFamily="34" charset="-122"/>
                <a:cs typeface="Calibri" pitchFamily="34" charset="-120"/>
              </a:rPr>
              <a:t>66 mapped competitors, no dominant player — 24 rated high-threat, but clear white-space corridors remain.</a:t>
            </a:r>
            <a:endParaRPr lang="en-US" sz="1000" dirty="0"/>
          </a:p>
        </p:txBody>
      </p:sp>
      <p:sp>
        <p:nvSpPr>
          <p:cNvPr id="32" name="Shape 28"/>
          <p:cNvSpPr/>
          <p:nvPr/>
        </p:nvSpPr>
        <p:spPr>
          <a:xfrm>
            <a:off x="6210148" y="3429000"/>
            <a:ext cx="475488" cy="475488"/>
          </a:xfrm>
          <a:prstGeom prst="ellipse">
            <a:avLst/>
          </a:prstGeom>
          <a:solidFill>
            <a:srgbClr val="D9782D"/>
          </a:solidFill>
          <a:ln/>
        </p:spPr>
      </p:sp>
      <p:pic>
        <p:nvPicPr>
          <p:cNvPr id="33" name="Image 2" descr="./assets/coins_white.png">    </p:cNvPr>
          <p:cNvPicPr>
            <a:picLocks noChangeAspect="1"/>
          </p:cNvPicPr>
          <p:nvPr/>
        </p:nvPicPr>
        <p:blipFill>
          <a:blip r:embed="rId3"/>
          <a:stretch>
            <a:fillRect/>
          </a:stretch>
        </p:blipFill>
        <p:spPr>
          <a:xfrm>
            <a:off x="6333774" y="3552627"/>
            <a:ext cx="228234" cy="228234"/>
          </a:xfrm>
          <a:prstGeom prst="rect">
            <a:avLst/>
          </a:prstGeom>
        </p:spPr>
      </p:pic>
      <p:sp>
        <p:nvSpPr>
          <p:cNvPr id="34" name="Text 29"/>
          <p:cNvSpPr/>
          <p:nvPr/>
        </p:nvSpPr>
        <p:spPr>
          <a:xfrm>
            <a:off x="6868516" y="3401568"/>
            <a:ext cx="1943786" cy="274320"/>
          </a:xfrm>
          <a:prstGeom prst="rect">
            <a:avLst/>
          </a:prstGeom>
          <a:noFill/>
          <a:ln/>
        </p:spPr>
        <p:txBody>
          <a:bodyPr wrap="square" lIns="0" tIns="0" rIns="0" bIns="0" rtlCol="0" anchor="t"/>
          <a:lstStyle/>
          <a:p>
            <a:pPr indent="0" marL="0">
              <a:buNone/>
            </a:pPr>
            <a:r>
              <a:rPr lang="en-US" sz="1150" b="1" dirty="0">
                <a:solidFill>
                  <a:srgbClr val="23262A"/>
                </a:solidFill>
                <a:latin typeface="Calibri" pitchFamily="34" charset="0"/>
                <a:ea typeface="Calibri" pitchFamily="34" charset="-122"/>
                <a:cs typeface="Calibri" pitchFamily="34" charset="-120"/>
              </a:rPr>
              <a:t>FINANCIAL CASE</a:t>
            </a:r>
            <a:endParaRPr lang="en-US" sz="1150" dirty="0"/>
          </a:p>
        </p:txBody>
      </p:sp>
      <p:sp>
        <p:nvSpPr>
          <p:cNvPr id="35" name="Text 30"/>
          <p:cNvSpPr/>
          <p:nvPr/>
        </p:nvSpPr>
        <p:spPr>
          <a:xfrm>
            <a:off x="6868516" y="3675888"/>
            <a:ext cx="1943786" cy="246888"/>
          </a:xfrm>
          <a:prstGeom prst="rect">
            <a:avLst/>
          </a:prstGeom>
          <a:noFill/>
          <a:ln/>
        </p:spPr>
        <p:txBody>
          <a:bodyPr wrap="square" lIns="0" tIns="0" rIns="0" bIns="0" rtlCol="0" anchor="t"/>
          <a:lstStyle/>
          <a:p>
            <a:pPr indent="0" marL="0">
              <a:lnSpc>
                <a:spcPct val="105000"/>
              </a:lnSpc>
              <a:buNone/>
            </a:pPr>
            <a:r>
              <a:rPr lang="en-US" sz="1000" dirty="0">
                <a:solidFill>
                  <a:srgbClr val="70757C"/>
                </a:solidFill>
                <a:latin typeface="Calibri" pitchFamily="34" charset="0"/>
                <a:ea typeface="Calibri" pitchFamily="34" charset="-122"/>
                <a:cs typeface="Calibri" pitchFamily="34" charset="-120"/>
              </a:rPr>
              <a:t>Base case: ₹30.8 Cr NPV, 40.8% IRR, 120.0% 5-yr ROI on a disciplined ₹51 Cr, 3-plant rollout.</a:t>
            </a:r>
            <a:endParaRPr lang="en-US" sz="1000" dirty="0"/>
          </a:p>
        </p:txBody>
      </p:sp>
      <p:sp>
        <p:nvSpPr>
          <p:cNvPr id="36" name="Shape 31"/>
          <p:cNvSpPr/>
          <p:nvPr/>
        </p:nvSpPr>
        <p:spPr>
          <a:xfrm>
            <a:off x="9040901" y="3429000"/>
            <a:ext cx="475488" cy="475488"/>
          </a:xfrm>
          <a:prstGeom prst="ellipse">
            <a:avLst/>
          </a:prstGeom>
          <a:solidFill>
            <a:srgbClr val="45606F"/>
          </a:solidFill>
          <a:ln/>
        </p:spPr>
      </p:sp>
      <p:pic>
        <p:nvPicPr>
          <p:cNvPr id="37" name="Image 3" descr="./assets/shield_white.png">    </p:cNvPr>
          <p:cNvPicPr>
            <a:picLocks noChangeAspect="1"/>
          </p:cNvPicPr>
          <p:nvPr/>
        </p:nvPicPr>
        <p:blipFill>
          <a:blip r:embed="rId4"/>
          <a:stretch>
            <a:fillRect/>
          </a:stretch>
        </p:blipFill>
        <p:spPr>
          <a:xfrm>
            <a:off x="9164528" y="3552627"/>
            <a:ext cx="228234" cy="228234"/>
          </a:xfrm>
          <a:prstGeom prst="rect">
            <a:avLst/>
          </a:prstGeom>
        </p:spPr>
      </p:pic>
      <p:sp>
        <p:nvSpPr>
          <p:cNvPr id="38" name="Text 32"/>
          <p:cNvSpPr/>
          <p:nvPr/>
        </p:nvSpPr>
        <p:spPr>
          <a:xfrm>
            <a:off x="9699269" y="3401568"/>
            <a:ext cx="1943786" cy="274320"/>
          </a:xfrm>
          <a:prstGeom prst="rect">
            <a:avLst/>
          </a:prstGeom>
          <a:noFill/>
          <a:ln/>
        </p:spPr>
        <p:txBody>
          <a:bodyPr wrap="square" lIns="0" tIns="0" rIns="0" bIns="0" rtlCol="0" anchor="t"/>
          <a:lstStyle/>
          <a:p>
            <a:pPr indent="0" marL="0">
              <a:buNone/>
            </a:pPr>
            <a:r>
              <a:rPr lang="en-US" sz="1150" b="1" dirty="0">
                <a:solidFill>
                  <a:srgbClr val="23262A"/>
                </a:solidFill>
                <a:latin typeface="Calibri" pitchFamily="34" charset="0"/>
                <a:ea typeface="Calibri" pitchFamily="34" charset="-122"/>
                <a:cs typeface="Calibri" pitchFamily="34" charset="-120"/>
              </a:rPr>
              <a:t>RISK &amp; PATH</a:t>
            </a:r>
            <a:endParaRPr lang="en-US" sz="1150" dirty="0"/>
          </a:p>
        </p:txBody>
      </p:sp>
      <p:sp>
        <p:nvSpPr>
          <p:cNvPr id="39" name="Text 33"/>
          <p:cNvSpPr/>
          <p:nvPr/>
        </p:nvSpPr>
        <p:spPr>
          <a:xfrm>
            <a:off x="9699269" y="3675888"/>
            <a:ext cx="1943786" cy="246888"/>
          </a:xfrm>
          <a:prstGeom prst="rect">
            <a:avLst/>
          </a:prstGeom>
          <a:noFill/>
          <a:ln/>
        </p:spPr>
        <p:txBody>
          <a:bodyPr wrap="square" lIns="0" tIns="0" rIns="0" bIns="0" rtlCol="0" anchor="t"/>
          <a:lstStyle/>
          <a:p>
            <a:pPr indent="0" marL="0">
              <a:lnSpc>
                <a:spcPct val="105000"/>
              </a:lnSpc>
              <a:buNone/>
            </a:pPr>
            <a:r>
              <a:rPr lang="en-US" sz="1000" dirty="0">
                <a:solidFill>
                  <a:srgbClr val="70757C"/>
                </a:solidFill>
                <a:latin typeface="Calibri" pitchFamily="34" charset="0"/>
                <a:ea typeface="Calibri" pitchFamily="34" charset="-122"/>
                <a:cs typeface="Calibri" pitchFamily="34" charset="-120"/>
              </a:rPr>
              <a:t>19 risks mapped (3 critical); a milestone-gated, Surat-first rollout contains downside while preserving upside.</a:t>
            </a:r>
            <a:endParaRPr lang="en-US" sz="1000" dirty="0"/>
          </a:p>
        </p:txBody>
      </p:sp>
      <p:sp>
        <p:nvSpPr>
          <p:cNvPr id="40" name="Text 34"/>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41" name="Text 35"/>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04  </a:t>
            </a:r>
            <a:pPr indent="0" marL="0">
              <a:buNone/>
            </a:pPr>
            <a:r>
              <a:rPr lang="en-US" sz="1250" b="1" spc="200" kern="0" dirty="0">
                <a:solidFill>
                  <a:srgbClr val="D9782D"/>
                </a:solidFill>
                <a:latin typeface="Calibri" pitchFamily="34" charset="0"/>
                <a:ea typeface="Calibri" pitchFamily="34" charset="-122"/>
                <a:cs typeface="Calibri" pitchFamily="34" charset="-120"/>
              </a:rPr>
              <a:t>BUSINESS PROBLEM</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200" b="1" dirty="0">
                <a:solidFill>
                  <a:srgbClr val="23262A"/>
                </a:solidFill>
                <a:latin typeface="Cambria" pitchFamily="34" charset="0"/>
                <a:ea typeface="Cambria" pitchFamily="34" charset="-122"/>
                <a:cs typeface="Cambria" pitchFamily="34" charset="-120"/>
              </a:rPr>
              <a:t>South Gujarat's concrete demand is scaling fast — and 66 competitors are already positioning to capture it</a:t>
            </a:r>
            <a:endParaRPr lang="en-US" sz="2200" dirty="0"/>
          </a:p>
        </p:txBody>
      </p:sp>
      <p:sp>
        <p:nvSpPr>
          <p:cNvPr id="4" name="Shape 2"/>
          <p:cNvSpPr/>
          <p:nvPr/>
        </p:nvSpPr>
        <p:spPr>
          <a:xfrm>
            <a:off x="548640" y="2011680"/>
            <a:ext cx="54864" cy="713232"/>
          </a:xfrm>
          <a:prstGeom prst="rect">
            <a:avLst/>
          </a:prstGeom>
          <a:solidFill>
            <a:srgbClr val="D9782D"/>
          </a:solidFill>
          <a:ln/>
        </p:spPr>
      </p:sp>
      <p:sp>
        <p:nvSpPr>
          <p:cNvPr id="5" name="Text 3"/>
          <p:cNvSpPr/>
          <p:nvPr/>
        </p:nvSpPr>
        <p:spPr>
          <a:xfrm>
            <a:off x="804672" y="1965960"/>
            <a:ext cx="6007608" cy="950976"/>
          </a:xfrm>
          <a:prstGeom prst="rect">
            <a:avLst/>
          </a:prstGeom>
          <a:noFill/>
          <a:ln/>
        </p:spPr>
        <p:txBody>
          <a:bodyPr wrap="square" lIns="0" tIns="0" rIns="0" bIns="0" rtlCol="0" anchor="ctr"/>
          <a:lstStyle/>
          <a:p>
            <a:pPr indent="0" marL="0">
              <a:lnSpc>
                <a:spcPct val="112000"/>
              </a:lnSpc>
              <a:buNone/>
            </a:pPr>
            <a:r>
              <a:rPr lang="en-US" sz="1250" dirty="0">
                <a:solidFill>
                  <a:srgbClr val="3D4147"/>
                </a:solidFill>
                <a:latin typeface="Calibri" pitchFamily="34" charset="0"/>
                <a:ea typeface="Calibri" pitchFamily="34" charset="-122"/>
                <a:cs typeface="Calibri" pitchFamily="34" charset="-120"/>
              </a:rPr>
              <a:t>South Gujarat (Surat–Bharuch–Valsad–Navsari–Tapi) is one of Gujarat's fastest-growing construction corridors, anchored by textile, chemical, and logistics investment.</a:t>
            </a:r>
            <a:endParaRPr lang="en-US" sz="1250" dirty="0"/>
          </a:p>
        </p:txBody>
      </p:sp>
      <p:sp>
        <p:nvSpPr>
          <p:cNvPr id="6" name="Shape 4"/>
          <p:cNvSpPr/>
          <p:nvPr/>
        </p:nvSpPr>
        <p:spPr>
          <a:xfrm>
            <a:off x="548640" y="3035808"/>
            <a:ext cx="54864" cy="713232"/>
          </a:xfrm>
          <a:prstGeom prst="rect">
            <a:avLst/>
          </a:prstGeom>
          <a:solidFill>
            <a:srgbClr val="D9782D"/>
          </a:solidFill>
          <a:ln/>
        </p:spPr>
      </p:sp>
      <p:sp>
        <p:nvSpPr>
          <p:cNvPr id="7" name="Text 5"/>
          <p:cNvSpPr/>
          <p:nvPr/>
        </p:nvSpPr>
        <p:spPr>
          <a:xfrm>
            <a:off x="804672" y="2990088"/>
            <a:ext cx="6007608" cy="950976"/>
          </a:xfrm>
          <a:prstGeom prst="rect">
            <a:avLst/>
          </a:prstGeom>
          <a:noFill/>
          <a:ln/>
        </p:spPr>
        <p:txBody>
          <a:bodyPr wrap="square" lIns="0" tIns="0" rIns="0" bIns="0" rtlCol="0" anchor="ctr"/>
          <a:lstStyle/>
          <a:p>
            <a:pPr indent="0" marL="0">
              <a:lnSpc>
                <a:spcPct val="112000"/>
              </a:lnSpc>
              <a:buNone/>
            </a:pPr>
            <a:r>
              <a:rPr lang="en-US" sz="1250" dirty="0">
                <a:solidFill>
                  <a:srgbClr val="3D4147"/>
                </a:solidFill>
                <a:latin typeface="Calibri" pitchFamily="34" charset="0"/>
                <a:ea typeface="Calibri" pitchFamily="34" charset="-122"/>
                <a:cs typeface="Calibri" pitchFamily="34" charset="-120"/>
              </a:rPr>
              <a:t>3,065 RERA-registered private projects alone represent ₹22,960 Cr of concrete-linked construction value — before counting ₹31,241 Cr of public infrastructure investment underway.</a:t>
            </a:r>
            <a:endParaRPr lang="en-US" sz="1250" dirty="0"/>
          </a:p>
        </p:txBody>
      </p:sp>
      <p:sp>
        <p:nvSpPr>
          <p:cNvPr id="8" name="Shape 6"/>
          <p:cNvSpPr/>
          <p:nvPr/>
        </p:nvSpPr>
        <p:spPr>
          <a:xfrm>
            <a:off x="548640" y="4059936"/>
            <a:ext cx="54864" cy="713232"/>
          </a:xfrm>
          <a:prstGeom prst="rect">
            <a:avLst/>
          </a:prstGeom>
          <a:solidFill>
            <a:srgbClr val="D9782D"/>
          </a:solidFill>
          <a:ln/>
        </p:spPr>
      </p:sp>
      <p:sp>
        <p:nvSpPr>
          <p:cNvPr id="9" name="Text 7"/>
          <p:cNvSpPr/>
          <p:nvPr/>
        </p:nvSpPr>
        <p:spPr>
          <a:xfrm>
            <a:off x="804672" y="4014216"/>
            <a:ext cx="6007608" cy="950976"/>
          </a:xfrm>
          <a:prstGeom prst="rect">
            <a:avLst/>
          </a:prstGeom>
          <a:noFill/>
          <a:ln/>
        </p:spPr>
        <p:txBody>
          <a:bodyPr wrap="square" lIns="0" tIns="0" rIns="0" bIns="0" rtlCol="0" anchor="ctr"/>
          <a:lstStyle/>
          <a:p>
            <a:pPr indent="0" marL="0">
              <a:lnSpc>
                <a:spcPct val="112000"/>
              </a:lnSpc>
              <a:buNone/>
            </a:pPr>
            <a:r>
              <a:rPr lang="en-US" sz="1250" dirty="0">
                <a:solidFill>
                  <a:srgbClr val="3D4147"/>
                </a:solidFill>
                <a:latin typeface="Calibri" pitchFamily="34" charset="0"/>
                <a:ea typeface="Calibri" pitchFamily="34" charset="-122"/>
                <a:cs typeface="Calibri" pitchFamily="34" charset="-120"/>
              </a:rPr>
              <a:t>Supply is fragmented across 66 identified competitors, from national Tier-1 players to small local batching units, with no single operator holding a dominant share.</a:t>
            </a:r>
            <a:endParaRPr lang="en-US" sz="1250" dirty="0"/>
          </a:p>
        </p:txBody>
      </p:sp>
      <p:sp>
        <p:nvSpPr>
          <p:cNvPr id="10" name="Shape 8"/>
          <p:cNvSpPr/>
          <p:nvPr/>
        </p:nvSpPr>
        <p:spPr>
          <a:xfrm>
            <a:off x="548640" y="5084064"/>
            <a:ext cx="54864" cy="713232"/>
          </a:xfrm>
          <a:prstGeom prst="rect">
            <a:avLst/>
          </a:prstGeom>
          <a:solidFill>
            <a:srgbClr val="D9782D"/>
          </a:solidFill>
          <a:ln/>
        </p:spPr>
      </p:sp>
      <p:sp>
        <p:nvSpPr>
          <p:cNvPr id="11" name="Text 9"/>
          <p:cNvSpPr/>
          <p:nvPr/>
        </p:nvSpPr>
        <p:spPr>
          <a:xfrm>
            <a:off x="804672" y="5038344"/>
            <a:ext cx="6007608" cy="950976"/>
          </a:xfrm>
          <a:prstGeom prst="rect">
            <a:avLst/>
          </a:prstGeom>
          <a:noFill/>
          <a:ln/>
        </p:spPr>
        <p:txBody>
          <a:bodyPr wrap="square" lIns="0" tIns="0" rIns="0" bIns="0" rtlCol="0" anchor="ctr"/>
          <a:lstStyle/>
          <a:p>
            <a:pPr indent="0" marL="0">
              <a:lnSpc>
                <a:spcPct val="112000"/>
              </a:lnSpc>
              <a:buNone/>
            </a:pPr>
            <a:r>
              <a:rPr lang="en-US" sz="1250" dirty="0">
                <a:solidFill>
                  <a:srgbClr val="3D4147"/>
                </a:solidFill>
                <a:latin typeface="Calibri" pitchFamily="34" charset="0"/>
                <a:ea typeface="Calibri" pitchFamily="34" charset="-122"/>
                <a:cs typeface="Calibri" pitchFamily="34" charset="-120"/>
              </a:rPr>
              <a:t>The open strategic question: should a dedicated RMC plant network be built in this corridor — and if so, where, how fast, and at what risk?</a:t>
            </a:r>
            <a:endParaRPr lang="en-US" sz="1250" dirty="0"/>
          </a:p>
        </p:txBody>
      </p:sp>
      <p:sp>
        <p:nvSpPr>
          <p:cNvPr id="12" name="Shape 10"/>
          <p:cNvSpPr/>
          <p:nvPr/>
        </p:nvSpPr>
        <p:spPr>
          <a:xfrm>
            <a:off x="7086600" y="1965960"/>
            <a:ext cx="4556455"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13" name="Text 11"/>
          <p:cNvSpPr/>
          <p:nvPr/>
        </p:nvSpPr>
        <p:spPr>
          <a:xfrm>
            <a:off x="7251192" y="2093976"/>
            <a:ext cx="4227271" cy="675193"/>
          </a:xfrm>
          <a:prstGeom prst="rect">
            <a:avLst/>
          </a:prstGeom>
          <a:noFill/>
          <a:ln/>
        </p:spPr>
        <p:txBody>
          <a:bodyPr wrap="square" lIns="0" tIns="0" rIns="0" bIns="0" rtlCol="0" anchor="b"/>
          <a:lstStyle/>
          <a:p>
            <a:pPr indent="0" marL="0">
              <a:buNone/>
            </a:pPr>
            <a:r>
              <a:rPr lang="en-US" sz="2600" b="1" dirty="0">
                <a:solidFill>
                  <a:srgbClr val="D9782D"/>
                </a:solidFill>
                <a:latin typeface="Cambria" pitchFamily="34" charset="0"/>
                <a:ea typeface="Cambria" pitchFamily="34" charset="-122"/>
                <a:cs typeface="Cambria" pitchFamily="34" charset="-120"/>
              </a:rPr>
              <a:t>₹22,960 Cr</a:t>
            </a:r>
            <a:endParaRPr lang="en-US" sz="2600" dirty="0"/>
          </a:p>
        </p:txBody>
      </p:sp>
      <p:sp>
        <p:nvSpPr>
          <p:cNvPr id="14" name="Text 12"/>
          <p:cNvSpPr/>
          <p:nvPr/>
        </p:nvSpPr>
        <p:spPr>
          <a:xfrm>
            <a:off x="7251192" y="2745029"/>
            <a:ext cx="4227271"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PRIVATE CONSTRUCTION VALUE TRACKED</a:t>
            </a:r>
            <a:endParaRPr lang="en-US" sz="950" dirty="0"/>
          </a:p>
        </p:txBody>
      </p:sp>
      <p:sp>
        <p:nvSpPr>
          <p:cNvPr id="15" name="Text 13"/>
          <p:cNvSpPr/>
          <p:nvPr/>
        </p:nvSpPr>
        <p:spPr>
          <a:xfrm>
            <a:off x="7251192" y="2990088"/>
            <a:ext cx="4227271"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3,065 RERA projects · 5 districts</a:t>
            </a:r>
            <a:endParaRPr lang="en-US" sz="850" dirty="0"/>
          </a:p>
        </p:txBody>
      </p:sp>
      <p:sp>
        <p:nvSpPr>
          <p:cNvPr id="16" name="Shape 14"/>
          <p:cNvSpPr/>
          <p:nvPr/>
        </p:nvSpPr>
        <p:spPr>
          <a:xfrm>
            <a:off x="7086600" y="3447288"/>
            <a:ext cx="4556455"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17" name="Text 15"/>
          <p:cNvSpPr/>
          <p:nvPr/>
        </p:nvSpPr>
        <p:spPr>
          <a:xfrm>
            <a:off x="7251192" y="3575304"/>
            <a:ext cx="4227271" cy="675193"/>
          </a:xfrm>
          <a:prstGeom prst="rect">
            <a:avLst/>
          </a:prstGeom>
          <a:noFill/>
          <a:ln/>
        </p:spPr>
        <p:txBody>
          <a:bodyPr wrap="square" lIns="0" tIns="0" rIns="0" bIns="0" rtlCol="0" anchor="b"/>
          <a:lstStyle/>
          <a:p>
            <a:pPr indent="0" marL="0">
              <a:buNone/>
            </a:pPr>
            <a:r>
              <a:rPr lang="en-US" sz="2600" b="1" dirty="0">
                <a:solidFill>
                  <a:srgbClr val="D9782D"/>
                </a:solidFill>
                <a:latin typeface="Cambria" pitchFamily="34" charset="0"/>
                <a:ea typeface="Cambria" pitchFamily="34" charset="-122"/>
                <a:cs typeface="Cambria" pitchFamily="34" charset="-120"/>
              </a:rPr>
              <a:t>66</a:t>
            </a:r>
            <a:endParaRPr lang="en-US" sz="2600" dirty="0"/>
          </a:p>
        </p:txBody>
      </p:sp>
      <p:sp>
        <p:nvSpPr>
          <p:cNvPr id="18" name="Text 16"/>
          <p:cNvSpPr/>
          <p:nvPr/>
        </p:nvSpPr>
        <p:spPr>
          <a:xfrm>
            <a:off x="7251192" y="4226357"/>
            <a:ext cx="4227271"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COMPETITORS ALREADY ACTIVE</a:t>
            </a:r>
            <a:endParaRPr lang="en-US" sz="950" dirty="0"/>
          </a:p>
        </p:txBody>
      </p:sp>
      <p:sp>
        <p:nvSpPr>
          <p:cNvPr id="19" name="Text 17"/>
          <p:cNvSpPr/>
          <p:nvPr/>
        </p:nvSpPr>
        <p:spPr>
          <a:xfrm>
            <a:off x="7251192" y="4471416"/>
            <a:ext cx="4227271"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24 rated high strategic threat</a:t>
            </a:r>
            <a:endParaRPr lang="en-US" sz="850" dirty="0"/>
          </a:p>
        </p:txBody>
      </p:sp>
      <p:sp>
        <p:nvSpPr>
          <p:cNvPr id="20" name="Shape 18"/>
          <p:cNvSpPr/>
          <p:nvPr/>
        </p:nvSpPr>
        <p:spPr>
          <a:xfrm>
            <a:off x="7086600" y="4928616"/>
            <a:ext cx="4556455"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21" name="Text 19"/>
          <p:cNvSpPr/>
          <p:nvPr/>
        </p:nvSpPr>
        <p:spPr>
          <a:xfrm>
            <a:off x="7251192" y="5056632"/>
            <a:ext cx="4227271" cy="675193"/>
          </a:xfrm>
          <a:prstGeom prst="rect">
            <a:avLst/>
          </a:prstGeom>
          <a:noFill/>
          <a:ln/>
        </p:spPr>
        <p:txBody>
          <a:bodyPr wrap="square" lIns="0" tIns="0" rIns="0" bIns="0" rtlCol="0" anchor="b"/>
          <a:lstStyle/>
          <a:p>
            <a:pPr indent="0" marL="0">
              <a:buNone/>
            </a:pPr>
            <a:r>
              <a:rPr lang="en-US" sz="2600" b="1" dirty="0">
                <a:solidFill>
                  <a:srgbClr val="D9782D"/>
                </a:solidFill>
                <a:latin typeface="Cambria" pitchFamily="34" charset="0"/>
                <a:ea typeface="Cambria" pitchFamily="34" charset="-122"/>
                <a:cs typeface="Cambria" pitchFamily="34" charset="-120"/>
              </a:rPr>
              <a:t>0</a:t>
            </a:r>
            <a:endParaRPr lang="en-US" sz="2600" dirty="0"/>
          </a:p>
        </p:txBody>
      </p:sp>
      <p:sp>
        <p:nvSpPr>
          <p:cNvPr id="22" name="Text 20"/>
          <p:cNvSpPr/>
          <p:nvPr/>
        </p:nvSpPr>
        <p:spPr>
          <a:xfrm>
            <a:off x="7251192" y="5707685"/>
            <a:ext cx="4227271"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DOMINANT MARKET PLAYER</a:t>
            </a:r>
            <a:endParaRPr lang="en-US" sz="950" dirty="0"/>
          </a:p>
        </p:txBody>
      </p:sp>
      <p:sp>
        <p:nvSpPr>
          <p:cNvPr id="23" name="Text 21"/>
          <p:cNvSpPr/>
          <p:nvPr/>
        </p:nvSpPr>
        <p:spPr>
          <a:xfrm>
            <a:off x="7251192" y="5952744"/>
            <a:ext cx="4227271"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Highly fragmented — open to disciplined entry</a:t>
            </a:r>
            <a:endParaRPr lang="en-US" sz="850" dirty="0"/>
          </a:p>
        </p:txBody>
      </p:sp>
      <p:sp>
        <p:nvSpPr>
          <p:cNvPr id="24" name="Text 22"/>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5" name="Text 23"/>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05  </a:t>
            </a:r>
            <a:pPr indent="0" marL="0">
              <a:buNone/>
            </a:pPr>
            <a:r>
              <a:rPr lang="en-US" sz="1250" b="1" spc="200" kern="0" dirty="0">
                <a:solidFill>
                  <a:srgbClr val="D9782D"/>
                </a:solidFill>
                <a:latin typeface="Calibri" pitchFamily="34" charset="0"/>
                <a:ea typeface="Calibri" pitchFamily="34" charset="-122"/>
                <a:cs typeface="Calibri" pitchFamily="34" charset="-120"/>
              </a:rPr>
              <a:t>PROJECT OBJECTIVES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600" b="1" dirty="0">
                <a:solidFill>
                  <a:srgbClr val="23262A"/>
                </a:solidFill>
                <a:latin typeface="Cambria" pitchFamily="34" charset="0"/>
                <a:ea typeface="Cambria" pitchFamily="34" charset="-122"/>
                <a:cs typeface="Cambria" pitchFamily="34" charset="-120"/>
              </a:rPr>
              <a:t>Six analytical objectives, one clear investment answer</a:t>
            </a:r>
            <a:endParaRPr lang="en-US" sz="2600" dirty="0"/>
          </a:p>
        </p:txBody>
      </p:sp>
      <p:sp>
        <p:nvSpPr>
          <p:cNvPr id="4" name="Shape 2"/>
          <p:cNvSpPr/>
          <p:nvPr/>
        </p:nvSpPr>
        <p:spPr>
          <a:xfrm>
            <a:off x="548640" y="2011680"/>
            <a:ext cx="512064" cy="512064"/>
          </a:xfrm>
          <a:prstGeom prst="ellipse">
            <a:avLst/>
          </a:prstGeom>
          <a:solidFill>
            <a:srgbClr val="D9782D"/>
          </a:solidFill>
          <a:ln/>
        </p:spPr>
      </p:sp>
      <p:pic>
        <p:nvPicPr>
          <p:cNvPr id="5" name="Image 0" descr="./assets/target_white.png">    </p:cNvPr>
          <p:cNvPicPr>
            <a:picLocks noChangeAspect="1"/>
          </p:cNvPicPr>
          <p:nvPr/>
        </p:nvPicPr>
        <p:blipFill>
          <a:blip r:embed="rId1"/>
          <a:stretch>
            <a:fillRect/>
          </a:stretch>
        </p:blipFill>
        <p:spPr>
          <a:xfrm>
            <a:off x="681777" y="2144817"/>
            <a:ext cx="245791" cy="245791"/>
          </a:xfrm>
          <a:prstGeom prst="rect">
            <a:avLst/>
          </a:prstGeom>
        </p:spPr>
      </p:pic>
      <p:sp>
        <p:nvSpPr>
          <p:cNvPr id="6" name="Text 3"/>
          <p:cNvSpPr/>
          <p:nvPr/>
        </p:nvSpPr>
        <p:spPr>
          <a:xfrm>
            <a:off x="1243584" y="1984248"/>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1. Size the Market</a:t>
            </a:r>
            <a:endParaRPr lang="en-US" sz="1350" dirty="0"/>
          </a:p>
        </p:txBody>
      </p:sp>
      <p:sp>
        <p:nvSpPr>
          <p:cNvPr id="7" name="Text 4"/>
          <p:cNvSpPr/>
          <p:nvPr/>
        </p:nvSpPr>
        <p:spPr>
          <a:xfrm>
            <a:off x="1243584" y="2258568"/>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Quantify addressable RMC demand across 5 districts using bottom-up TAM-SAM-SOM analysis of 3,065+ tracked projects.</a:t>
            </a:r>
            <a:endParaRPr lang="en-US" sz="1100" dirty="0"/>
          </a:p>
        </p:txBody>
      </p:sp>
      <p:sp>
        <p:nvSpPr>
          <p:cNvPr id="8" name="Shape 5"/>
          <p:cNvSpPr/>
          <p:nvPr/>
        </p:nvSpPr>
        <p:spPr>
          <a:xfrm>
            <a:off x="6324448" y="2011680"/>
            <a:ext cx="512064" cy="512064"/>
          </a:xfrm>
          <a:prstGeom prst="ellipse">
            <a:avLst/>
          </a:prstGeom>
          <a:solidFill>
            <a:srgbClr val="45606F"/>
          </a:solidFill>
          <a:ln/>
        </p:spPr>
      </p:sp>
      <p:pic>
        <p:nvPicPr>
          <p:cNvPr id="9" name="Image 1" descr="./assets/users_white.png">    </p:cNvPr>
          <p:cNvPicPr>
            <a:picLocks noChangeAspect="1"/>
          </p:cNvPicPr>
          <p:nvPr/>
        </p:nvPicPr>
        <p:blipFill>
          <a:blip r:embed="rId2"/>
          <a:stretch>
            <a:fillRect/>
          </a:stretch>
        </p:blipFill>
        <p:spPr>
          <a:xfrm>
            <a:off x="6457584" y="2144817"/>
            <a:ext cx="245791" cy="245791"/>
          </a:xfrm>
          <a:prstGeom prst="rect">
            <a:avLst/>
          </a:prstGeom>
        </p:spPr>
      </p:pic>
      <p:sp>
        <p:nvSpPr>
          <p:cNvPr id="10" name="Text 6"/>
          <p:cNvSpPr/>
          <p:nvPr/>
        </p:nvSpPr>
        <p:spPr>
          <a:xfrm>
            <a:off x="7019392" y="1984248"/>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2. Map the Competition</a:t>
            </a:r>
            <a:endParaRPr lang="en-US" sz="1350" dirty="0"/>
          </a:p>
        </p:txBody>
      </p:sp>
      <p:sp>
        <p:nvSpPr>
          <p:cNvPr id="11" name="Text 7"/>
          <p:cNvSpPr/>
          <p:nvPr/>
        </p:nvSpPr>
        <p:spPr>
          <a:xfrm>
            <a:off x="7019392" y="2258568"/>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Profile 66 active competitors and score strategic threat using a structured Porter's Five Forces and SWOT framework.</a:t>
            </a:r>
            <a:endParaRPr lang="en-US" sz="1100" dirty="0"/>
          </a:p>
        </p:txBody>
      </p:sp>
      <p:sp>
        <p:nvSpPr>
          <p:cNvPr id="12" name="Shape 8"/>
          <p:cNvSpPr/>
          <p:nvPr/>
        </p:nvSpPr>
        <p:spPr>
          <a:xfrm>
            <a:off x="548640" y="3502152"/>
            <a:ext cx="512064" cy="512064"/>
          </a:xfrm>
          <a:prstGeom prst="ellipse">
            <a:avLst/>
          </a:prstGeom>
          <a:solidFill>
            <a:srgbClr val="D9782D"/>
          </a:solidFill>
          <a:ln/>
        </p:spPr>
      </p:sp>
      <p:pic>
        <p:nvPicPr>
          <p:cNvPr id="13" name="Image 2" descr="./assets/industry_white.png">    </p:cNvPr>
          <p:cNvPicPr>
            <a:picLocks noChangeAspect="1"/>
          </p:cNvPicPr>
          <p:nvPr/>
        </p:nvPicPr>
        <p:blipFill>
          <a:blip r:embed="rId3"/>
          <a:stretch>
            <a:fillRect/>
          </a:stretch>
        </p:blipFill>
        <p:spPr>
          <a:xfrm>
            <a:off x="681777" y="3635289"/>
            <a:ext cx="245791" cy="245791"/>
          </a:xfrm>
          <a:prstGeom prst="rect">
            <a:avLst/>
          </a:prstGeom>
        </p:spPr>
      </p:pic>
      <p:sp>
        <p:nvSpPr>
          <p:cNvPr id="14" name="Text 9"/>
          <p:cNvSpPr/>
          <p:nvPr/>
        </p:nvSpPr>
        <p:spPr>
          <a:xfrm>
            <a:off x="1243584" y="3474720"/>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3. Capture Infrastructure Upside</a:t>
            </a:r>
            <a:endParaRPr lang="en-US" sz="1350" dirty="0"/>
          </a:p>
        </p:txBody>
      </p:sp>
      <p:sp>
        <p:nvSpPr>
          <p:cNvPr id="15" name="Text 10"/>
          <p:cNvSpPr/>
          <p:nvPr/>
        </p:nvSpPr>
        <p:spPr>
          <a:xfrm>
            <a:off x="1243584" y="3749040"/>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Quantify incremental demand from 22 public infrastructure projects worth ₹31,241 Cr across the corridor.</a:t>
            </a:r>
            <a:endParaRPr lang="en-US" sz="1100" dirty="0"/>
          </a:p>
        </p:txBody>
      </p:sp>
      <p:sp>
        <p:nvSpPr>
          <p:cNvPr id="16" name="Shape 11"/>
          <p:cNvSpPr/>
          <p:nvPr/>
        </p:nvSpPr>
        <p:spPr>
          <a:xfrm>
            <a:off x="6324448" y="3502152"/>
            <a:ext cx="512064" cy="512064"/>
          </a:xfrm>
          <a:prstGeom prst="ellipse">
            <a:avLst/>
          </a:prstGeom>
          <a:solidFill>
            <a:srgbClr val="45606F"/>
          </a:solidFill>
          <a:ln/>
        </p:spPr>
      </p:sp>
      <p:pic>
        <p:nvPicPr>
          <p:cNvPr id="17" name="Image 3" descr="./assets/calculator_white.png">    </p:cNvPr>
          <p:cNvPicPr>
            <a:picLocks noChangeAspect="1"/>
          </p:cNvPicPr>
          <p:nvPr/>
        </p:nvPicPr>
        <p:blipFill>
          <a:blip r:embed="rId4"/>
          <a:stretch>
            <a:fillRect/>
          </a:stretch>
        </p:blipFill>
        <p:spPr>
          <a:xfrm>
            <a:off x="6457584" y="3635289"/>
            <a:ext cx="245791" cy="245791"/>
          </a:xfrm>
          <a:prstGeom prst="rect">
            <a:avLst/>
          </a:prstGeom>
        </p:spPr>
      </p:pic>
      <p:sp>
        <p:nvSpPr>
          <p:cNvPr id="18" name="Text 12"/>
          <p:cNvSpPr/>
          <p:nvPr/>
        </p:nvSpPr>
        <p:spPr>
          <a:xfrm>
            <a:off x="7019392" y="3474720"/>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4. Build the Financial Case</a:t>
            </a:r>
            <a:endParaRPr lang="en-US" sz="1350" dirty="0"/>
          </a:p>
        </p:txBody>
      </p:sp>
      <p:sp>
        <p:nvSpPr>
          <p:cNvPr id="19" name="Text 13"/>
          <p:cNvSpPr/>
          <p:nvPr/>
        </p:nvSpPr>
        <p:spPr>
          <a:xfrm>
            <a:off x="7019392" y="3749040"/>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Model 5-year Revenue, EBITDA, NPV, IRR, ROI and Payback under Base, Optimistic and Pessimistic scenarios.</a:t>
            </a:r>
            <a:endParaRPr lang="en-US" sz="1100" dirty="0"/>
          </a:p>
        </p:txBody>
      </p:sp>
      <p:sp>
        <p:nvSpPr>
          <p:cNvPr id="20" name="Shape 14"/>
          <p:cNvSpPr/>
          <p:nvPr/>
        </p:nvSpPr>
        <p:spPr>
          <a:xfrm>
            <a:off x="548640" y="4992624"/>
            <a:ext cx="512064" cy="512064"/>
          </a:xfrm>
          <a:prstGeom prst="ellipse">
            <a:avLst/>
          </a:prstGeom>
          <a:solidFill>
            <a:srgbClr val="D9782D"/>
          </a:solidFill>
          <a:ln/>
        </p:spPr>
      </p:sp>
      <p:pic>
        <p:nvPicPr>
          <p:cNvPr id="21" name="Image 4" descr="./assets/shield_white.png">    </p:cNvPr>
          <p:cNvPicPr>
            <a:picLocks noChangeAspect="1"/>
          </p:cNvPicPr>
          <p:nvPr/>
        </p:nvPicPr>
        <p:blipFill>
          <a:blip r:embed="rId5"/>
          <a:stretch>
            <a:fillRect/>
          </a:stretch>
        </p:blipFill>
        <p:spPr>
          <a:xfrm>
            <a:off x="681777" y="5125761"/>
            <a:ext cx="245791" cy="245791"/>
          </a:xfrm>
          <a:prstGeom prst="rect">
            <a:avLst/>
          </a:prstGeom>
        </p:spPr>
      </p:pic>
      <p:sp>
        <p:nvSpPr>
          <p:cNvPr id="22" name="Text 15"/>
          <p:cNvSpPr/>
          <p:nvPr/>
        </p:nvSpPr>
        <p:spPr>
          <a:xfrm>
            <a:off x="1243584" y="4965192"/>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5. Assess Investment Risk</a:t>
            </a:r>
            <a:endParaRPr lang="en-US" sz="1350" dirty="0"/>
          </a:p>
        </p:txBody>
      </p:sp>
      <p:sp>
        <p:nvSpPr>
          <p:cNvPr id="23" name="Text 16"/>
          <p:cNvSpPr/>
          <p:nvPr/>
        </p:nvSpPr>
        <p:spPr>
          <a:xfrm>
            <a:off x="1243584" y="5239512"/>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Score 19 risks on a probability-impact matrix and define a mitigation for every critical exposure.</a:t>
            </a:r>
            <a:endParaRPr lang="en-US" sz="1100" dirty="0"/>
          </a:p>
        </p:txBody>
      </p:sp>
      <p:sp>
        <p:nvSpPr>
          <p:cNvPr id="24" name="Shape 17"/>
          <p:cNvSpPr/>
          <p:nvPr/>
        </p:nvSpPr>
        <p:spPr>
          <a:xfrm>
            <a:off x="6324448" y="4992624"/>
            <a:ext cx="512064" cy="512064"/>
          </a:xfrm>
          <a:prstGeom prst="ellipse">
            <a:avLst/>
          </a:prstGeom>
          <a:solidFill>
            <a:srgbClr val="45606F"/>
          </a:solidFill>
          <a:ln/>
        </p:spPr>
      </p:sp>
      <p:pic>
        <p:nvPicPr>
          <p:cNvPr id="25" name="Image 5" descr="./assets/flag_white.png">    </p:cNvPr>
          <p:cNvPicPr>
            <a:picLocks noChangeAspect="1"/>
          </p:cNvPicPr>
          <p:nvPr/>
        </p:nvPicPr>
        <p:blipFill>
          <a:blip r:embed="rId6"/>
          <a:stretch>
            <a:fillRect/>
          </a:stretch>
        </p:blipFill>
        <p:spPr>
          <a:xfrm>
            <a:off x="6457584" y="5125761"/>
            <a:ext cx="245791" cy="245791"/>
          </a:xfrm>
          <a:prstGeom prst="rect">
            <a:avLst/>
          </a:prstGeom>
        </p:spPr>
      </p:pic>
      <p:sp>
        <p:nvSpPr>
          <p:cNvPr id="26" name="Text 18"/>
          <p:cNvSpPr/>
          <p:nvPr/>
        </p:nvSpPr>
        <p:spPr>
          <a:xfrm>
            <a:off x="7019392" y="4965192"/>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6. Deliver a Clear Recommendation</a:t>
            </a:r>
            <a:endParaRPr lang="en-US" sz="1350" dirty="0"/>
          </a:p>
        </p:txBody>
      </p:sp>
      <p:sp>
        <p:nvSpPr>
          <p:cNvPr id="27" name="Text 19"/>
          <p:cNvSpPr/>
          <p:nvPr/>
        </p:nvSpPr>
        <p:spPr>
          <a:xfrm>
            <a:off x="7019392" y="5239512"/>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Translate the analysis into a GO / NO-GO decision with a phased, milestone-gated execution roadmap.</a:t>
            </a:r>
            <a:endParaRPr lang="en-US" sz="1100" dirty="0"/>
          </a:p>
        </p:txBody>
      </p:sp>
      <p:sp>
        <p:nvSpPr>
          <p:cNvPr id="28" name="Text 20"/>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9" name="Text 21"/>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06  </a:t>
            </a:r>
            <a:pPr indent="0" marL="0">
              <a:buNone/>
            </a:pPr>
            <a:r>
              <a:rPr lang="en-US" sz="1250" b="1" spc="200" kern="0" dirty="0">
                <a:solidFill>
                  <a:srgbClr val="D9782D"/>
                </a:solidFill>
                <a:latin typeface="Calibri" pitchFamily="34" charset="0"/>
                <a:ea typeface="Calibri" pitchFamily="34" charset="-122"/>
                <a:cs typeface="Calibri" pitchFamily="34" charset="-120"/>
              </a:rPr>
              <a:t>METHODOLOGY</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A structured, evidence-based approach — from raw project data to a board-ready recommendation</a:t>
            </a:r>
            <a:endParaRPr lang="en-US" sz="2100" dirty="0"/>
          </a:p>
        </p:txBody>
      </p:sp>
      <p:sp>
        <p:nvSpPr>
          <p:cNvPr id="4" name="Shape 2"/>
          <p:cNvSpPr/>
          <p:nvPr/>
        </p:nvSpPr>
        <p:spPr>
          <a:xfrm>
            <a:off x="1473175" y="2798064"/>
            <a:ext cx="9245346" cy="0"/>
          </a:xfrm>
          <a:prstGeom prst="line">
            <a:avLst/>
          </a:prstGeom>
          <a:noFill/>
          <a:ln w="19050">
            <a:solidFill>
              <a:srgbClr val="DEE1E3"/>
            </a:solidFill>
            <a:prstDash val="dash"/>
          </a:ln>
        </p:spPr>
      </p:sp>
      <p:sp>
        <p:nvSpPr>
          <p:cNvPr id="5" name="Text 3"/>
          <p:cNvSpPr/>
          <p:nvPr/>
        </p:nvSpPr>
        <p:spPr>
          <a:xfrm>
            <a:off x="548640"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1</a:t>
            </a:r>
            <a:endParaRPr lang="en-US" sz="850" dirty="0"/>
          </a:p>
        </p:txBody>
      </p:sp>
      <p:sp>
        <p:nvSpPr>
          <p:cNvPr id="6" name="Shape 4"/>
          <p:cNvSpPr/>
          <p:nvPr/>
        </p:nvSpPr>
        <p:spPr>
          <a:xfrm>
            <a:off x="1189711" y="2514600"/>
            <a:ext cx="566928" cy="566928"/>
          </a:xfrm>
          <a:prstGeom prst="ellipse">
            <a:avLst/>
          </a:prstGeom>
          <a:solidFill>
            <a:srgbClr val="D9782D"/>
          </a:solidFill>
          <a:ln/>
        </p:spPr>
      </p:sp>
      <p:pic>
        <p:nvPicPr>
          <p:cNvPr id="7" name="Image 0" descr="./assets/database_white.png">    </p:cNvPr>
          <p:cNvPicPr>
            <a:picLocks noChangeAspect="1"/>
          </p:cNvPicPr>
          <p:nvPr/>
        </p:nvPicPr>
        <p:blipFill>
          <a:blip r:embed="rId1"/>
          <a:stretch>
            <a:fillRect/>
          </a:stretch>
        </p:blipFill>
        <p:spPr>
          <a:xfrm>
            <a:off x="1336015" y="2660904"/>
            <a:ext cx="274320" cy="274320"/>
          </a:xfrm>
          <a:prstGeom prst="rect">
            <a:avLst/>
          </a:prstGeom>
        </p:spPr>
      </p:pic>
      <p:sp>
        <p:nvSpPr>
          <p:cNvPr id="8" name="Text 5"/>
          <p:cNvSpPr/>
          <p:nvPr/>
        </p:nvSpPr>
        <p:spPr>
          <a:xfrm>
            <a:off x="621792"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Data Collection</a:t>
            </a:r>
            <a:endParaRPr lang="en-US" sz="1150" dirty="0"/>
          </a:p>
        </p:txBody>
      </p:sp>
      <p:sp>
        <p:nvSpPr>
          <p:cNvPr id="9" name="Text 6"/>
          <p:cNvSpPr/>
          <p:nvPr/>
        </p:nvSpPr>
        <p:spPr>
          <a:xfrm>
            <a:off x="621792"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3,065 RERA project records, 66 competitor profiles and 22 infrastructure projects compiled from public sources.</a:t>
            </a:r>
            <a:endParaRPr lang="en-US" sz="930" dirty="0"/>
          </a:p>
        </p:txBody>
      </p:sp>
      <p:sp>
        <p:nvSpPr>
          <p:cNvPr id="10" name="Text 7"/>
          <p:cNvSpPr/>
          <p:nvPr/>
        </p:nvSpPr>
        <p:spPr>
          <a:xfrm>
            <a:off x="2397709"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2</a:t>
            </a:r>
            <a:endParaRPr lang="en-US" sz="850" dirty="0"/>
          </a:p>
        </p:txBody>
      </p:sp>
      <p:sp>
        <p:nvSpPr>
          <p:cNvPr id="11" name="Shape 8"/>
          <p:cNvSpPr/>
          <p:nvPr/>
        </p:nvSpPr>
        <p:spPr>
          <a:xfrm>
            <a:off x="3038780" y="2514600"/>
            <a:ext cx="566928" cy="566928"/>
          </a:xfrm>
          <a:prstGeom prst="ellipse">
            <a:avLst/>
          </a:prstGeom>
          <a:solidFill>
            <a:srgbClr val="23262A"/>
          </a:solidFill>
          <a:ln/>
        </p:spPr>
      </p:sp>
      <p:pic>
        <p:nvPicPr>
          <p:cNvPr id="12" name="Image 1" descr="./assets/target_white.png">    </p:cNvPr>
          <p:cNvPicPr>
            <a:picLocks noChangeAspect="1"/>
          </p:cNvPicPr>
          <p:nvPr/>
        </p:nvPicPr>
        <p:blipFill>
          <a:blip r:embed="rId2"/>
          <a:stretch>
            <a:fillRect/>
          </a:stretch>
        </p:blipFill>
        <p:spPr>
          <a:xfrm>
            <a:off x="3185084" y="2660904"/>
            <a:ext cx="274320" cy="274320"/>
          </a:xfrm>
          <a:prstGeom prst="rect">
            <a:avLst/>
          </a:prstGeom>
        </p:spPr>
      </p:pic>
      <p:sp>
        <p:nvSpPr>
          <p:cNvPr id="13" name="Text 9"/>
          <p:cNvSpPr/>
          <p:nvPr/>
        </p:nvSpPr>
        <p:spPr>
          <a:xfrm>
            <a:off x="2470861"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Market Sizing</a:t>
            </a:r>
            <a:endParaRPr lang="en-US" sz="1150" dirty="0"/>
          </a:p>
        </p:txBody>
      </p:sp>
      <p:sp>
        <p:nvSpPr>
          <p:cNvPr id="14" name="Text 10"/>
          <p:cNvSpPr/>
          <p:nvPr/>
        </p:nvSpPr>
        <p:spPr>
          <a:xfrm>
            <a:off x="2470861"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Bottom-up demand modelling (BUA × concrete-intensity norms) rolled into a TAM-SAM-SOM funnel.</a:t>
            </a:r>
            <a:endParaRPr lang="en-US" sz="930" dirty="0"/>
          </a:p>
        </p:txBody>
      </p:sp>
      <p:sp>
        <p:nvSpPr>
          <p:cNvPr id="15" name="Text 11"/>
          <p:cNvSpPr/>
          <p:nvPr/>
        </p:nvSpPr>
        <p:spPr>
          <a:xfrm>
            <a:off x="4246778"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3</a:t>
            </a:r>
            <a:endParaRPr lang="en-US" sz="850" dirty="0"/>
          </a:p>
        </p:txBody>
      </p:sp>
      <p:sp>
        <p:nvSpPr>
          <p:cNvPr id="16" name="Shape 12"/>
          <p:cNvSpPr/>
          <p:nvPr/>
        </p:nvSpPr>
        <p:spPr>
          <a:xfrm>
            <a:off x="4887849" y="2514600"/>
            <a:ext cx="566928" cy="566928"/>
          </a:xfrm>
          <a:prstGeom prst="ellipse">
            <a:avLst/>
          </a:prstGeom>
          <a:solidFill>
            <a:srgbClr val="D9782D"/>
          </a:solidFill>
          <a:ln/>
        </p:spPr>
      </p:sp>
      <p:pic>
        <p:nvPicPr>
          <p:cNvPr id="17" name="Image 2" descr="./assets/users_white.png">    </p:cNvPr>
          <p:cNvPicPr>
            <a:picLocks noChangeAspect="1"/>
          </p:cNvPicPr>
          <p:nvPr/>
        </p:nvPicPr>
        <p:blipFill>
          <a:blip r:embed="rId3"/>
          <a:stretch>
            <a:fillRect/>
          </a:stretch>
        </p:blipFill>
        <p:spPr>
          <a:xfrm>
            <a:off x="5034153" y="2660904"/>
            <a:ext cx="274320" cy="274320"/>
          </a:xfrm>
          <a:prstGeom prst="rect">
            <a:avLst/>
          </a:prstGeom>
        </p:spPr>
      </p:pic>
      <p:sp>
        <p:nvSpPr>
          <p:cNvPr id="18" name="Text 13"/>
          <p:cNvSpPr/>
          <p:nvPr/>
        </p:nvSpPr>
        <p:spPr>
          <a:xfrm>
            <a:off x="4319930"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Competitive Mapping</a:t>
            </a:r>
            <a:endParaRPr lang="en-US" sz="1150" dirty="0"/>
          </a:p>
        </p:txBody>
      </p:sp>
      <p:sp>
        <p:nvSpPr>
          <p:cNvPr id="19" name="Text 14"/>
          <p:cNvSpPr/>
          <p:nvPr/>
        </p:nvSpPr>
        <p:spPr>
          <a:xfrm>
            <a:off x="4319930"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SWOT, Porter's Five Forces, and a structured threat score for every competitor.</a:t>
            </a:r>
            <a:endParaRPr lang="en-US" sz="930" dirty="0"/>
          </a:p>
        </p:txBody>
      </p:sp>
      <p:sp>
        <p:nvSpPr>
          <p:cNvPr id="20" name="Text 15"/>
          <p:cNvSpPr/>
          <p:nvPr/>
        </p:nvSpPr>
        <p:spPr>
          <a:xfrm>
            <a:off x="6095848"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4</a:t>
            </a:r>
            <a:endParaRPr lang="en-US" sz="850" dirty="0"/>
          </a:p>
        </p:txBody>
      </p:sp>
      <p:sp>
        <p:nvSpPr>
          <p:cNvPr id="21" name="Shape 16"/>
          <p:cNvSpPr/>
          <p:nvPr/>
        </p:nvSpPr>
        <p:spPr>
          <a:xfrm>
            <a:off x="6736918" y="2514600"/>
            <a:ext cx="566928" cy="566928"/>
          </a:xfrm>
          <a:prstGeom prst="ellipse">
            <a:avLst/>
          </a:prstGeom>
          <a:solidFill>
            <a:srgbClr val="23262A"/>
          </a:solidFill>
          <a:ln/>
        </p:spPr>
      </p:sp>
      <p:pic>
        <p:nvPicPr>
          <p:cNvPr id="22" name="Image 3" descr="./assets/industry_white.png">    </p:cNvPr>
          <p:cNvPicPr>
            <a:picLocks noChangeAspect="1"/>
          </p:cNvPicPr>
          <p:nvPr/>
        </p:nvPicPr>
        <p:blipFill>
          <a:blip r:embed="rId4"/>
          <a:stretch>
            <a:fillRect/>
          </a:stretch>
        </p:blipFill>
        <p:spPr>
          <a:xfrm>
            <a:off x="6883222" y="2660904"/>
            <a:ext cx="274320" cy="274320"/>
          </a:xfrm>
          <a:prstGeom prst="rect">
            <a:avLst/>
          </a:prstGeom>
        </p:spPr>
      </p:pic>
      <p:sp>
        <p:nvSpPr>
          <p:cNvPr id="23" name="Text 17"/>
          <p:cNvSpPr/>
          <p:nvPr/>
        </p:nvSpPr>
        <p:spPr>
          <a:xfrm>
            <a:off x="6169000"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Infrastructure Overlay</a:t>
            </a:r>
            <a:endParaRPr lang="en-US" sz="1150" dirty="0"/>
          </a:p>
        </p:txBody>
      </p:sp>
      <p:sp>
        <p:nvSpPr>
          <p:cNvPr id="24" name="Text 18"/>
          <p:cNvSpPr/>
          <p:nvPr/>
        </p:nvSpPr>
        <p:spPr>
          <a:xfrm>
            <a:off x="6169000"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Public project pipeline benchmarked and converted into incremental concrete demand.</a:t>
            </a:r>
            <a:endParaRPr lang="en-US" sz="930" dirty="0"/>
          </a:p>
        </p:txBody>
      </p:sp>
      <p:sp>
        <p:nvSpPr>
          <p:cNvPr id="25" name="Text 19"/>
          <p:cNvSpPr/>
          <p:nvPr/>
        </p:nvSpPr>
        <p:spPr>
          <a:xfrm>
            <a:off x="7944917"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5</a:t>
            </a:r>
            <a:endParaRPr lang="en-US" sz="850" dirty="0"/>
          </a:p>
        </p:txBody>
      </p:sp>
      <p:sp>
        <p:nvSpPr>
          <p:cNvPr id="26" name="Shape 20"/>
          <p:cNvSpPr/>
          <p:nvPr/>
        </p:nvSpPr>
        <p:spPr>
          <a:xfrm>
            <a:off x="8585987" y="2514600"/>
            <a:ext cx="566928" cy="566928"/>
          </a:xfrm>
          <a:prstGeom prst="ellipse">
            <a:avLst/>
          </a:prstGeom>
          <a:solidFill>
            <a:srgbClr val="D9782D"/>
          </a:solidFill>
          <a:ln/>
        </p:spPr>
      </p:sp>
      <p:pic>
        <p:nvPicPr>
          <p:cNvPr id="27" name="Image 4" descr="./assets/calculator_white.png">    </p:cNvPr>
          <p:cNvPicPr>
            <a:picLocks noChangeAspect="1"/>
          </p:cNvPicPr>
          <p:nvPr/>
        </p:nvPicPr>
        <p:blipFill>
          <a:blip r:embed="rId5"/>
          <a:stretch>
            <a:fillRect/>
          </a:stretch>
        </p:blipFill>
        <p:spPr>
          <a:xfrm>
            <a:off x="8732291" y="2660904"/>
            <a:ext cx="274320" cy="274320"/>
          </a:xfrm>
          <a:prstGeom prst="rect">
            <a:avLst/>
          </a:prstGeom>
        </p:spPr>
      </p:pic>
      <p:sp>
        <p:nvSpPr>
          <p:cNvPr id="28" name="Text 21"/>
          <p:cNvSpPr/>
          <p:nvPr/>
        </p:nvSpPr>
        <p:spPr>
          <a:xfrm>
            <a:off x="8018069"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Financial Modelling</a:t>
            </a:r>
            <a:endParaRPr lang="en-US" sz="1150" dirty="0"/>
          </a:p>
        </p:txBody>
      </p:sp>
      <p:sp>
        <p:nvSpPr>
          <p:cNvPr id="29" name="Text 22"/>
          <p:cNvSpPr/>
          <p:nvPr/>
        </p:nvSpPr>
        <p:spPr>
          <a:xfrm>
            <a:off x="8018069"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5-year model with Base, Optimistic and Pessimistic scenarios and full sensitivity outputs.</a:t>
            </a:r>
            <a:endParaRPr lang="en-US" sz="930" dirty="0"/>
          </a:p>
        </p:txBody>
      </p:sp>
      <p:sp>
        <p:nvSpPr>
          <p:cNvPr id="30" name="Text 23"/>
          <p:cNvSpPr/>
          <p:nvPr/>
        </p:nvSpPr>
        <p:spPr>
          <a:xfrm>
            <a:off x="9793986" y="2185416"/>
            <a:ext cx="1849069" cy="219456"/>
          </a:xfrm>
          <a:prstGeom prst="rect">
            <a:avLst/>
          </a:prstGeom>
          <a:noFill/>
          <a:ln/>
        </p:spPr>
        <p:txBody>
          <a:bodyPr wrap="square" lIns="0" tIns="0" rIns="0" bIns="0" rtlCol="0" anchor="ctr"/>
          <a:lstStyle/>
          <a:p>
            <a:pPr algn="ctr" indent="0" marL="0">
              <a:buNone/>
            </a:pPr>
            <a:r>
              <a:rPr lang="en-US" sz="850" b="1" spc="100" kern="0" dirty="0">
                <a:solidFill>
                  <a:srgbClr val="70757C"/>
                </a:solidFill>
                <a:latin typeface="Calibri" pitchFamily="34" charset="0"/>
                <a:ea typeface="Calibri" pitchFamily="34" charset="-122"/>
                <a:cs typeface="Calibri" pitchFamily="34" charset="-120"/>
              </a:rPr>
              <a:t>STEP 6</a:t>
            </a:r>
            <a:endParaRPr lang="en-US" sz="850" dirty="0"/>
          </a:p>
        </p:txBody>
      </p:sp>
      <p:sp>
        <p:nvSpPr>
          <p:cNvPr id="31" name="Shape 24"/>
          <p:cNvSpPr/>
          <p:nvPr/>
        </p:nvSpPr>
        <p:spPr>
          <a:xfrm>
            <a:off x="10435057" y="2514600"/>
            <a:ext cx="566928" cy="566928"/>
          </a:xfrm>
          <a:prstGeom prst="ellipse">
            <a:avLst/>
          </a:prstGeom>
          <a:solidFill>
            <a:srgbClr val="23262A"/>
          </a:solidFill>
          <a:ln/>
        </p:spPr>
      </p:sp>
      <p:pic>
        <p:nvPicPr>
          <p:cNvPr id="32" name="Image 5" descr="./assets/shield_white.png">    </p:cNvPr>
          <p:cNvPicPr>
            <a:picLocks noChangeAspect="1"/>
          </p:cNvPicPr>
          <p:nvPr/>
        </p:nvPicPr>
        <p:blipFill>
          <a:blip r:embed="rId6"/>
          <a:stretch>
            <a:fillRect/>
          </a:stretch>
        </p:blipFill>
        <p:spPr>
          <a:xfrm>
            <a:off x="10581361" y="2660904"/>
            <a:ext cx="274320" cy="274320"/>
          </a:xfrm>
          <a:prstGeom prst="rect">
            <a:avLst/>
          </a:prstGeom>
        </p:spPr>
      </p:pic>
      <p:sp>
        <p:nvSpPr>
          <p:cNvPr id="33" name="Text 25"/>
          <p:cNvSpPr/>
          <p:nvPr/>
        </p:nvSpPr>
        <p:spPr>
          <a:xfrm>
            <a:off x="9867138" y="3246120"/>
            <a:ext cx="1702765" cy="502920"/>
          </a:xfrm>
          <a:prstGeom prst="rect">
            <a:avLst/>
          </a:prstGeom>
          <a:noFill/>
          <a:ln/>
        </p:spPr>
        <p:txBody>
          <a:bodyPr wrap="square" lIns="0" tIns="0" rIns="0" bIns="0" rtlCol="0" anchor="t"/>
          <a:lstStyle/>
          <a:p>
            <a:pPr algn="ctr" indent="0" marL="0">
              <a:lnSpc>
                <a:spcPct val="100000"/>
              </a:lnSpc>
              <a:buNone/>
            </a:pPr>
            <a:r>
              <a:rPr lang="en-US" sz="1150" b="1" dirty="0">
                <a:solidFill>
                  <a:srgbClr val="23262A"/>
                </a:solidFill>
                <a:latin typeface="Calibri" pitchFamily="34" charset="0"/>
                <a:ea typeface="Calibri" pitchFamily="34" charset="-122"/>
                <a:cs typeface="Calibri" pitchFamily="34" charset="-120"/>
              </a:rPr>
              <a:t>Risk &amp; Recommendation</a:t>
            </a:r>
            <a:endParaRPr lang="en-US" sz="1150" dirty="0"/>
          </a:p>
        </p:txBody>
      </p:sp>
      <p:sp>
        <p:nvSpPr>
          <p:cNvPr id="34" name="Text 26"/>
          <p:cNvSpPr/>
          <p:nvPr/>
        </p:nvSpPr>
        <p:spPr>
          <a:xfrm>
            <a:off x="9867138" y="3739896"/>
            <a:ext cx="1702765" cy="1463040"/>
          </a:xfrm>
          <a:prstGeom prst="rect">
            <a:avLst/>
          </a:prstGeom>
          <a:noFill/>
          <a:ln/>
        </p:spPr>
        <p:txBody>
          <a:bodyPr wrap="square" lIns="0" tIns="0" rIns="0" bIns="0" rtlCol="0" anchor="t"/>
          <a:lstStyle/>
          <a:p>
            <a:pPr algn="ctr" indent="0" marL="0">
              <a:lnSpc>
                <a:spcPct val="108000"/>
              </a:lnSpc>
              <a:buNone/>
            </a:pPr>
            <a:r>
              <a:rPr lang="en-US" sz="930" dirty="0">
                <a:solidFill>
                  <a:srgbClr val="70757C"/>
                </a:solidFill>
                <a:latin typeface="Calibri" pitchFamily="34" charset="0"/>
                <a:ea typeface="Calibri" pitchFamily="34" charset="-122"/>
                <a:cs typeface="Calibri" pitchFamily="34" charset="-120"/>
              </a:rPr>
              <a:t>19-risk probability-impact matrix synthesised into a phased GO recommendation.</a:t>
            </a:r>
            <a:endParaRPr lang="en-US" sz="930" dirty="0"/>
          </a:p>
        </p:txBody>
      </p:sp>
      <p:sp>
        <p:nvSpPr>
          <p:cNvPr id="35" name="Text 27"/>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36" name="Text 28"/>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07  </a:t>
            </a:r>
            <a:pPr indent="0" marL="0">
              <a:buNone/>
            </a:pPr>
            <a:r>
              <a:rPr lang="en-US" sz="1250" b="1" spc="200" kern="0" dirty="0">
                <a:solidFill>
                  <a:srgbClr val="D9782D"/>
                </a:solidFill>
                <a:latin typeface="Calibri" pitchFamily="34" charset="0"/>
                <a:ea typeface="Calibri" pitchFamily="34" charset="-122"/>
                <a:cs typeface="Calibri" pitchFamily="34" charset="-120"/>
              </a:rPr>
              <a:t>MARKET OPPORTUNITY</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300" b="1" dirty="0">
                <a:solidFill>
                  <a:srgbClr val="23262A"/>
                </a:solidFill>
                <a:latin typeface="Cambria" pitchFamily="34" charset="0"/>
                <a:ea typeface="Cambria" pitchFamily="34" charset="-122"/>
                <a:cs typeface="Cambria" pitchFamily="34" charset="-120"/>
              </a:rPr>
              <a:t>A ₹22,960 Cr private construction market, heavily concentrated in Surat</a:t>
            </a:r>
            <a:endParaRPr lang="en-US" sz="2300" dirty="0"/>
          </a:p>
        </p:txBody>
      </p:sp>
      <p:sp>
        <p:nvSpPr>
          <p:cNvPr id="4" name="Shape 2"/>
          <p:cNvSpPr/>
          <p:nvPr/>
        </p:nvSpPr>
        <p:spPr>
          <a:xfrm>
            <a:off x="548640"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5" name="Text 3"/>
          <p:cNvSpPr/>
          <p:nvPr/>
        </p:nvSpPr>
        <p:spPr>
          <a:xfrm>
            <a:off x="713232" y="2002536"/>
            <a:ext cx="2307260" cy="389900"/>
          </a:xfrm>
          <a:prstGeom prst="rect">
            <a:avLst/>
          </a:prstGeom>
          <a:noFill/>
          <a:ln/>
        </p:spPr>
        <p:txBody>
          <a:bodyPr wrap="square" lIns="0" tIns="0" rIns="0" bIns="0" rtlCol="0" anchor="b"/>
          <a:lstStyle/>
          <a:p>
            <a:pPr indent="0" marL="0">
              <a:buNone/>
            </a:pPr>
            <a:r>
              <a:rPr lang="en-US" sz="1800" b="1" dirty="0">
                <a:solidFill>
                  <a:srgbClr val="D9782D"/>
                </a:solidFill>
                <a:latin typeface="Cambria" pitchFamily="34" charset="0"/>
                <a:ea typeface="Cambria" pitchFamily="34" charset="-122"/>
                <a:cs typeface="Cambria" pitchFamily="34" charset="-120"/>
              </a:rPr>
              <a:t>3,065</a:t>
            </a:r>
            <a:endParaRPr lang="en-US" sz="1800" dirty="0"/>
          </a:p>
        </p:txBody>
      </p:sp>
      <p:sp>
        <p:nvSpPr>
          <p:cNvPr id="6" name="Text 4"/>
          <p:cNvSpPr/>
          <p:nvPr/>
        </p:nvSpPr>
        <p:spPr>
          <a:xfrm>
            <a:off x="713232"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RERA PROJECTS TRACKED</a:t>
            </a:r>
            <a:endParaRPr lang="en-US" sz="950" dirty="0"/>
          </a:p>
        </p:txBody>
      </p:sp>
      <p:sp>
        <p:nvSpPr>
          <p:cNvPr id="7" name="Shape 5"/>
          <p:cNvSpPr/>
          <p:nvPr/>
        </p:nvSpPr>
        <p:spPr>
          <a:xfrm>
            <a:off x="3367964"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8" name="Text 6"/>
          <p:cNvSpPr/>
          <p:nvPr/>
        </p:nvSpPr>
        <p:spPr>
          <a:xfrm>
            <a:off x="3532556" y="2002536"/>
            <a:ext cx="2307260" cy="389900"/>
          </a:xfrm>
          <a:prstGeom prst="rect">
            <a:avLst/>
          </a:prstGeom>
          <a:noFill/>
          <a:ln/>
        </p:spPr>
        <p:txBody>
          <a:bodyPr wrap="square" lIns="0" tIns="0" rIns="0" bIns="0" rtlCol="0" anchor="b"/>
          <a:lstStyle/>
          <a:p>
            <a:pPr indent="0" marL="0">
              <a:buNone/>
            </a:pPr>
            <a:r>
              <a:rPr lang="en-US" sz="1800" b="1" dirty="0">
                <a:solidFill>
                  <a:srgbClr val="D9782D"/>
                </a:solidFill>
                <a:latin typeface="Cambria" pitchFamily="34" charset="0"/>
                <a:ea typeface="Cambria" pitchFamily="34" charset="-122"/>
                <a:cs typeface="Cambria" pitchFamily="34" charset="-120"/>
              </a:rPr>
              <a:t>37.9M m³</a:t>
            </a:r>
            <a:endParaRPr lang="en-US" sz="1800" dirty="0"/>
          </a:p>
        </p:txBody>
      </p:sp>
      <p:sp>
        <p:nvSpPr>
          <p:cNvPr id="9" name="Text 7"/>
          <p:cNvSpPr/>
          <p:nvPr/>
        </p:nvSpPr>
        <p:spPr>
          <a:xfrm>
            <a:off x="3532556"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TOTAL CONCRETE DEMAND</a:t>
            </a:r>
            <a:endParaRPr lang="en-US" sz="950" dirty="0"/>
          </a:p>
        </p:txBody>
      </p:sp>
      <p:sp>
        <p:nvSpPr>
          <p:cNvPr id="10" name="Shape 8"/>
          <p:cNvSpPr/>
          <p:nvPr/>
        </p:nvSpPr>
        <p:spPr>
          <a:xfrm>
            <a:off x="6187288"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11" name="Text 9"/>
          <p:cNvSpPr/>
          <p:nvPr/>
        </p:nvSpPr>
        <p:spPr>
          <a:xfrm>
            <a:off x="6351880" y="2002536"/>
            <a:ext cx="2307260" cy="389900"/>
          </a:xfrm>
          <a:prstGeom prst="rect">
            <a:avLst/>
          </a:prstGeom>
          <a:noFill/>
          <a:ln/>
        </p:spPr>
        <p:txBody>
          <a:bodyPr wrap="square" lIns="0" tIns="0" rIns="0" bIns="0" rtlCol="0" anchor="b"/>
          <a:lstStyle/>
          <a:p>
            <a:pPr indent="0" marL="0">
              <a:buNone/>
            </a:pPr>
            <a:r>
              <a:rPr lang="en-US" sz="1800" b="1" dirty="0">
                <a:solidFill>
                  <a:srgbClr val="D9782D"/>
                </a:solidFill>
                <a:latin typeface="Cambria" pitchFamily="34" charset="0"/>
                <a:ea typeface="Cambria" pitchFamily="34" charset="-122"/>
                <a:cs typeface="Cambria" pitchFamily="34" charset="-120"/>
              </a:rPr>
              <a:t>₹22,960 Cr</a:t>
            </a:r>
            <a:endParaRPr lang="en-US" sz="1800" dirty="0"/>
          </a:p>
        </p:txBody>
      </p:sp>
      <p:sp>
        <p:nvSpPr>
          <p:cNvPr id="12" name="Text 10"/>
          <p:cNvSpPr/>
          <p:nvPr/>
        </p:nvSpPr>
        <p:spPr>
          <a:xfrm>
            <a:off x="6351880"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MARKET VALUE</a:t>
            </a:r>
            <a:endParaRPr lang="en-US" sz="950" dirty="0"/>
          </a:p>
        </p:txBody>
      </p:sp>
      <p:sp>
        <p:nvSpPr>
          <p:cNvPr id="13" name="Shape 11"/>
          <p:cNvSpPr/>
          <p:nvPr/>
        </p:nvSpPr>
        <p:spPr>
          <a:xfrm>
            <a:off x="9006611"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14" name="Text 12"/>
          <p:cNvSpPr/>
          <p:nvPr/>
        </p:nvSpPr>
        <p:spPr>
          <a:xfrm>
            <a:off x="9171203" y="2002536"/>
            <a:ext cx="2307260" cy="389900"/>
          </a:xfrm>
          <a:prstGeom prst="rect">
            <a:avLst/>
          </a:prstGeom>
          <a:noFill/>
          <a:ln/>
        </p:spPr>
        <p:txBody>
          <a:bodyPr wrap="square" lIns="0" tIns="0" rIns="0" bIns="0" rtlCol="0" anchor="b"/>
          <a:lstStyle/>
          <a:p>
            <a:pPr indent="0" marL="0">
              <a:buNone/>
            </a:pPr>
            <a:r>
              <a:rPr lang="en-US" sz="1800" b="1" dirty="0">
                <a:solidFill>
                  <a:srgbClr val="D9782D"/>
                </a:solidFill>
                <a:latin typeface="Cambria" pitchFamily="34" charset="0"/>
                <a:ea typeface="Cambria" pitchFamily="34" charset="-122"/>
                <a:cs typeface="Cambria" pitchFamily="34" charset="-120"/>
              </a:rPr>
              <a:t>₹6,065 /m³</a:t>
            </a:r>
            <a:endParaRPr lang="en-US" sz="1800" dirty="0"/>
          </a:p>
        </p:txBody>
      </p:sp>
      <p:sp>
        <p:nvSpPr>
          <p:cNvPr id="15" name="Text 13"/>
          <p:cNvSpPr/>
          <p:nvPr/>
        </p:nvSpPr>
        <p:spPr>
          <a:xfrm>
            <a:off x="9171203"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WEIGHTED AVG. PRICE</a:t>
            </a:r>
            <a:endParaRPr lang="en-US" sz="950" dirty="0"/>
          </a:p>
        </p:txBody>
      </p:sp>
      <p:sp>
        <p:nvSpPr>
          <p:cNvPr id="16" name="Text 14"/>
          <p:cNvSpPr/>
          <p:nvPr/>
        </p:nvSpPr>
        <p:spPr>
          <a:xfrm>
            <a:off x="548640" y="2880360"/>
            <a:ext cx="5394960" cy="237744"/>
          </a:xfrm>
          <a:prstGeom prst="rect">
            <a:avLst/>
          </a:prstGeom>
          <a:noFill/>
          <a:ln/>
        </p:spPr>
        <p:txBody>
          <a:bodyPr wrap="square" lIns="0" tIns="0" rIns="0" bIns="0" rtlCol="0" anchor="ctr"/>
          <a:lstStyle/>
          <a:p>
            <a:pPr indent="0" marL="0">
              <a:buNone/>
            </a:pPr>
            <a:r>
              <a:rPr lang="en-US" sz="1050" b="1" spc="50" kern="0" dirty="0">
                <a:solidFill>
                  <a:srgbClr val="23262A"/>
                </a:solidFill>
                <a:latin typeface="Calibri" pitchFamily="34" charset="0"/>
                <a:ea typeface="Calibri" pitchFamily="34" charset="-122"/>
                <a:cs typeface="Calibri" pitchFamily="34" charset="-120"/>
              </a:rPr>
              <a:t>CONCRETE MARKET VALUE BY DISTRICT (₹ CR)</a:t>
            </a:r>
            <a:endParaRPr lang="en-US" sz="1050" dirty="0"/>
          </a:p>
        </p:txBody>
      </p:sp>
      <p:graphicFrame>
        <p:nvGraphicFramePr>
          <p:cNvPr id="17" name="Chart 0" descr=""/>
          <p:cNvGraphicFramePr/>
          <p:nvPr/>
        </p:nvGraphicFramePr>
        <p:xfrm>
          <a:off x="548640" y="3154680"/>
          <a:ext cx="5394960" cy="315468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6263640" y="2880360"/>
            <a:ext cx="5376672" cy="237744"/>
          </a:xfrm>
          <a:prstGeom prst="rect">
            <a:avLst/>
          </a:prstGeom>
          <a:noFill/>
          <a:ln/>
        </p:spPr>
        <p:txBody>
          <a:bodyPr wrap="square" lIns="0" tIns="0" rIns="0" bIns="0" rtlCol="0" anchor="ctr"/>
          <a:lstStyle/>
          <a:p>
            <a:pPr indent="0" marL="0">
              <a:buNone/>
            </a:pPr>
            <a:r>
              <a:rPr lang="en-US" sz="1050" b="1" spc="50" kern="0" dirty="0">
                <a:solidFill>
                  <a:srgbClr val="23262A"/>
                </a:solidFill>
                <a:latin typeface="Calibri" pitchFamily="34" charset="0"/>
                <a:ea typeface="Calibri" pitchFamily="34" charset="-122"/>
                <a:cs typeface="Calibri" pitchFamily="34" charset="-120"/>
              </a:rPr>
              <a:t>MARKET VALUE MIX BY PROJECT CATEGORY</a:t>
            </a:r>
            <a:endParaRPr lang="en-US" sz="1050" dirty="0"/>
          </a:p>
        </p:txBody>
      </p:sp>
      <p:graphicFrame>
        <p:nvGraphicFramePr>
          <p:cNvPr id="19" name="Chart 1" descr=""/>
          <p:cNvGraphicFramePr/>
          <p:nvPr/>
        </p:nvGraphicFramePr>
        <p:xfrm>
          <a:off x="6492240" y="3200400"/>
          <a:ext cx="3246120" cy="292608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1" name="Text 17"/>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ns2="http://schemas.openxmlformats.org/drawingml/2006/chart" xmlns:p="http://schemas.openxmlformats.org/presentationml/2006/main" xmlns:r="http://schemas.openxmlformats.org/officeDocument/2006/relationships">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08  </a:t>
            </a:r>
            <a:pPr indent="0" marL="0">
              <a:buNone/>
            </a:pPr>
            <a:r>
              <a:rPr lang="en-US" sz="1250" b="1" spc="200" kern="0" dirty="0">
                <a:solidFill>
                  <a:srgbClr val="D9782D"/>
                </a:solidFill>
                <a:latin typeface="Calibri" pitchFamily="34" charset="0"/>
                <a:ea typeface="Calibri" pitchFamily="34" charset="-122"/>
                <a:cs typeface="Calibri" pitchFamily="34" charset="-120"/>
              </a:rPr>
              <a:t>TAM / SAM / SOM</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A ₹26,760 Cr addressable market, with a disciplined ramp to ₹5,189 Cr captured by Year 5</a:t>
            </a:r>
            <a:endParaRPr lang="en-US" sz="2100" dirty="0"/>
          </a:p>
        </p:txBody>
      </p:sp>
      <p:sp>
        <p:nvSpPr>
          <p:cNvPr id="4" name="Shape 2"/>
          <p:cNvSpPr/>
          <p:nvPr/>
        </p:nvSpPr>
        <p:spPr>
          <a:xfrm>
            <a:off x="685800" y="2057400"/>
            <a:ext cx="5120640" cy="1170432"/>
          </a:xfrm>
          <a:prstGeom prst="roundRect">
            <a:avLst>
              <a:gd name="adj" fmla="val 4688"/>
            </a:avLst>
          </a:prstGeom>
          <a:solidFill>
            <a:srgbClr val="E4EAED"/>
          </a:solidFill>
          <a:ln/>
        </p:spPr>
      </p:sp>
      <p:sp>
        <p:nvSpPr>
          <p:cNvPr id="5" name="Text 3"/>
          <p:cNvSpPr/>
          <p:nvPr/>
        </p:nvSpPr>
        <p:spPr>
          <a:xfrm>
            <a:off x="868680" y="2167128"/>
            <a:ext cx="4754880" cy="219456"/>
          </a:xfrm>
          <a:prstGeom prst="rect">
            <a:avLst/>
          </a:prstGeom>
          <a:noFill/>
          <a:ln/>
        </p:spPr>
        <p:txBody>
          <a:bodyPr wrap="square" lIns="0" tIns="0" rIns="0" bIns="0" rtlCol="0" anchor="ctr"/>
          <a:lstStyle/>
          <a:p>
            <a:pPr algn="ctr" indent="0" marL="0">
              <a:buNone/>
            </a:pPr>
            <a:r>
              <a:rPr lang="en-US" sz="900" b="1" spc="50" kern="0" dirty="0">
                <a:solidFill>
                  <a:srgbClr val="23262A"/>
                </a:solidFill>
                <a:latin typeface="Calibri" pitchFamily="34" charset="0"/>
                <a:ea typeface="Calibri" pitchFamily="34" charset="-122"/>
                <a:cs typeface="Calibri" pitchFamily="34" charset="-120"/>
              </a:rPr>
              <a:t>TAM — TOTAL ADDRESSABLE MARKET</a:t>
            </a:r>
            <a:endParaRPr lang="en-US" sz="900" dirty="0"/>
          </a:p>
        </p:txBody>
      </p:sp>
      <p:sp>
        <p:nvSpPr>
          <p:cNvPr id="6" name="Text 4"/>
          <p:cNvSpPr/>
          <p:nvPr/>
        </p:nvSpPr>
        <p:spPr>
          <a:xfrm>
            <a:off x="868680" y="2386584"/>
            <a:ext cx="4754880" cy="457200"/>
          </a:xfrm>
          <a:prstGeom prst="rect">
            <a:avLst/>
          </a:prstGeom>
          <a:noFill/>
          <a:ln/>
        </p:spPr>
        <p:txBody>
          <a:bodyPr wrap="square" lIns="0" tIns="0" rIns="0" bIns="0" rtlCol="0" anchor="ctr"/>
          <a:lstStyle/>
          <a:p>
            <a:pPr algn="ctr" indent="0" marL="0">
              <a:buNone/>
            </a:pPr>
            <a:r>
              <a:rPr lang="en-US" sz="2200" b="1" dirty="0">
                <a:solidFill>
                  <a:srgbClr val="23262A"/>
                </a:solidFill>
                <a:latin typeface="Cambria" pitchFamily="34" charset="0"/>
                <a:ea typeface="Cambria" pitchFamily="34" charset="-122"/>
                <a:cs typeface="Cambria" pitchFamily="34" charset="-120"/>
              </a:rPr>
              <a:t>₹26,760 Cr</a:t>
            </a:r>
            <a:endParaRPr lang="en-US" sz="2200" dirty="0"/>
          </a:p>
        </p:txBody>
      </p:sp>
      <p:sp>
        <p:nvSpPr>
          <p:cNvPr id="7" name="Text 5"/>
          <p:cNvSpPr/>
          <p:nvPr/>
        </p:nvSpPr>
        <p:spPr>
          <a:xfrm>
            <a:off x="868680" y="2880360"/>
            <a:ext cx="4754880" cy="274320"/>
          </a:xfrm>
          <a:prstGeom prst="rect">
            <a:avLst/>
          </a:prstGeom>
          <a:noFill/>
          <a:ln/>
        </p:spPr>
        <p:txBody>
          <a:bodyPr wrap="square" lIns="0" tIns="0" rIns="0" bIns="0" rtlCol="0" anchor="ctr"/>
          <a:lstStyle/>
          <a:p>
            <a:pPr algn="ctr" indent="0" marL="0">
              <a:buNone/>
            </a:pPr>
            <a:r>
              <a:rPr lang="en-US" sz="900" dirty="0">
                <a:solidFill>
                  <a:srgbClr val="70757C"/>
                </a:solidFill>
                <a:latin typeface="Calibri" pitchFamily="34" charset="0"/>
                <a:ea typeface="Calibri" pitchFamily="34" charset="-122"/>
                <a:cs typeface="Calibri" pitchFamily="34" charset="-120"/>
              </a:rPr>
              <a:t>3,087 projects · 44.2M m³ demand</a:t>
            </a:r>
            <a:endParaRPr lang="en-US" sz="900" dirty="0"/>
          </a:p>
        </p:txBody>
      </p:sp>
      <p:sp>
        <p:nvSpPr>
          <p:cNvPr id="8" name="Shape 6"/>
          <p:cNvSpPr/>
          <p:nvPr/>
        </p:nvSpPr>
        <p:spPr>
          <a:xfrm>
            <a:off x="1234440" y="3355848"/>
            <a:ext cx="4023360" cy="1170432"/>
          </a:xfrm>
          <a:prstGeom prst="roundRect">
            <a:avLst>
              <a:gd name="adj" fmla="val 4688"/>
            </a:avLst>
          </a:prstGeom>
          <a:solidFill>
            <a:srgbClr val="45606F"/>
          </a:solidFill>
          <a:ln/>
        </p:spPr>
      </p:sp>
      <p:sp>
        <p:nvSpPr>
          <p:cNvPr id="9" name="Text 7"/>
          <p:cNvSpPr/>
          <p:nvPr/>
        </p:nvSpPr>
        <p:spPr>
          <a:xfrm>
            <a:off x="1417320" y="3465576"/>
            <a:ext cx="3657600" cy="219456"/>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SAM — SERVICEABLE AVAILABLE MARKET</a:t>
            </a:r>
            <a:endParaRPr lang="en-US" sz="900" dirty="0"/>
          </a:p>
        </p:txBody>
      </p:sp>
      <p:sp>
        <p:nvSpPr>
          <p:cNvPr id="10" name="Text 8"/>
          <p:cNvSpPr/>
          <p:nvPr/>
        </p:nvSpPr>
        <p:spPr>
          <a:xfrm>
            <a:off x="1417320" y="3685032"/>
            <a:ext cx="36576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₹25,943 Cr</a:t>
            </a:r>
            <a:endParaRPr lang="en-US" sz="2200" dirty="0"/>
          </a:p>
        </p:txBody>
      </p:sp>
      <p:sp>
        <p:nvSpPr>
          <p:cNvPr id="11" name="Text 9"/>
          <p:cNvSpPr/>
          <p:nvPr/>
        </p:nvSpPr>
        <p:spPr>
          <a:xfrm>
            <a:off x="1417320" y="4178808"/>
            <a:ext cx="3657600" cy="274320"/>
          </a:xfrm>
          <a:prstGeom prst="rect">
            <a:avLst/>
          </a:prstGeom>
          <a:noFill/>
          <a:ln/>
        </p:spPr>
        <p:txBody>
          <a:bodyPr wrap="square" lIns="0" tIns="0" rIns="0" bIns="0" rtlCol="0" anchor="ctr"/>
          <a:lstStyle/>
          <a:p>
            <a:pPr algn="ctr" indent="0" marL="0">
              <a:buNone/>
            </a:pPr>
            <a:r>
              <a:rPr lang="en-US" sz="900" dirty="0">
                <a:solidFill>
                  <a:srgbClr val="B9BEC4"/>
                </a:solidFill>
                <a:latin typeface="Calibri" pitchFamily="34" charset="0"/>
                <a:ea typeface="Calibri" pitchFamily="34" charset="-122"/>
                <a:cs typeface="Calibri" pitchFamily="34" charset="-120"/>
              </a:rPr>
              <a:t>96.9% of TAM within delivery reach</a:t>
            </a:r>
            <a:endParaRPr lang="en-US" sz="900" dirty="0"/>
          </a:p>
        </p:txBody>
      </p:sp>
      <p:sp>
        <p:nvSpPr>
          <p:cNvPr id="12" name="Shape 10"/>
          <p:cNvSpPr/>
          <p:nvPr/>
        </p:nvSpPr>
        <p:spPr>
          <a:xfrm>
            <a:off x="1783080" y="4654296"/>
            <a:ext cx="2926080" cy="1170432"/>
          </a:xfrm>
          <a:prstGeom prst="roundRect">
            <a:avLst>
              <a:gd name="adj" fmla="val 4688"/>
            </a:avLst>
          </a:prstGeom>
          <a:solidFill>
            <a:srgbClr val="D9782D"/>
          </a:solidFill>
          <a:ln/>
        </p:spPr>
      </p:sp>
      <p:sp>
        <p:nvSpPr>
          <p:cNvPr id="13" name="Text 11"/>
          <p:cNvSpPr/>
          <p:nvPr/>
        </p:nvSpPr>
        <p:spPr>
          <a:xfrm>
            <a:off x="1965960" y="4764024"/>
            <a:ext cx="2560320" cy="219456"/>
          </a:xfrm>
          <a:prstGeom prst="rect">
            <a:avLst/>
          </a:prstGeom>
          <a:no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SOM — SERVICEABLE OBTAINABLE MARKET</a:t>
            </a:r>
            <a:endParaRPr lang="en-US" sz="900" dirty="0"/>
          </a:p>
        </p:txBody>
      </p:sp>
      <p:sp>
        <p:nvSpPr>
          <p:cNvPr id="14" name="Text 12"/>
          <p:cNvSpPr/>
          <p:nvPr/>
        </p:nvSpPr>
        <p:spPr>
          <a:xfrm>
            <a:off x="1965960" y="4983480"/>
            <a:ext cx="256032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₹1,297 – 5,189 Cr</a:t>
            </a:r>
            <a:endParaRPr lang="en-US" sz="2200" dirty="0"/>
          </a:p>
        </p:txBody>
      </p:sp>
      <p:sp>
        <p:nvSpPr>
          <p:cNvPr id="15" name="Text 13"/>
          <p:cNvSpPr/>
          <p:nvPr/>
        </p:nvSpPr>
        <p:spPr>
          <a:xfrm>
            <a:off x="1965960" y="5477256"/>
            <a:ext cx="2560320" cy="274320"/>
          </a:xfrm>
          <a:prstGeom prst="rect">
            <a:avLst/>
          </a:prstGeom>
          <a:noFill/>
          <a:ln/>
        </p:spPr>
        <p:txBody>
          <a:bodyPr wrap="square" lIns="0" tIns="0" rIns="0" bIns="0" rtlCol="0" anchor="ctr"/>
          <a:lstStyle/>
          <a:p>
            <a:pPr algn="ctr" indent="0" marL="0">
              <a:buNone/>
            </a:pPr>
            <a:r>
              <a:rPr lang="en-US" sz="900" dirty="0">
                <a:solidFill>
                  <a:srgbClr val="FBEADB"/>
                </a:solidFill>
                <a:latin typeface="Calibri" pitchFamily="34" charset="0"/>
                <a:ea typeface="Calibri" pitchFamily="34" charset="-122"/>
                <a:cs typeface="Calibri" pitchFamily="34" charset="-120"/>
              </a:rPr>
              <a:t>Year 1 → Year 5 capture ramp (5% → 20%)</a:t>
            </a:r>
            <a:endParaRPr lang="en-US" sz="900" dirty="0"/>
          </a:p>
        </p:txBody>
      </p:sp>
      <p:sp>
        <p:nvSpPr>
          <p:cNvPr id="16" name="Text 14"/>
          <p:cNvSpPr/>
          <p:nvPr/>
        </p:nvSpPr>
        <p:spPr>
          <a:xfrm>
            <a:off x="6537960" y="2057400"/>
            <a:ext cx="5105095" cy="256032"/>
          </a:xfrm>
          <a:prstGeom prst="rect">
            <a:avLst/>
          </a:prstGeom>
          <a:noFill/>
          <a:ln/>
        </p:spPr>
        <p:txBody>
          <a:bodyPr wrap="square" lIns="0" tIns="0" rIns="0" bIns="0" rtlCol="0" anchor="ctr"/>
          <a:lstStyle/>
          <a:p>
            <a:pPr indent="0" marL="0">
              <a:buNone/>
            </a:pPr>
            <a:r>
              <a:rPr lang="en-US" sz="1050" b="1" spc="50" kern="0" dirty="0">
                <a:solidFill>
                  <a:srgbClr val="23262A"/>
                </a:solidFill>
                <a:latin typeface="Calibri" pitchFamily="34" charset="0"/>
                <a:ea typeface="Calibri" pitchFamily="34" charset="-122"/>
                <a:cs typeface="Calibri" pitchFamily="34" charset="-120"/>
              </a:rPr>
              <a:t>SOM CAPTURE RAMP — YEAR 1 TO YEAR 5 (₹ CR)</a:t>
            </a:r>
            <a:endParaRPr lang="en-US" sz="1050" dirty="0"/>
          </a:p>
        </p:txBody>
      </p:sp>
      <p:graphicFrame>
        <p:nvGraphicFramePr>
          <p:cNvPr id="17" name="Chart 0" descr=""/>
          <p:cNvGraphicFramePr/>
          <p:nvPr/>
        </p:nvGraphicFramePr>
        <p:xfrm>
          <a:off x="6537960" y="2377440"/>
          <a:ext cx="5105095" cy="3063240"/>
        </p:xfrm>
        <a:graphic>
          <a:graphicData uri="http://schemas.openxmlformats.org/drawingml/2006/chart">
            <ns2:chart r:id="rId1"/>
          </a:graphicData>
        </a:graphic>
      </p:graphicFrame>
      <p:sp>
        <p:nvSpPr>
          <p:cNvPr id="18" name="Text 15"/>
          <p:cNvSpPr/>
          <p:nvPr/>
        </p:nvSpPr>
        <p:spPr>
          <a:xfrm>
            <a:off x="6537960" y="5486400"/>
            <a:ext cx="5105095" cy="274320"/>
          </a:xfrm>
          <a:prstGeom prst="rect">
            <a:avLst/>
          </a:prstGeom>
          <a:noFill/>
          <a:ln/>
        </p:spPr>
        <p:txBody>
          <a:bodyPr wrap="square" lIns="0" tIns="0" rIns="0" bIns="0" rtlCol="0" anchor="ctr"/>
          <a:lstStyle/>
          <a:p>
            <a:pPr algn="ctr" indent="0" marL="0">
              <a:buNone/>
            </a:pPr>
            <a:r>
              <a:rPr lang="en-US" sz="950" i="1" dirty="0">
                <a:solidFill>
                  <a:srgbClr val="70757C"/>
                </a:solidFill>
                <a:latin typeface="Calibri" pitchFamily="34" charset="0"/>
                <a:ea typeface="Calibri" pitchFamily="34" charset="-122"/>
                <a:cs typeface="Calibri" pitchFamily="34" charset="-120"/>
              </a:rPr>
              <a:t>Market capture: 5%   ·   10%   ·   15%   ·   18%   ·   20%</a:t>
            </a:r>
            <a:endParaRPr lang="en-US" sz="950" dirty="0"/>
          </a:p>
        </p:txBody>
      </p:sp>
      <p:sp>
        <p:nvSpPr>
          <p:cNvPr id="19" name="Text 16"/>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0" name="Text 17"/>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09  </a:t>
            </a:r>
            <a:pPr indent="0" marL="0">
              <a:buNone/>
            </a:pPr>
            <a:r>
              <a:rPr lang="en-US" sz="1250" b="1" spc="200" kern="0" dirty="0">
                <a:solidFill>
                  <a:srgbClr val="D9782D"/>
                </a:solidFill>
                <a:latin typeface="Calibri" pitchFamily="34" charset="0"/>
                <a:ea typeface="Calibri" pitchFamily="34" charset="-122"/>
                <a:cs typeface="Calibri" pitchFamily="34" charset="-120"/>
              </a:rPr>
              <a:t>COMPETITOR LANDSCAPE</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66 competitors, no dominant player — and clear white space in underserved corridors</a:t>
            </a:r>
            <a:endParaRPr lang="en-US" sz="2100" dirty="0"/>
          </a:p>
        </p:txBody>
      </p:sp>
      <p:sp>
        <p:nvSpPr>
          <p:cNvPr id="4" name="Text 2"/>
          <p:cNvSpPr/>
          <p:nvPr/>
        </p:nvSpPr>
        <p:spPr>
          <a:xfrm>
            <a:off x="548640" y="1874520"/>
            <a:ext cx="3977640" cy="237744"/>
          </a:xfrm>
          <a:prstGeom prst="rect">
            <a:avLst/>
          </a:prstGeom>
          <a:noFill/>
          <a:ln/>
        </p:spPr>
        <p:txBody>
          <a:bodyPr wrap="square" lIns="0" tIns="0" rIns="0" bIns="0" rtlCol="0" anchor="ctr"/>
          <a:lstStyle/>
          <a:p>
            <a:pPr indent="0" marL="0">
              <a:buNone/>
            </a:pPr>
            <a:r>
              <a:rPr lang="en-US" sz="950" b="1" spc="30" kern="0" dirty="0">
                <a:solidFill>
                  <a:srgbClr val="23262A"/>
                </a:solidFill>
                <a:latin typeface="Calibri" pitchFamily="34" charset="0"/>
                <a:ea typeface="Calibri" pitchFamily="34" charset="-122"/>
                <a:cs typeface="Calibri" pitchFamily="34" charset="-120"/>
              </a:rPr>
              <a:t>THREAT-LEVEL DISTRIBUTION (66 COMPETITORS)</a:t>
            </a:r>
            <a:endParaRPr lang="en-US" sz="950" dirty="0"/>
          </a:p>
        </p:txBody>
      </p:sp>
      <p:graphicFrame>
        <p:nvGraphicFramePr>
          <p:cNvPr id="5" name="Chart 0" descr=""/>
          <p:cNvGraphicFramePr/>
          <p:nvPr/>
        </p:nvGraphicFramePr>
        <p:xfrm>
          <a:off x="868680" y="2148840"/>
          <a:ext cx="3337560" cy="2331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4709160"/>
            <a:ext cx="1897380" cy="868680"/>
          </a:xfrm>
          <a:prstGeom prst="roundRect">
            <a:avLst>
              <a:gd name="adj" fmla="val 7368"/>
            </a:avLst>
          </a:prstGeom>
          <a:solidFill>
            <a:srgbClr val="EEF0F1"/>
          </a:solidFill>
          <a:ln/>
        </p:spPr>
      </p:sp>
      <p:sp>
        <p:nvSpPr>
          <p:cNvPr id="7" name="Text 4"/>
          <p:cNvSpPr/>
          <p:nvPr/>
        </p:nvSpPr>
        <p:spPr>
          <a:xfrm>
            <a:off x="685800" y="4800600"/>
            <a:ext cx="1623060" cy="384048"/>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66</a:t>
            </a:r>
            <a:endParaRPr lang="en-US" sz="2000" dirty="0"/>
          </a:p>
        </p:txBody>
      </p:sp>
      <p:sp>
        <p:nvSpPr>
          <p:cNvPr id="8" name="Text 5"/>
          <p:cNvSpPr/>
          <p:nvPr/>
        </p:nvSpPr>
        <p:spPr>
          <a:xfrm>
            <a:off x="685800" y="5212080"/>
            <a:ext cx="1623060" cy="320040"/>
          </a:xfrm>
          <a:prstGeom prst="rect">
            <a:avLst/>
          </a:prstGeom>
          <a:noFill/>
          <a:ln/>
        </p:spPr>
        <p:txBody>
          <a:bodyPr wrap="square" lIns="0" tIns="0" rIns="0" bIns="0" rtlCol="0" anchor="ctr"/>
          <a:lstStyle/>
          <a:p>
            <a:pPr indent="0" marL="0">
              <a:buNone/>
            </a:pPr>
            <a:r>
              <a:rPr lang="en-US" sz="850" b="1" spc="30" kern="0" dirty="0">
                <a:solidFill>
                  <a:srgbClr val="23262A"/>
                </a:solidFill>
                <a:latin typeface="Calibri" pitchFamily="34" charset="0"/>
                <a:ea typeface="Calibri" pitchFamily="34" charset="-122"/>
                <a:cs typeface="Calibri" pitchFamily="34" charset="-120"/>
              </a:rPr>
              <a:t>TOTAL MAPPED</a:t>
            </a:r>
            <a:endParaRPr lang="en-US" sz="850" dirty="0"/>
          </a:p>
        </p:txBody>
      </p:sp>
      <p:sp>
        <p:nvSpPr>
          <p:cNvPr id="9" name="Shape 6"/>
          <p:cNvSpPr/>
          <p:nvPr/>
        </p:nvSpPr>
        <p:spPr>
          <a:xfrm>
            <a:off x="2628900" y="4709160"/>
            <a:ext cx="1897380" cy="868680"/>
          </a:xfrm>
          <a:prstGeom prst="roundRect">
            <a:avLst>
              <a:gd name="adj" fmla="val 7368"/>
            </a:avLst>
          </a:prstGeom>
          <a:solidFill>
            <a:srgbClr val="EEF0F1"/>
          </a:solidFill>
          <a:ln/>
        </p:spPr>
      </p:sp>
      <p:sp>
        <p:nvSpPr>
          <p:cNvPr id="10" name="Text 7"/>
          <p:cNvSpPr/>
          <p:nvPr/>
        </p:nvSpPr>
        <p:spPr>
          <a:xfrm>
            <a:off x="2766060" y="4800600"/>
            <a:ext cx="1623060" cy="384048"/>
          </a:xfrm>
          <a:prstGeom prst="rect">
            <a:avLst/>
          </a:prstGeom>
          <a:noFill/>
          <a:ln/>
        </p:spPr>
        <p:txBody>
          <a:bodyPr wrap="square" lIns="0" tIns="0" rIns="0" bIns="0" rtlCol="0" anchor="ctr"/>
          <a:lstStyle/>
          <a:p>
            <a:pPr indent="0" marL="0">
              <a:buNone/>
            </a:pPr>
            <a:r>
              <a:rPr lang="en-US" sz="2000" b="1" dirty="0">
                <a:solidFill>
                  <a:srgbClr val="D9782D"/>
                </a:solidFill>
                <a:latin typeface="Cambria" pitchFamily="34" charset="0"/>
                <a:ea typeface="Cambria" pitchFamily="34" charset="-122"/>
                <a:cs typeface="Cambria" pitchFamily="34" charset="-120"/>
              </a:rPr>
              <a:t>43.9%</a:t>
            </a:r>
            <a:endParaRPr lang="en-US" sz="2000" dirty="0"/>
          </a:p>
        </p:txBody>
      </p:sp>
      <p:sp>
        <p:nvSpPr>
          <p:cNvPr id="11" name="Text 8"/>
          <p:cNvSpPr/>
          <p:nvPr/>
        </p:nvSpPr>
        <p:spPr>
          <a:xfrm>
            <a:off x="2766060" y="5212080"/>
            <a:ext cx="1623060" cy="320040"/>
          </a:xfrm>
          <a:prstGeom prst="rect">
            <a:avLst/>
          </a:prstGeom>
          <a:noFill/>
          <a:ln/>
        </p:spPr>
        <p:txBody>
          <a:bodyPr wrap="square" lIns="0" tIns="0" rIns="0" bIns="0" rtlCol="0" anchor="ctr"/>
          <a:lstStyle/>
          <a:p>
            <a:pPr indent="0" marL="0">
              <a:buNone/>
            </a:pPr>
            <a:r>
              <a:rPr lang="en-US" sz="850" b="1" spc="30" kern="0" dirty="0">
                <a:solidFill>
                  <a:srgbClr val="23262A"/>
                </a:solidFill>
                <a:latin typeface="Calibri" pitchFamily="34" charset="0"/>
                <a:ea typeface="Calibri" pitchFamily="34" charset="-122"/>
                <a:cs typeface="Calibri" pitchFamily="34" charset="-120"/>
              </a:rPr>
              <a:t>VERIFIED PROFILES</a:t>
            </a:r>
            <a:endParaRPr lang="en-US" sz="850" dirty="0"/>
          </a:p>
        </p:txBody>
      </p:sp>
      <p:sp>
        <p:nvSpPr>
          <p:cNvPr id="12" name="Text 9"/>
          <p:cNvSpPr/>
          <p:nvPr/>
        </p:nvSpPr>
        <p:spPr>
          <a:xfrm>
            <a:off x="548640" y="5715000"/>
            <a:ext cx="3977640" cy="502920"/>
          </a:xfrm>
          <a:prstGeom prst="rect">
            <a:avLst/>
          </a:prstGeom>
          <a:noFill/>
          <a:ln/>
        </p:spPr>
        <p:txBody>
          <a:bodyPr wrap="square" lIns="0" tIns="0" rIns="0" bIns="0" rtlCol="0" anchor="ctr"/>
          <a:lstStyle/>
          <a:p>
            <a:pPr indent="0" marL="0">
              <a:lnSpc>
                <a:spcPct val="110000"/>
              </a:lnSpc>
              <a:buNone/>
            </a:pPr>
            <a:r>
              <a:rPr lang="en-US" sz="950" i="1" dirty="0">
                <a:solidFill>
                  <a:srgbClr val="70757C"/>
                </a:solidFill>
                <a:latin typeface="Calibri" pitchFamily="34" charset="0"/>
                <a:ea typeface="Calibri" pitchFamily="34" charset="-122"/>
                <a:cs typeface="Calibri" pitchFamily="34" charset="-120"/>
              </a:rPr>
              <a:t>Porter's Five Forces: 3 of 5 forces rated High — an intensely competitive, fragmented market.</a:t>
            </a:r>
            <a:endParaRPr lang="en-US" sz="950" dirty="0"/>
          </a:p>
        </p:txBody>
      </p:sp>
      <p:sp>
        <p:nvSpPr>
          <p:cNvPr id="13" name="Text 10"/>
          <p:cNvSpPr/>
          <p:nvPr/>
        </p:nvSpPr>
        <p:spPr>
          <a:xfrm>
            <a:off x="4892040" y="1874520"/>
            <a:ext cx="6751015" cy="237744"/>
          </a:xfrm>
          <a:prstGeom prst="rect">
            <a:avLst/>
          </a:prstGeom>
          <a:noFill/>
          <a:ln/>
        </p:spPr>
        <p:txBody>
          <a:bodyPr wrap="square" lIns="0" tIns="0" rIns="0" bIns="0" rtlCol="0" anchor="ctr"/>
          <a:lstStyle/>
          <a:p>
            <a:pPr indent="0" marL="0">
              <a:buNone/>
            </a:pPr>
            <a:r>
              <a:rPr lang="en-US" sz="950" b="1" spc="30" kern="0" dirty="0">
                <a:solidFill>
                  <a:srgbClr val="23262A"/>
                </a:solidFill>
                <a:latin typeface="Calibri" pitchFamily="34" charset="0"/>
                <a:ea typeface="Calibri" pitchFamily="34" charset="-122"/>
                <a:cs typeface="Calibri" pitchFamily="34" charset="-120"/>
              </a:rPr>
              <a:t>SELECTED COMPETITOR PROFILES</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92040" y="2176272"/>
          <a:ext cx="6751015" cy="914400"/>
        </p:xfrm>
        <a:graphic>
          <a:graphicData uri="http://schemas.openxmlformats.org/drawingml/2006/table">
            <a:tbl>
              <a:tblPr/>
              <a:tblGrid>
                <a:gridCol w="2331720"/>
                <a:gridCol w="1051560"/>
                <a:gridCol w="2313432"/>
                <a:gridCol w="1005840"/>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COMPETITOR</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ZONE</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MARKET POSITION</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THREAT</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RDC Concrete (India)</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Surat</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National Tier-1</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5606F"/>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RMIX Ready-Mix</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Surat</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Dominant Regional</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ctr" indent="0" marL="0">
                        <a:buNone/>
                      </a:pPr>
                      <a:r>
                        <a:rPr lang="en-US" sz="1000" b="1" dirty="0">
                          <a:solidFill>
                            <a:srgbClr val="B85F1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Uday Infra Projects</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Bharuch</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Market Leader</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45606F"/>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Nuvoco Vistas</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Surat</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National Tier-1</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ctr" indent="0" marL="0">
                        <a:buNone/>
                      </a:pPr>
                      <a:r>
                        <a:rPr lang="en-US" sz="1000" b="1" dirty="0">
                          <a:solidFill>
                            <a:srgbClr val="45606F"/>
                          </a:solidFill>
                          <a:latin typeface="Calibri" pitchFamily="34" charset="0"/>
                          <a:ea typeface="Calibri" pitchFamily="34" charset="-122"/>
                          <a:cs typeface="Calibri" pitchFamily="34" charset="-120"/>
                        </a:rPr>
                        <a:t>Low</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Makrani Infra</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Valsad</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Major Regional</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5F1E"/>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23262A"/>
                          </a:solidFill>
                          <a:latin typeface="Calibri" pitchFamily="34" charset="0"/>
                          <a:ea typeface="Calibri" pitchFamily="34" charset="-122"/>
                          <a:cs typeface="Calibri" pitchFamily="34" charset="-120"/>
                        </a:rPr>
                        <a:t>Choudhary RMC</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Surat</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1000" dirty="0">
                          <a:solidFill>
                            <a:srgbClr val="3D4147"/>
                          </a:solidFill>
                          <a:latin typeface="Calibri" pitchFamily="34" charset="0"/>
                          <a:ea typeface="Calibri" pitchFamily="34" charset="-122"/>
                          <a:cs typeface="Calibri" pitchFamily="34" charset="-120"/>
                        </a:rPr>
                        <a:t>Major Regional</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ctr" indent="0" marL="0">
                        <a:buNone/>
                      </a:pPr>
                      <a:r>
                        <a:rPr lang="en-US" sz="1000" b="1" dirty="0">
                          <a:solidFill>
                            <a:srgbClr val="B23A34"/>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bl>
          </a:graphicData>
        </a:graphic>
      </p:graphicFrame>
      <p:sp>
        <p:nvSpPr>
          <p:cNvPr id="15" name="Shape 11"/>
          <p:cNvSpPr/>
          <p:nvPr/>
        </p:nvSpPr>
        <p:spPr>
          <a:xfrm>
            <a:off x="4892040" y="4800600"/>
            <a:ext cx="6751015" cy="1417320"/>
          </a:xfrm>
          <a:prstGeom prst="roundRect">
            <a:avLst>
              <a:gd name="adj" fmla="val 4516"/>
            </a:avLst>
          </a:prstGeom>
          <a:solidFill>
            <a:srgbClr val="FBEADB"/>
          </a:solidFill>
          <a:ln/>
        </p:spPr>
      </p:sp>
      <p:sp>
        <p:nvSpPr>
          <p:cNvPr id="16" name="Text 12"/>
          <p:cNvSpPr/>
          <p:nvPr/>
        </p:nvSpPr>
        <p:spPr>
          <a:xfrm>
            <a:off x="5093208" y="4928616"/>
            <a:ext cx="6348679" cy="237744"/>
          </a:xfrm>
          <a:prstGeom prst="rect">
            <a:avLst/>
          </a:prstGeom>
          <a:noFill/>
          <a:ln/>
        </p:spPr>
        <p:txBody>
          <a:bodyPr wrap="square" lIns="0" tIns="0" rIns="0" bIns="0" rtlCol="0" anchor="ctr"/>
          <a:lstStyle/>
          <a:p>
            <a:pPr indent="0" marL="0">
              <a:buNone/>
            </a:pPr>
            <a:r>
              <a:rPr lang="en-US" sz="950" b="1" spc="50" kern="0" dirty="0">
                <a:solidFill>
                  <a:srgbClr val="B85F1E"/>
                </a:solidFill>
                <a:latin typeface="Calibri" pitchFamily="34" charset="0"/>
                <a:ea typeface="Calibri" pitchFamily="34" charset="-122"/>
                <a:cs typeface="Calibri" pitchFamily="34" charset="-120"/>
              </a:rPr>
              <a:t>WHITE-SPACE OPPORTUNITY</a:t>
            </a:r>
            <a:endParaRPr lang="en-US" sz="950" dirty="0"/>
          </a:p>
        </p:txBody>
      </p:sp>
      <p:sp>
        <p:nvSpPr>
          <p:cNvPr id="17" name="Text 13"/>
          <p:cNvSpPr/>
          <p:nvPr/>
        </p:nvSpPr>
        <p:spPr>
          <a:xfrm>
            <a:off x="5093208" y="5184648"/>
            <a:ext cx="6348679" cy="1051560"/>
          </a:xfrm>
          <a:prstGeom prst="rect">
            <a:avLst/>
          </a:prstGeom>
          <a:noFill/>
          <a:ln/>
        </p:spPr>
        <p:txBody>
          <a:bodyPr wrap="square" lIns="0" tIns="0" rIns="0" bIns="0" rtlCol="0" anchor="t"/>
          <a:lstStyle/>
          <a:p>
            <a:pPr indent="0" marL="0">
              <a:lnSpc>
                <a:spcPct val="118000"/>
              </a:lnSpc>
              <a:buNone/>
            </a:pPr>
            <a:r>
              <a:rPr lang="en-US" sz="1100" dirty="0">
                <a:solidFill>
                  <a:srgbClr val="23262A"/>
                </a:solidFill>
                <a:latin typeface="Calibri" pitchFamily="34" charset="0"/>
                <a:ea typeface="Calibri" pitchFamily="34" charset="-122"/>
                <a:cs typeface="Calibri" pitchFamily="34" charset="-120"/>
              </a:rPr>
              <a:t>Under-served corridors: Sarigam, Palej, eastern Tapi and select Chikhli/Navsari corridors. Industrial key-account potential: Dahej, Ankleshwar, Hazira and Vapi GIDC — where certified supply and reliability matter more than price.</a:t>
            </a:r>
            <a:endParaRPr lang="en-US" sz="1100" dirty="0"/>
          </a:p>
        </p:txBody>
      </p:sp>
      <p:sp>
        <p:nvSpPr>
          <p:cNvPr id="18" name="Text 14"/>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19" name="Text 15"/>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10  </a:t>
            </a:r>
            <a:pPr indent="0" marL="0">
              <a:buNone/>
            </a:pPr>
            <a:r>
              <a:rPr lang="en-US" sz="1250" b="1" spc="200" kern="0" dirty="0">
                <a:solidFill>
                  <a:srgbClr val="D9782D"/>
                </a:solidFill>
                <a:latin typeface="Calibri" pitchFamily="34" charset="0"/>
                <a:ea typeface="Calibri" pitchFamily="34" charset="-122"/>
                <a:cs typeface="Calibri" pitchFamily="34" charset="-120"/>
              </a:rPr>
              <a:t>INFRASTRUCTURE ANALYSIS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000" b="1" dirty="0">
                <a:solidFill>
                  <a:srgbClr val="23262A"/>
                </a:solidFill>
                <a:latin typeface="Cambria" pitchFamily="34" charset="0"/>
                <a:ea typeface="Cambria" pitchFamily="34" charset="-122"/>
                <a:cs typeface="Cambria" pitchFamily="34" charset="-120"/>
              </a:rPr>
              <a:t>₹31,241 Cr of public infrastructure investment adds 6.4M m³ of incremental concrete demand</a:t>
            </a:r>
            <a:endParaRPr lang="en-US" sz="2000" dirty="0"/>
          </a:p>
        </p:txBody>
      </p:sp>
      <p:sp>
        <p:nvSpPr>
          <p:cNvPr id="4" name="Shape 2"/>
          <p:cNvSpPr/>
          <p:nvPr/>
        </p:nvSpPr>
        <p:spPr>
          <a:xfrm>
            <a:off x="548640"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5" name="Text 3"/>
          <p:cNvSpPr/>
          <p:nvPr/>
        </p:nvSpPr>
        <p:spPr>
          <a:xfrm>
            <a:off x="713232" y="2002536"/>
            <a:ext cx="2307260" cy="389900"/>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22</a:t>
            </a:r>
            <a:endParaRPr lang="en-US" sz="1700" dirty="0"/>
          </a:p>
        </p:txBody>
      </p:sp>
      <p:sp>
        <p:nvSpPr>
          <p:cNvPr id="6" name="Text 4"/>
          <p:cNvSpPr/>
          <p:nvPr/>
        </p:nvSpPr>
        <p:spPr>
          <a:xfrm>
            <a:off x="713232"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TRACKED PROJECTS</a:t>
            </a:r>
            <a:endParaRPr lang="en-US" sz="950" dirty="0"/>
          </a:p>
        </p:txBody>
      </p:sp>
      <p:sp>
        <p:nvSpPr>
          <p:cNvPr id="7" name="Shape 5"/>
          <p:cNvSpPr/>
          <p:nvPr/>
        </p:nvSpPr>
        <p:spPr>
          <a:xfrm>
            <a:off x="3367964"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8" name="Text 6"/>
          <p:cNvSpPr/>
          <p:nvPr/>
        </p:nvSpPr>
        <p:spPr>
          <a:xfrm>
            <a:off x="3532556" y="2002536"/>
            <a:ext cx="2307260" cy="389900"/>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₹31,241 Cr</a:t>
            </a:r>
            <a:endParaRPr lang="en-US" sz="1700" dirty="0"/>
          </a:p>
        </p:txBody>
      </p:sp>
      <p:sp>
        <p:nvSpPr>
          <p:cNvPr id="9" name="Text 7"/>
          <p:cNvSpPr/>
          <p:nvPr/>
        </p:nvSpPr>
        <p:spPr>
          <a:xfrm>
            <a:off x="3532556"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TOTAL PROJECT COST</a:t>
            </a:r>
            <a:endParaRPr lang="en-US" sz="950" dirty="0"/>
          </a:p>
        </p:txBody>
      </p:sp>
      <p:sp>
        <p:nvSpPr>
          <p:cNvPr id="10" name="Shape 8"/>
          <p:cNvSpPr/>
          <p:nvPr/>
        </p:nvSpPr>
        <p:spPr>
          <a:xfrm>
            <a:off x="6187288"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11" name="Text 9"/>
          <p:cNvSpPr/>
          <p:nvPr/>
        </p:nvSpPr>
        <p:spPr>
          <a:xfrm>
            <a:off x="6351880" y="2002536"/>
            <a:ext cx="2307260" cy="389900"/>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6.4M m³</a:t>
            </a:r>
            <a:endParaRPr lang="en-US" sz="1700" dirty="0"/>
          </a:p>
        </p:txBody>
      </p:sp>
      <p:sp>
        <p:nvSpPr>
          <p:cNvPr id="12" name="Text 10"/>
          <p:cNvSpPr/>
          <p:nvPr/>
        </p:nvSpPr>
        <p:spPr>
          <a:xfrm>
            <a:off x="6351880"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INCREMENTAL DEMAND</a:t>
            </a:r>
            <a:endParaRPr lang="en-US" sz="950" dirty="0"/>
          </a:p>
        </p:txBody>
      </p:sp>
      <p:sp>
        <p:nvSpPr>
          <p:cNvPr id="13" name="Shape 11"/>
          <p:cNvSpPr/>
          <p:nvPr/>
        </p:nvSpPr>
        <p:spPr>
          <a:xfrm>
            <a:off x="9006611" y="1874520"/>
            <a:ext cx="2636444" cy="749808"/>
          </a:xfrm>
          <a:prstGeom prst="roundRect">
            <a:avLst>
              <a:gd name="adj" fmla="val 10976"/>
            </a:avLst>
          </a:prstGeom>
          <a:solidFill>
            <a:srgbClr val="EEF0F1"/>
          </a:solidFill>
          <a:ln/>
          <a:effectLst>
            <a:outerShdw sx="100000" sy="100000" kx="0" ky="0" algn="bl" rotWithShape="0" blurRad="101600" dist="25400" dir="5400000">
              <a:srgbClr val="1A1C1F">
                <a:alpha val="10000"/>
              </a:srgbClr>
            </a:outerShdw>
          </a:effectLst>
        </p:spPr>
      </p:sp>
      <p:sp>
        <p:nvSpPr>
          <p:cNvPr id="14" name="Text 12"/>
          <p:cNvSpPr/>
          <p:nvPr/>
        </p:nvSpPr>
        <p:spPr>
          <a:xfrm>
            <a:off x="9171203" y="2002536"/>
            <a:ext cx="2307260" cy="389900"/>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4</a:t>
            </a:r>
            <a:endParaRPr lang="en-US" sz="1700" dirty="0"/>
          </a:p>
        </p:txBody>
      </p:sp>
      <p:sp>
        <p:nvSpPr>
          <p:cNvPr id="15" name="Text 13"/>
          <p:cNvSpPr/>
          <p:nvPr/>
        </p:nvSpPr>
        <p:spPr>
          <a:xfrm>
            <a:off x="9171203" y="2324405"/>
            <a:ext cx="23072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EXTREME IMPORTANCE</a:t>
            </a:r>
            <a:endParaRPr lang="en-US" sz="950" dirty="0"/>
          </a:p>
        </p:txBody>
      </p:sp>
      <p:sp>
        <p:nvSpPr>
          <p:cNvPr id="16" name="Text 14"/>
          <p:cNvSpPr/>
          <p:nvPr/>
        </p:nvSpPr>
        <p:spPr>
          <a:xfrm>
            <a:off x="548640" y="2880360"/>
            <a:ext cx="5120640" cy="237744"/>
          </a:xfrm>
          <a:prstGeom prst="rect">
            <a:avLst/>
          </a:prstGeom>
          <a:noFill/>
          <a:ln/>
        </p:spPr>
        <p:txBody>
          <a:bodyPr wrap="square" lIns="0" tIns="0" rIns="0" bIns="0" rtlCol="0" anchor="ctr"/>
          <a:lstStyle/>
          <a:p>
            <a:pPr indent="0" marL="0">
              <a:buNone/>
            </a:pPr>
            <a:r>
              <a:rPr lang="en-US" sz="970" b="1" spc="30" kern="0" dirty="0">
                <a:solidFill>
                  <a:srgbClr val="23262A"/>
                </a:solidFill>
                <a:latin typeface="Calibri" pitchFamily="34" charset="0"/>
                <a:ea typeface="Calibri" pitchFamily="34" charset="-122"/>
                <a:cs typeface="Calibri" pitchFamily="34" charset="-120"/>
              </a:rPr>
              <a:t>INFRASTRUCTURE CONCRETE DEMAND BY DISTRICT (M³)</a:t>
            </a:r>
            <a:endParaRPr lang="en-US" sz="970" dirty="0"/>
          </a:p>
        </p:txBody>
      </p:sp>
      <p:graphicFrame>
        <p:nvGraphicFramePr>
          <p:cNvPr id="17" name="Chart 0" descr=""/>
          <p:cNvGraphicFramePr/>
          <p:nvPr/>
        </p:nvGraphicFramePr>
        <p:xfrm>
          <a:off x="548640" y="3172968"/>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p:nvPr/>
        </p:nvSpPr>
        <p:spPr>
          <a:xfrm>
            <a:off x="5989320" y="2880360"/>
            <a:ext cx="5653735" cy="237744"/>
          </a:xfrm>
          <a:prstGeom prst="rect">
            <a:avLst/>
          </a:prstGeom>
          <a:noFill/>
          <a:ln/>
        </p:spPr>
        <p:txBody>
          <a:bodyPr wrap="square" lIns="0" tIns="0" rIns="0" bIns="0" rtlCol="0" anchor="ctr"/>
          <a:lstStyle/>
          <a:p>
            <a:pPr indent="0" marL="0">
              <a:buNone/>
            </a:pPr>
            <a:r>
              <a:rPr lang="en-US" sz="970" b="1" spc="30" kern="0" dirty="0">
                <a:solidFill>
                  <a:srgbClr val="23262A"/>
                </a:solidFill>
                <a:latin typeface="Calibri" pitchFamily="34" charset="0"/>
                <a:ea typeface="Calibri" pitchFamily="34" charset="-122"/>
                <a:cs typeface="Calibri" pitchFamily="34" charset="-120"/>
              </a:rPr>
              <a:t>FLAGSHIP PROJECTS</a:t>
            </a:r>
            <a:endParaRPr lang="en-US" sz="97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89320" y="3172968"/>
          <a:ext cx="5653735" cy="914400"/>
        </p:xfrm>
        <a:graphic>
          <a:graphicData uri="http://schemas.openxmlformats.org/drawingml/2006/table">
            <a:tbl>
              <a:tblPr/>
              <a:tblGrid>
                <a:gridCol w="2331720"/>
                <a:gridCol w="1051560"/>
                <a:gridCol w="1143000"/>
                <a:gridCol w="1170432"/>
              </a:tblGrid>
              <a:tr h="36576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PROJECT</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DISTRICT</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COST (₹ CR)</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DEMAND (M³)</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r>
              <a:tr h="365760">
                <a:tc>
                  <a:txBody>
                    <a:bodyPr/>
                    <a:lstStyle/>
                    <a:p>
                      <a:pPr indent="0" marL="0">
                        <a:buNone/>
                      </a:pPr>
                      <a:r>
                        <a:rPr lang="en-US" sz="930" b="1" dirty="0">
                          <a:solidFill>
                            <a:srgbClr val="23262A"/>
                          </a:solidFill>
                          <a:latin typeface="Calibri" pitchFamily="34" charset="0"/>
                          <a:ea typeface="Calibri" pitchFamily="34" charset="-122"/>
                          <a:cs typeface="Calibri" pitchFamily="34" charset="-120"/>
                        </a:rPr>
                        <a:t>Surat Metro Rail (Phase 1)</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930" dirty="0">
                          <a:solidFill>
                            <a:srgbClr val="3D4147"/>
                          </a:solidFill>
                          <a:latin typeface="Calibri" pitchFamily="34" charset="0"/>
                          <a:ea typeface="Calibri" pitchFamily="34" charset="-122"/>
                          <a:cs typeface="Calibri" pitchFamily="34" charset="-120"/>
                        </a:rPr>
                        <a:t>Surat</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12,020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1,008,750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365760">
                <a:tc>
                  <a:txBody>
                    <a:bodyPr/>
                    <a:lstStyle/>
                    <a:p>
                      <a:pPr indent="0" marL="0">
                        <a:buNone/>
                      </a:pPr>
                      <a:r>
                        <a:rPr lang="en-US" sz="930" b="1" dirty="0">
                          <a:solidFill>
                            <a:srgbClr val="23262A"/>
                          </a:solidFill>
                          <a:latin typeface="Calibri" pitchFamily="34" charset="0"/>
                          <a:ea typeface="Calibri" pitchFamily="34" charset="-122"/>
                          <a:cs typeface="Calibri" pitchFamily="34" charset="-120"/>
                        </a:rPr>
                        <a:t>Bhadbhut Barrage Project</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930" dirty="0">
                          <a:solidFill>
                            <a:srgbClr val="3D4147"/>
                          </a:solidFill>
                          <a:latin typeface="Calibri" pitchFamily="34" charset="0"/>
                          <a:ea typeface="Calibri" pitchFamily="34" charset="-122"/>
                          <a:cs typeface="Calibri" pitchFamily="34" charset="-120"/>
                        </a:rPr>
                        <a:t>Bharuch</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5,322</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1,667,076</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365760">
                <a:tc>
                  <a:txBody>
                    <a:bodyPr/>
                    <a:lstStyle/>
                    <a:p>
                      <a:pPr indent="0" marL="0">
                        <a:buNone/>
                      </a:pPr>
                      <a:r>
                        <a:rPr lang="en-US" sz="930" b="1" dirty="0">
                          <a:solidFill>
                            <a:srgbClr val="23262A"/>
                          </a:solidFill>
                          <a:latin typeface="Calibri" pitchFamily="34" charset="0"/>
                          <a:ea typeface="Calibri" pitchFamily="34" charset="-122"/>
                          <a:cs typeface="Calibri" pitchFamily="34" charset="-120"/>
                        </a:rPr>
                        <a:t>PM MITRA Textile Park</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930" dirty="0">
                          <a:solidFill>
                            <a:srgbClr val="3D4147"/>
                          </a:solidFill>
                          <a:latin typeface="Calibri" pitchFamily="34" charset="0"/>
                          <a:ea typeface="Calibri" pitchFamily="34" charset="-122"/>
                          <a:cs typeface="Calibri" pitchFamily="34" charset="-120"/>
                        </a:rPr>
                        <a:t>Navsari</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3,000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540,000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365760">
                <a:tc>
                  <a:txBody>
                    <a:bodyPr/>
                    <a:lstStyle/>
                    <a:p>
                      <a:pPr indent="0" marL="0">
                        <a:buNone/>
                      </a:pPr>
                      <a:r>
                        <a:rPr lang="en-US" sz="930" b="1" dirty="0">
                          <a:solidFill>
                            <a:srgbClr val="23262A"/>
                          </a:solidFill>
                          <a:latin typeface="Calibri" pitchFamily="34" charset="0"/>
                          <a:ea typeface="Calibri" pitchFamily="34" charset="-122"/>
                          <a:cs typeface="Calibri" pitchFamily="34" charset="-120"/>
                        </a:rPr>
                        <a:t>Delhi-Mumbai Expressway (Pkg 27 &amp; 28)</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indent="0" marL="0">
                        <a:buNone/>
                      </a:pPr>
                      <a:r>
                        <a:rPr lang="en-US" sz="930" dirty="0">
                          <a:solidFill>
                            <a:srgbClr val="3D4147"/>
                          </a:solidFill>
                          <a:latin typeface="Calibri" pitchFamily="34" charset="0"/>
                          <a:ea typeface="Calibri" pitchFamily="34" charset="-122"/>
                          <a:cs typeface="Calibri" pitchFamily="34" charset="-120"/>
                        </a:rPr>
                        <a:t>Valsad</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3,260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550,000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365760">
                <a:tc>
                  <a:txBody>
                    <a:bodyPr/>
                    <a:lstStyle/>
                    <a:p>
                      <a:pPr indent="0" marL="0">
                        <a:buNone/>
                      </a:pPr>
                      <a:r>
                        <a:rPr lang="en-US" sz="930" b="1" dirty="0">
                          <a:solidFill>
                            <a:srgbClr val="23262A"/>
                          </a:solidFill>
                          <a:latin typeface="Calibri" pitchFamily="34" charset="0"/>
                          <a:ea typeface="Calibri" pitchFamily="34" charset="-122"/>
                          <a:cs typeface="Calibri" pitchFamily="34" charset="-120"/>
                        </a:rPr>
                        <a:t>Jambusar Bulk Drug Park</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indent="0" marL="0">
                        <a:buNone/>
                      </a:pPr>
                      <a:r>
                        <a:rPr lang="en-US" sz="930" dirty="0">
                          <a:solidFill>
                            <a:srgbClr val="3D4147"/>
                          </a:solidFill>
                          <a:latin typeface="Calibri" pitchFamily="34" charset="0"/>
                          <a:ea typeface="Calibri" pitchFamily="34" charset="-122"/>
                          <a:cs typeface="Calibri" pitchFamily="34" charset="-120"/>
                        </a:rPr>
                        <a:t>Bharuch</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2,507</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30" dirty="0">
                          <a:solidFill>
                            <a:srgbClr val="3D4147"/>
                          </a:solidFill>
                          <a:latin typeface="Calibri" pitchFamily="34" charset="0"/>
                          <a:ea typeface="Calibri" pitchFamily="34" charset="-122"/>
                          <a:cs typeface="Calibri" pitchFamily="34" charset="-120"/>
                        </a:rPr>
                        <a:t>451,080</a:t>
                      </a:r>
                      <a:endParaRPr lang="en-US" sz="93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bl>
          </a:graphicData>
        </a:graphic>
      </p:graphicFrame>
      <p:sp>
        <p:nvSpPr>
          <p:cNvPr id="20" name="Text 16"/>
          <p:cNvSpPr/>
          <p:nvPr/>
        </p:nvSpPr>
        <p:spPr>
          <a:xfrm>
            <a:off x="5989320" y="5568696"/>
            <a:ext cx="5653735" cy="457200"/>
          </a:xfrm>
          <a:prstGeom prst="rect">
            <a:avLst/>
          </a:prstGeom>
          <a:noFill/>
          <a:ln/>
        </p:spPr>
        <p:txBody>
          <a:bodyPr wrap="square" lIns="0" tIns="0" rIns="0" bIns="0" rtlCol="0" anchor="ctr"/>
          <a:lstStyle/>
          <a:p>
            <a:pPr indent="0" marL="0">
              <a:lnSpc>
                <a:spcPct val="110000"/>
              </a:lnSpc>
              <a:buNone/>
            </a:pPr>
            <a:r>
              <a:rPr lang="en-US" sz="950" i="1" dirty="0">
                <a:solidFill>
                  <a:srgbClr val="70757C"/>
                </a:solidFill>
                <a:latin typeface="Calibri" pitchFamily="34" charset="0"/>
                <a:ea typeface="Calibri" pitchFamily="34" charset="-122"/>
                <a:cs typeface="Calibri" pitchFamily="34" charset="-120"/>
              </a:rPr>
              <a:t>These projects layer directly onto the private-project TAM and are already reflected in the ₹26,760 Cr addressable market.</a:t>
            </a:r>
            <a:endParaRPr lang="en-US" sz="950" dirty="0"/>
          </a:p>
        </p:txBody>
      </p:sp>
      <p:sp>
        <p:nvSpPr>
          <p:cNvPr id="21" name="Text 17"/>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2" name="Text 18"/>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ns2="http://schemas.openxmlformats.org/drawingml/2006/chart" xmlns:p="http://schemas.openxmlformats.org/presentationml/2006/main" xmlns:r="http://schemas.openxmlformats.org/officeDocument/2006/relationships">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11  </a:t>
            </a:r>
            <a:pPr indent="0" marL="0">
              <a:buNone/>
            </a:pPr>
            <a:r>
              <a:rPr lang="en-US" sz="1250" b="1" spc="200" kern="0" dirty="0">
                <a:solidFill>
                  <a:srgbClr val="D9782D"/>
                </a:solidFill>
                <a:latin typeface="Calibri" pitchFamily="34" charset="0"/>
                <a:ea typeface="Calibri" pitchFamily="34" charset="-122"/>
                <a:cs typeface="Calibri" pitchFamily="34" charset="-120"/>
              </a:rPr>
              <a:t>FINANCIAL HIGHLIGHTS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000" b="1" dirty="0">
                <a:solidFill>
                  <a:srgbClr val="23262A"/>
                </a:solidFill>
                <a:latin typeface="Cambria" pitchFamily="34" charset="0"/>
                <a:ea typeface="Cambria" pitchFamily="34" charset="-122"/>
                <a:cs typeface="Cambria" pitchFamily="34" charset="-120"/>
              </a:rPr>
              <a:t>₹30.8 Cr NPV, 40.8% IRR and a 2.9-year payback on a disciplined ₹51 Cr phased rollout</a:t>
            </a:r>
            <a:endParaRPr lang="en-US" sz="2000" dirty="0"/>
          </a:p>
        </p:txBody>
      </p:sp>
      <p:sp>
        <p:nvSpPr>
          <p:cNvPr id="4" name="Shape 2"/>
          <p:cNvSpPr/>
          <p:nvPr/>
        </p:nvSpPr>
        <p:spPr>
          <a:xfrm>
            <a:off x="548640" y="192024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5" name="Text 3"/>
          <p:cNvSpPr/>
          <p:nvPr/>
        </p:nvSpPr>
        <p:spPr>
          <a:xfrm>
            <a:off x="713232" y="204825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₹129.1 Cr</a:t>
            </a:r>
            <a:endParaRPr lang="en-US" sz="2100" dirty="0"/>
          </a:p>
        </p:txBody>
      </p:sp>
      <p:sp>
        <p:nvSpPr>
          <p:cNvPr id="6" name="Text 4"/>
          <p:cNvSpPr/>
          <p:nvPr/>
        </p:nvSpPr>
        <p:spPr>
          <a:xfrm>
            <a:off x="713232" y="269930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YEAR 5 REVENUE</a:t>
            </a:r>
            <a:endParaRPr lang="en-US" sz="950" dirty="0"/>
          </a:p>
        </p:txBody>
      </p:sp>
      <p:sp>
        <p:nvSpPr>
          <p:cNvPr id="7" name="Text 5"/>
          <p:cNvSpPr/>
          <p:nvPr/>
        </p:nvSpPr>
        <p:spPr>
          <a:xfrm>
            <a:off x="713232" y="294436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Steady-state · 3 plants</a:t>
            </a:r>
            <a:endParaRPr lang="en-US" sz="850" dirty="0"/>
          </a:p>
        </p:txBody>
      </p:sp>
      <p:sp>
        <p:nvSpPr>
          <p:cNvPr id="8" name="Shape 6"/>
          <p:cNvSpPr/>
          <p:nvPr/>
        </p:nvSpPr>
        <p:spPr>
          <a:xfrm>
            <a:off x="2894076" y="192024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9" name="Text 7"/>
          <p:cNvSpPr/>
          <p:nvPr/>
        </p:nvSpPr>
        <p:spPr>
          <a:xfrm>
            <a:off x="3058668" y="204825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₹29.5 Cr</a:t>
            </a:r>
            <a:endParaRPr lang="en-US" sz="2100" dirty="0"/>
          </a:p>
        </p:txBody>
      </p:sp>
      <p:sp>
        <p:nvSpPr>
          <p:cNvPr id="10" name="Text 8"/>
          <p:cNvSpPr/>
          <p:nvPr/>
        </p:nvSpPr>
        <p:spPr>
          <a:xfrm>
            <a:off x="3058668" y="269930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YEAR 5 EBITDA</a:t>
            </a:r>
            <a:endParaRPr lang="en-US" sz="950" dirty="0"/>
          </a:p>
        </p:txBody>
      </p:sp>
      <p:sp>
        <p:nvSpPr>
          <p:cNvPr id="11" name="Text 9"/>
          <p:cNvSpPr/>
          <p:nvPr/>
        </p:nvSpPr>
        <p:spPr>
          <a:xfrm>
            <a:off x="3058668" y="294436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22.7% avg. margin</a:t>
            </a:r>
            <a:endParaRPr lang="en-US" sz="850" dirty="0"/>
          </a:p>
        </p:txBody>
      </p:sp>
      <p:sp>
        <p:nvSpPr>
          <p:cNvPr id="12" name="Shape 10"/>
          <p:cNvSpPr/>
          <p:nvPr/>
        </p:nvSpPr>
        <p:spPr>
          <a:xfrm>
            <a:off x="548640" y="338328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13" name="Text 11"/>
          <p:cNvSpPr/>
          <p:nvPr/>
        </p:nvSpPr>
        <p:spPr>
          <a:xfrm>
            <a:off x="713232" y="351129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₹30.8 Cr</a:t>
            </a:r>
            <a:endParaRPr lang="en-US" sz="2100" dirty="0"/>
          </a:p>
        </p:txBody>
      </p:sp>
      <p:sp>
        <p:nvSpPr>
          <p:cNvPr id="14" name="Text 12"/>
          <p:cNvSpPr/>
          <p:nvPr/>
        </p:nvSpPr>
        <p:spPr>
          <a:xfrm>
            <a:off x="713232" y="416234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NET PRESENT VALUE</a:t>
            </a:r>
            <a:endParaRPr lang="en-US" sz="950" dirty="0"/>
          </a:p>
        </p:txBody>
      </p:sp>
      <p:sp>
        <p:nvSpPr>
          <p:cNvPr id="15" name="Text 13"/>
          <p:cNvSpPr/>
          <p:nvPr/>
        </p:nvSpPr>
        <p:spPr>
          <a:xfrm>
            <a:off x="713232" y="440740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 12% discount rate</a:t>
            </a:r>
            <a:endParaRPr lang="en-US" sz="850" dirty="0"/>
          </a:p>
        </p:txBody>
      </p:sp>
      <p:sp>
        <p:nvSpPr>
          <p:cNvPr id="16" name="Shape 14"/>
          <p:cNvSpPr/>
          <p:nvPr/>
        </p:nvSpPr>
        <p:spPr>
          <a:xfrm>
            <a:off x="2894076" y="338328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17" name="Text 15"/>
          <p:cNvSpPr/>
          <p:nvPr/>
        </p:nvSpPr>
        <p:spPr>
          <a:xfrm>
            <a:off x="3058668" y="351129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40.8%</a:t>
            </a:r>
            <a:endParaRPr lang="en-US" sz="2100" dirty="0"/>
          </a:p>
        </p:txBody>
      </p:sp>
      <p:sp>
        <p:nvSpPr>
          <p:cNvPr id="18" name="Text 16"/>
          <p:cNvSpPr/>
          <p:nvPr/>
        </p:nvSpPr>
        <p:spPr>
          <a:xfrm>
            <a:off x="3058668" y="416234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INTERNAL RATE OF RETURN</a:t>
            </a:r>
            <a:endParaRPr lang="en-US" sz="950" dirty="0"/>
          </a:p>
        </p:txBody>
      </p:sp>
      <p:sp>
        <p:nvSpPr>
          <p:cNvPr id="19" name="Text 17"/>
          <p:cNvSpPr/>
          <p:nvPr/>
        </p:nvSpPr>
        <p:spPr>
          <a:xfrm>
            <a:off x="3058668" y="440740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5-year horizon</a:t>
            </a:r>
            <a:endParaRPr lang="en-US" sz="850" dirty="0"/>
          </a:p>
        </p:txBody>
      </p:sp>
      <p:sp>
        <p:nvSpPr>
          <p:cNvPr id="20" name="Shape 18"/>
          <p:cNvSpPr/>
          <p:nvPr/>
        </p:nvSpPr>
        <p:spPr>
          <a:xfrm>
            <a:off x="548640" y="484632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21" name="Text 19"/>
          <p:cNvSpPr/>
          <p:nvPr/>
        </p:nvSpPr>
        <p:spPr>
          <a:xfrm>
            <a:off x="713232" y="497433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120.0%</a:t>
            </a:r>
            <a:endParaRPr lang="en-US" sz="2100" dirty="0"/>
          </a:p>
        </p:txBody>
      </p:sp>
      <p:sp>
        <p:nvSpPr>
          <p:cNvPr id="22" name="Text 20"/>
          <p:cNvSpPr/>
          <p:nvPr/>
        </p:nvSpPr>
        <p:spPr>
          <a:xfrm>
            <a:off x="713232" y="562538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5-YR CUMULATIVE ROI</a:t>
            </a:r>
            <a:endParaRPr lang="en-US" sz="950" dirty="0"/>
          </a:p>
        </p:txBody>
      </p:sp>
      <p:sp>
        <p:nvSpPr>
          <p:cNvPr id="23" name="Text 21"/>
          <p:cNvSpPr/>
          <p:nvPr/>
        </p:nvSpPr>
        <p:spPr>
          <a:xfrm>
            <a:off x="713232" y="587044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Not annualized</a:t>
            </a:r>
            <a:endParaRPr lang="en-US" sz="850" dirty="0"/>
          </a:p>
        </p:txBody>
      </p:sp>
      <p:sp>
        <p:nvSpPr>
          <p:cNvPr id="24" name="Shape 22"/>
          <p:cNvSpPr/>
          <p:nvPr/>
        </p:nvSpPr>
        <p:spPr>
          <a:xfrm>
            <a:off x="2894076" y="4846320"/>
            <a:ext cx="2180844" cy="1298448"/>
          </a:xfrm>
          <a:prstGeom prst="roundRect">
            <a:avLst>
              <a:gd name="adj" fmla="val 6338"/>
            </a:avLst>
          </a:prstGeom>
          <a:solidFill>
            <a:srgbClr val="EEF0F1"/>
          </a:solidFill>
          <a:ln/>
          <a:effectLst>
            <a:outerShdw sx="100000" sy="100000" kx="0" ky="0" algn="bl" rotWithShape="0" blurRad="101600" dist="25400" dir="5400000">
              <a:srgbClr val="1A1C1F">
                <a:alpha val="10000"/>
              </a:srgbClr>
            </a:outerShdw>
          </a:effectLst>
        </p:spPr>
      </p:sp>
      <p:sp>
        <p:nvSpPr>
          <p:cNvPr id="25" name="Text 23"/>
          <p:cNvSpPr/>
          <p:nvPr/>
        </p:nvSpPr>
        <p:spPr>
          <a:xfrm>
            <a:off x="3058668" y="4974336"/>
            <a:ext cx="1851660" cy="675193"/>
          </a:xfrm>
          <a:prstGeom prst="rect">
            <a:avLst/>
          </a:prstGeom>
          <a:noFill/>
          <a:ln/>
        </p:spPr>
        <p:txBody>
          <a:bodyPr wrap="square" lIns="0" tIns="0" rIns="0" bIns="0" rtlCol="0" anchor="b"/>
          <a:lstStyle/>
          <a:p>
            <a:pPr indent="0" marL="0">
              <a:buNone/>
            </a:pPr>
            <a:r>
              <a:rPr lang="en-US" sz="2100" b="1" dirty="0">
                <a:solidFill>
                  <a:srgbClr val="D9782D"/>
                </a:solidFill>
                <a:latin typeface="Cambria" pitchFamily="34" charset="0"/>
                <a:ea typeface="Cambria" pitchFamily="34" charset="-122"/>
                <a:cs typeface="Cambria" pitchFamily="34" charset="-120"/>
              </a:rPr>
              <a:t>2.9 Yrs</a:t>
            </a:r>
            <a:endParaRPr lang="en-US" sz="2100" dirty="0"/>
          </a:p>
        </p:txBody>
      </p:sp>
      <p:sp>
        <p:nvSpPr>
          <p:cNvPr id="26" name="Text 24"/>
          <p:cNvSpPr/>
          <p:nvPr/>
        </p:nvSpPr>
        <p:spPr>
          <a:xfrm>
            <a:off x="3058668" y="5625389"/>
            <a:ext cx="1851660"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PAYBACK PERIOD</a:t>
            </a:r>
            <a:endParaRPr lang="en-US" sz="950" dirty="0"/>
          </a:p>
        </p:txBody>
      </p:sp>
      <p:sp>
        <p:nvSpPr>
          <p:cNvPr id="27" name="Text 25"/>
          <p:cNvSpPr/>
          <p:nvPr/>
        </p:nvSpPr>
        <p:spPr>
          <a:xfrm>
            <a:off x="3058668" y="5870448"/>
            <a:ext cx="1851660" cy="237744"/>
          </a:xfrm>
          <a:prstGeom prst="rect">
            <a:avLst/>
          </a:prstGeom>
          <a:noFill/>
          <a:ln/>
        </p:spPr>
        <p:txBody>
          <a:bodyPr wrap="square" lIns="0" tIns="0" rIns="0" bIns="0" rtlCol="0" anchor="t"/>
          <a:lstStyle/>
          <a:p>
            <a:pPr indent="0" marL="0">
              <a:buNone/>
            </a:pPr>
            <a:r>
              <a:rPr lang="en-US" sz="850" dirty="0">
                <a:solidFill>
                  <a:srgbClr val="70757C"/>
                </a:solidFill>
                <a:latin typeface="Calibri" pitchFamily="34" charset="0"/>
                <a:ea typeface="Calibri" pitchFamily="34" charset="-122"/>
                <a:cs typeface="Calibri" pitchFamily="34" charset="-120"/>
              </a:rPr>
              <a:t>on ₹51 Cr CapEx</a:t>
            </a:r>
            <a:endParaRPr lang="en-US" sz="850" dirty="0"/>
          </a:p>
        </p:txBody>
      </p:sp>
      <p:sp>
        <p:nvSpPr>
          <p:cNvPr id="28" name="Text 26"/>
          <p:cNvSpPr/>
          <p:nvPr/>
        </p:nvSpPr>
        <p:spPr>
          <a:xfrm>
            <a:off x="5440680" y="1920240"/>
            <a:ext cx="6202375" cy="256032"/>
          </a:xfrm>
          <a:prstGeom prst="rect">
            <a:avLst/>
          </a:prstGeom>
          <a:noFill/>
          <a:ln/>
        </p:spPr>
        <p:txBody>
          <a:bodyPr wrap="square" lIns="0" tIns="0" rIns="0" bIns="0" rtlCol="0" anchor="ctr"/>
          <a:lstStyle/>
          <a:p>
            <a:pPr indent="0" marL="0">
              <a:buNone/>
            </a:pPr>
            <a:r>
              <a:rPr lang="en-US" sz="1050" b="1" spc="30" kern="0" dirty="0">
                <a:solidFill>
                  <a:srgbClr val="23262A"/>
                </a:solidFill>
                <a:latin typeface="Calibri" pitchFamily="34" charset="0"/>
                <a:ea typeface="Calibri" pitchFamily="34" charset="-122"/>
                <a:cs typeface="Calibri" pitchFamily="34" charset="-120"/>
              </a:rPr>
              <a:t>REVENUE &amp; EBITDA TRAJECTORY — BASE CASE (₹ CR)</a:t>
            </a:r>
            <a:endParaRPr lang="en-US" sz="1050" dirty="0"/>
          </a:p>
        </p:txBody>
      </p:sp>
      <p:graphicFrame>
        <p:nvGraphicFramePr>
          <p:cNvPr id="29" name="Chart 0" descr=""/>
          <p:cNvGraphicFramePr/>
          <p:nvPr/>
        </p:nvGraphicFramePr>
        <p:xfrm>
          <a:off x="5440680" y="2240280"/>
          <a:ext cx="6202375" cy="3977640"/>
        </p:xfrm>
        <a:graphic>
          <a:graphicData uri="http://schemas.openxmlformats.org/drawingml/2006/chart">
            <ns2:chart r:id="rId1"/>
          </a:graphicData>
        </a:graphic>
      </p:graphicFrame>
      <p:sp>
        <p:nvSpPr>
          <p:cNvPr id="30" name="Text 27"/>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31" name="Text 28"/>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12  </a:t>
            </a:r>
            <a:pPr indent="0" marL="0">
              <a:buNone/>
            </a:pPr>
            <a:r>
              <a:rPr lang="en-US" sz="1250" b="1" spc="200" kern="0" dirty="0">
                <a:solidFill>
                  <a:srgbClr val="D9782D"/>
                </a:solidFill>
                <a:latin typeface="Calibri" pitchFamily="34" charset="0"/>
                <a:ea typeface="Calibri" pitchFamily="34" charset="-122"/>
                <a:cs typeface="Calibri" pitchFamily="34" charset="-120"/>
              </a:rPr>
              <a:t>RISK ANALYSIS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19 risks mapped and mitigated — 3 critical, 6 high, 10 medium, zero unaddressed</a:t>
            </a:r>
            <a:endParaRPr lang="en-US" sz="2100" dirty="0"/>
          </a:p>
        </p:txBody>
      </p:sp>
      <p:sp>
        <p:nvSpPr>
          <p:cNvPr id="4" name="Text 2"/>
          <p:cNvSpPr/>
          <p:nvPr/>
        </p:nvSpPr>
        <p:spPr>
          <a:xfrm>
            <a:off x="548640" y="2148840"/>
            <a:ext cx="5120640" cy="256032"/>
          </a:xfrm>
          <a:prstGeom prst="rect">
            <a:avLst/>
          </a:prstGeom>
          <a:noFill/>
          <a:ln/>
        </p:spPr>
        <p:txBody>
          <a:bodyPr wrap="square" lIns="0" tIns="0" rIns="0" bIns="0" rtlCol="0" anchor="ctr"/>
          <a:lstStyle/>
          <a:p>
            <a:pPr indent="0" marL="0">
              <a:buNone/>
            </a:pPr>
            <a:r>
              <a:rPr lang="en-US" sz="1000" b="1" spc="30" kern="0" dirty="0">
                <a:solidFill>
                  <a:srgbClr val="23262A"/>
                </a:solidFill>
                <a:latin typeface="Calibri" pitchFamily="34" charset="0"/>
                <a:ea typeface="Calibri" pitchFamily="34" charset="-122"/>
                <a:cs typeface="Calibri" pitchFamily="34" charset="-120"/>
              </a:rPr>
              <a:t>RISK HEAT MAP — PROBABILITY × IMPACT (COUNT OF RISKS)</a:t>
            </a:r>
            <a:endParaRPr lang="en-US" sz="1000" dirty="0"/>
          </a:p>
        </p:txBody>
      </p:sp>
      <p:sp>
        <p:nvSpPr>
          <p:cNvPr id="5" name="Text 3"/>
          <p:cNvSpPr/>
          <p:nvPr/>
        </p:nvSpPr>
        <p:spPr>
          <a:xfrm>
            <a:off x="1051560" y="2240280"/>
            <a:ext cx="694944" cy="23774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I1</a:t>
            </a:r>
            <a:endParaRPr lang="en-US" sz="950" dirty="0"/>
          </a:p>
        </p:txBody>
      </p:sp>
      <p:sp>
        <p:nvSpPr>
          <p:cNvPr id="6" name="Text 4"/>
          <p:cNvSpPr/>
          <p:nvPr/>
        </p:nvSpPr>
        <p:spPr>
          <a:xfrm>
            <a:off x="1746504" y="2240280"/>
            <a:ext cx="694944" cy="23774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I2</a:t>
            </a:r>
            <a:endParaRPr lang="en-US" sz="950" dirty="0"/>
          </a:p>
        </p:txBody>
      </p:sp>
      <p:sp>
        <p:nvSpPr>
          <p:cNvPr id="7" name="Text 5"/>
          <p:cNvSpPr/>
          <p:nvPr/>
        </p:nvSpPr>
        <p:spPr>
          <a:xfrm>
            <a:off x="2441448" y="2240280"/>
            <a:ext cx="694944" cy="23774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I3</a:t>
            </a:r>
            <a:endParaRPr lang="en-US" sz="950" dirty="0"/>
          </a:p>
        </p:txBody>
      </p:sp>
      <p:sp>
        <p:nvSpPr>
          <p:cNvPr id="8" name="Text 6"/>
          <p:cNvSpPr/>
          <p:nvPr/>
        </p:nvSpPr>
        <p:spPr>
          <a:xfrm>
            <a:off x="3136392" y="2240280"/>
            <a:ext cx="694944" cy="23774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I4</a:t>
            </a:r>
            <a:endParaRPr lang="en-US" sz="950" dirty="0"/>
          </a:p>
        </p:txBody>
      </p:sp>
      <p:sp>
        <p:nvSpPr>
          <p:cNvPr id="9" name="Text 7"/>
          <p:cNvSpPr/>
          <p:nvPr/>
        </p:nvSpPr>
        <p:spPr>
          <a:xfrm>
            <a:off x="3831336" y="2240280"/>
            <a:ext cx="694944" cy="23774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I5</a:t>
            </a:r>
            <a:endParaRPr lang="en-US" sz="950" dirty="0"/>
          </a:p>
        </p:txBody>
      </p:sp>
      <p:sp>
        <p:nvSpPr>
          <p:cNvPr id="10" name="Text 8"/>
          <p:cNvSpPr/>
          <p:nvPr/>
        </p:nvSpPr>
        <p:spPr>
          <a:xfrm>
            <a:off x="667512" y="2514600"/>
            <a:ext cx="347472" cy="51206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P5</a:t>
            </a:r>
            <a:endParaRPr lang="en-US" sz="950" dirty="0"/>
          </a:p>
        </p:txBody>
      </p:sp>
      <p:sp>
        <p:nvSpPr>
          <p:cNvPr id="11" name="Shape 9"/>
          <p:cNvSpPr/>
          <p:nvPr/>
        </p:nvSpPr>
        <p:spPr>
          <a:xfrm>
            <a:off x="1051560" y="2514600"/>
            <a:ext cx="658368" cy="475488"/>
          </a:xfrm>
          <a:prstGeom prst="rect">
            <a:avLst/>
          </a:prstGeom>
          <a:solidFill>
            <a:srgbClr val="DEE3E6"/>
          </a:solidFill>
          <a:ln w="19050">
            <a:solidFill>
              <a:srgbClr val="FFFFFF"/>
            </a:solidFill>
            <a:prstDash val="solid"/>
          </a:ln>
        </p:spPr>
      </p:sp>
      <p:sp>
        <p:nvSpPr>
          <p:cNvPr id="12" name="Shape 10"/>
          <p:cNvSpPr/>
          <p:nvPr/>
        </p:nvSpPr>
        <p:spPr>
          <a:xfrm>
            <a:off x="1746504" y="2514600"/>
            <a:ext cx="658368" cy="475488"/>
          </a:xfrm>
          <a:prstGeom prst="rect">
            <a:avLst/>
          </a:prstGeom>
          <a:solidFill>
            <a:srgbClr val="E8B975"/>
          </a:solidFill>
          <a:ln w="19050">
            <a:solidFill>
              <a:srgbClr val="FFFFFF"/>
            </a:solidFill>
            <a:prstDash val="solid"/>
          </a:ln>
        </p:spPr>
      </p:sp>
      <p:sp>
        <p:nvSpPr>
          <p:cNvPr id="13" name="Shape 11"/>
          <p:cNvSpPr/>
          <p:nvPr/>
        </p:nvSpPr>
        <p:spPr>
          <a:xfrm>
            <a:off x="2441448" y="2514600"/>
            <a:ext cx="658368" cy="475488"/>
          </a:xfrm>
          <a:prstGeom prst="rect">
            <a:avLst/>
          </a:prstGeom>
          <a:solidFill>
            <a:srgbClr val="D9782D"/>
          </a:solidFill>
          <a:ln w="19050">
            <a:solidFill>
              <a:srgbClr val="FFFFFF"/>
            </a:solidFill>
            <a:prstDash val="solid"/>
          </a:ln>
        </p:spPr>
      </p:sp>
      <p:sp>
        <p:nvSpPr>
          <p:cNvPr id="14" name="Shape 12"/>
          <p:cNvSpPr/>
          <p:nvPr/>
        </p:nvSpPr>
        <p:spPr>
          <a:xfrm>
            <a:off x="3136392" y="2514600"/>
            <a:ext cx="658368" cy="475488"/>
          </a:xfrm>
          <a:prstGeom prst="rect">
            <a:avLst/>
          </a:prstGeom>
          <a:solidFill>
            <a:srgbClr val="B23A34"/>
          </a:solidFill>
          <a:ln w="19050">
            <a:solidFill>
              <a:srgbClr val="FFFFFF"/>
            </a:solidFill>
            <a:prstDash val="solid"/>
          </a:ln>
        </p:spPr>
      </p:sp>
      <p:sp>
        <p:nvSpPr>
          <p:cNvPr id="15" name="Text 13"/>
          <p:cNvSpPr/>
          <p:nvPr/>
        </p:nvSpPr>
        <p:spPr>
          <a:xfrm>
            <a:off x="3136392" y="2514600"/>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Shape 14"/>
          <p:cNvSpPr/>
          <p:nvPr/>
        </p:nvSpPr>
        <p:spPr>
          <a:xfrm>
            <a:off x="3831336" y="2514600"/>
            <a:ext cx="658368" cy="475488"/>
          </a:xfrm>
          <a:prstGeom prst="rect">
            <a:avLst/>
          </a:prstGeom>
          <a:solidFill>
            <a:srgbClr val="B23A34"/>
          </a:solidFill>
          <a:ln w="19050">
            <a:solidFill>
              <a:srgbClr val="FFFFFF"/>
            </a:solidFill>
            <a:prstDash val="solid"/>
          </a:ln>
        </p:spPr>
      </p:sp>
      <p:sp>
        <p:nvSpPr>
          <p:cNvPr id="17" name="Text 15"/>
          <p:cNvSpPr/>
          <p:nvPr/>
        </p:nvSpPr>
        <p:spPr>
          <a:xfrm>
            <a:off x="667512" y="3026664"/>
            <a:ext cx="347472" cy="51206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P4</a:t>
            </a:r>
            <a:endParaRPr lang="en-US" sz="950" dirty="0"/>
          </a:p>
        </p:txBody>
      </p:sp>
      <p:sp>
        <p:nvSpPr>
          <p:cNvPr id="18" name="Shape 16"/>
          <p:cNvSpPr/>
          <p:nvPr/>
        </p:nvSpPr>
        <p:spPr>
          <a:xfrm>
            <a:off x="1051560" y="3026664"/>
            <a:ext cx="658368" cy="475488"/>
          </a:xfrm>
          <a:prstGeom prst="rect">
            <a:avLst/>
          </a:prstGeom>
          <a:solidFill>
            <a:srgbClr val="DEE3E6"/>
          </a:solidFill>
          <a:ln w="19050">
            <a:solidFill>
              <a:srgbClr val="FFFFFF"/>
            </a:solidFill>
            <a:prstDash val="solid"/>
          </a:ln>
        </p:spPr>
      </p:sp>
      <p:sp>
        <p:nvSpPr>
          <p:cNvPr id="19" name="Shape 17"/>
          <p:cNvSpPr/>
          <p:nvPr/>
        </p:nvSpPr>
        <p:spPr>
          <a:xfrm>
            <a:off x="1746504" y="3026664"/>
            <a:ext cx="658368" cy="475488"/>
          </a:xfrm>
          <a:prstGeom prst="rect">
            <a:avLst/>
          </a:prstGeom>
          <a:solidFill>
            <a:srgbClr val="DEE3E6"/>
          </a:solidFill>
          <a:ln w="19050">
            <a:solidFill>
              <a:srgbClr val="FFFFFF"/>
            </a:solidFill>
            <a:prstDash val="solid"/>
          </a:ln>
        </p:spPr>
      </p:sp>
      <p:sp>
        <p:nvSpPr>
          <p:cNvPr id="20" name="Shape 18"/>
          <p:cNvSpPr/>
          <p:nvPr/>
        </p:nvSpPr>
        <p:spPr>
          <a:xfrm>
            <a:off x="2441448" y="3026664"/>
            <a:ext cx="658368" cy="475488"/>
          </a:xfrm>
          <a:prstGeom prst="rect">
            <a:avLst/>
          </a:prstGeom>
          <a:solidFill>
            <a:srgbClr val="E8B975"/>
          </a:solidFill>
          <a:ln w="19050">
            <a:solidFill>
              <a:srgbClr val="FFFFFF"/>
            </a:solidFill>
            <a:prstDash val="solid"/>
          </a:ln>
        </p:spPr>
      </p:sp>
      <p:sp>
        <p:nvSpPr>
          <p:cNvPr id="21" name="Text 19"/>
          <p:cNvSpPr/>
          <p:nvPr/>
        </p:nvSpPr>
        <p:spPr>
          <a:xfrm>
            <a:off x="2441448" y="3026664"/>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Shape 20"/>
          <p:cNvSpPr/>
          <p:nvPr/>
        </p:nvSpPr>
        <p:spPr>
          <a:xfrm>
            <a:off x="3136392" y="3026664"/>
            <a:ext cx="658368" cy="475488"/>
          </a:xfrm>
          <a:prstGeom prst="rect">
            <a:avLst/>
          </a:prstGeom>
          <a:solidFill>
            <a:srgbClr val="D9782D"/>
          </a:solidFill>
          <a:ln w="19050">
            <a:solidFill>
              <a:srgbClr val="FFFFFF"/>
            </a:solidFill>
            <a:prstDash val="solid"/>
          </a:ln>
        </p:spPr>
      </p:sp>
      <p:sp>
        <p:nvSpPr>
          <p:cNvPr id="23" name="Text 21"/>
          <p:cNvSpPr/>
          <p:nvPr/>
        </p:nvSpPr>
        <p:spPr>
          <a:xfrm>
            <a:off x="3136392" y="3026664"/>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Shape 22"/>
          <p:cNvSpPr/>
          <p:nvPr/>
        </p:nvSpPr>
        <p:spPr>
          <a:xfrm>
            <a:off x="3831336" y="3026664"/>
            <a:ext cx="658368" cy="475488"/>
          </a:xfrm>
          <a:prstGeom prst="rect">
            <a:avLst/>
          </a:prstGeom>
          <a:solidFill>
            <a:srgbClr val="B23A34"/>
          </a:solidFill>
          <a:ln w="19050">
            <a:solidFill>
              <a:srgbClr val="FFFFFF"/>
            </a:solidFill>
            <a:prstDash val="solid"/>
          </a:ln>
        </p:spPr>
      </p:sp>
      <p:sp>
        <p:nvSpPr>
          <p:cNvPr id="25" name="Text 23"/>
          <p:cNvSpPr/>
          <p:nvPr/>
        </p:nvSpPr>
        <p:spPr>
          <a:xfrm>
            <a:off x="3831336" y="3026664"/>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4"/>
          <p:cNvSpPr/>
          <p:nvPr/>
        </p:nvSpPr>
        <p:spPr>
          <a:xfrm>
            <a:off x="667512" y="3538728"/>
            <a:ext cx="347472" cy="51206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P3</a:t>
            </a:r>
            <a:endParaRPr lang="en-US" sz="950" dirty="0"/>
          </a:p>
        </p:txBody>
      </p:sp>
      <p:sp>
        <p:nvSpPr>
          <p:cNvPr id="27" name="Shape 25"/>
          <p:cNvSpPr/>
          <p:nvPr/>
        </p:nvSpPr>
        <p:spPr>
          <a:xfrm>
            <a:off x="1051560" y="3538728"/>
            <a:ext cx="658368" cy="475488"/>
          </a:xfrm>
          <a:prstGeom prst="rect">
            <a:avLst/>
          </a:prstGeom>
          <a:solidFill>
            <a:srgbClr val="DEE3E6"/>
          </a:solidFill>
          <a:ln w="19050">
            <a:solidFill>
              <a:srgbClr val="FFFFFF"/>
            </a:solidFill>
            <a:prstDash val="solid"/>
          </a:ln>
        </p:spPr>
      </p:sp>
      <p:sp>
        <p:nvSpPr>
          <p:cNvPr id="28" name="Shape 26"/>
          <p:cNvSpPr/>
          <p:nvPr/>
        </p:nvSpPr>
        <p:spPr>
          <a:xfrm>
            <a:off x="1746504" y="3538728"/>
            <a:ext cx="658368" cy="475488"/>
          </a:xfrm>
          <a:prstGeom prst="rect">
            <a:avLst/>
          </a:prstGeom>
          <a:solidFill>
            <a:srgbClr val="DEE3E6"/>
          </a:solidFill>
          <a:ln w="19050">
            <a:solidFill>
              <a:srgbClr val="FFFFFF"/>
            </a:solidFill>
            <a:prstDash val="solid"/>
          </a:ln>
        </p:spPr>
      </p:sp>
      <p:sp>
        <p:nvSpPr>
          <p:cNvPr id="29" name="Shape 27"/>
          <p:cNvSpPr/>
          <p:nvPr/>
        </p:nvSpPr>
        <p:spPr>
          <a:xfrm>
            <a:off x="2441448" y="3538728"/>
            <a:ext cx="658368" cy="475488"/>
          </a:xfrm>
          <a:prstGeom prst="rect">
            <a:avLst/>
          </a:prstGeom>
          <a:solidFill>
            <a:srgbClr val="E8B975"/>
          </a:solidFill>
          <a:ln w="19050">
            <a:solidFill>
              <a:srgbClr val="FFFFFF"/>
            </a:solidFill>
            <a:prstDash val="solid"/>
          </a:ln>
        </p:spPr>
      </p:sp>
      <p:sp>
        <p:nvSpPr>
          <p:cNvPr id="30" name="Text 28"/>
          <p:cNvSpPr/>
          <p:nvPr/>
        </p:nvSpPr>
        <p:spPr>
          <a:xfrm>
            <a:off x="2441448" y="3538728"/>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Shape 29"/>
          <p:cNvSpPr/>
          <p:nvPr/>
        </p:nvSpPr>
        <p:spPr>
          <a:xfrm>
            <a:off x="3136392" y="3538728"/>
            <a:ext cx="658368" cy="475488"/>
          </a:xfrm>
          <a:prstGeom prst="rect">
            <a:avLst/>
          </a:prstGeom>
          <a:solidFill>
            <a:srgbClr val="E8B975"/>
          </a:solidFill>
          <a:ln w="19050">
            <a:solidFill>
              <a:srgbClr val="FFFFFF"/>
            </a:solidFill>
            <a:prstDash val="solid"/>
          </a:ln>
        </p:spPr>
      </p:sp>
      <p:sp>
        <p:nvSpPr>
          <p:cNvPr id="32" name="Text 30"/>
          <p:cNvSpPr/>
          <p:nvPr/>
        </p:nvSpPr>
        <p:spPr>
          <a:xfrm>
            <a:off x="3136392" y="3538728"/>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Shape 31"/>
          <p:cNvSpPr/>
          <p:nvPr/>
        </p:nvSpPr>
        <p:spPr>
          <a:xfrm>
            <a:off x="3831336" y="3538728"/>
            <a:ext cx="658368" cy="475488"/>
          </a:xfrm>
          <a:prstGeom prst="rect">
            <a:avLst/>
          </a:prstGeom>
          <a:solidFill>
            <a:srgbClr val="D9782D"/>
          </a:solidFill>
          <a:ln w="19050">
            <a:solidFill>
              <a:srgbClr val="FFFFFF"/>
            </a:solidFill>
            <a:prstDash val="solid"/>
          </a:ln>
        </p:spPr>
      </p:sp>
      <p:sp>
        <p:nvSpPr>
          <p:cNvPr id="34" name="Text 32"/>
          <p:cNvSpPr/>
          <p:nvPr/>
        </p:nvSpPr>
        <p:spPr>
          <a:xfrm>
            <a:off x="3831336" y="3538728"/>
            <a:ext cx="658368"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35" name="Text 33"/>
          <p:cNvSpPr/>
          <p:nvPr/>
        </p:nvSpPr>
        <p:spPr>
          <a:xfrm>
            <a:off x="667512" y="4050792"/>
            <a:ext cx="347472" cy="51206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P2</a:t>
            </a:r>
            <a:endParaRPr lang="en-US" sz="950" dirty="0"/>
          </a:p>
        </p:txBody>
      </p:sp>
      <p:sp>
        <p:nvSpPr>
          <p:cNvPr id="36" name="Shape 34"/>
          <p:cNvSpPr/>
          <p:nvPr/>
        </p:nvSpPr>
        <p:spPr>
          <a:xfrm>
            <a:off x="1051560" y="4050792"/>
            <a:ext cx="658368" cy="475488"/>
          </a:xfrm>
          <a:prstGeom prst="rect">
            <a:avLst/>
          </a:prstGeom>
          <a:solidFill>
            <a:srgbClr val="DEE3E6"/>
          </a:solidFill>
          <a:ln w="19050">
            <a:solidFill>
              <a:srgbClr val="FFFFFF"/>
            </a:solidFill>
            <a:prstDash val="solid"/>
          </a:ln>
        </p:spPr>
      </p:sp>
      <p:sp>
        <p:nvSpPr>
          <p:cNvPr id="37" name="Shape 35"/>
          <p:cNvSpPr/>
          <p:nvPr/>
        </p:nvSpPr>
        <p:spPr>
          <a:xfrm>
            <a:off x="1746504" y="4050792"/>
            <a:ext cx="658368" cy="475488"/>
          </a:xfrm>
          <a:prstGeom prst="rect">
            <a:avLst/>
          </a:prstGeom>
          <a:solidFill>
            <a:srgbClr val="DEE3E6"/>
          </a:solidFill>
          <a:ln w="19050">
            <a:solidFill>
              <a:srgbClr val="FFFFFF"/>
            </a:solidFill>
            <a:prstDash val="solid"/>
          </a:ln>
        </p:spPr>
      </p:sp>
      <p:sp>
        <p:nvSpPr>
          <p:cNvPr id="38" name="Shape 36"/>
          <p:cNvSpPr/>
          <p:nvPr/>
        </p:nvSpPr>
        <p:spPr>
          <a:xfrm>
            <a:off x="2441448" y="4050792"/>
            <a:ext cx="658368" cy="475488"/>
          </a:xfrm>
          <a:prstGeom prst="rect">
            <a:avLst/>
          </a:prstGeom>
          <a:solidFill>
            <a:srgbClr val="DEE3E6"/>
          </a:solidFill>
          <a:ln w="19050">
            <a:solidFill>
              <a:srgbClr val="FFFFFF"/>
            </a:solidFill>
            <a:prstDash val="solid"/>
          </a:ln>
        </p:spPr>
      </p:sp>
      <p:sp>
        <p:nvSpPr>
          <p:cNvPr id="39" name="Shape 37"/>
          <p:cNvSpPr/>
          <p:nvPr/>
        </p:nvSpPr>
        <p:spPr>
          <a:xfrm>
            <a:off x="3136392" y="4050792"/>
            <a:ext cx="658368" cy="475488"/>
          </a:xfrm>
          <a:prstGeom prst="rect">
            <a:avLst/>
          </a:prstGeom>
          <a:solidFill>
            <a:srgbClr val="DEE3E6"/>
          </a:solidFill>
          <a:ln w="19050">
            <a:solidFill>
              <a:srgbClr val="FFFFFF"/>
            </a:solidFill>
            <a:prstDash val="solid"/>
          </a:ln>
        </p:spPr>
      </p:sp>
      <p:sp>
        <p:nvSpPr>
          <p:cNvPr id="40" name="Shape 38"/>
          <p:cNvSpPr/>
          <p:nvPr/>
        </p:nvSpPr>
        <p:spPr>
          <a:xfrm>
            <a:off x="3831336" y="4050792"/>
            <a:ext cx="658368" cy="475488"/>
          </a:xfrm>
          <a:prstGeom prst="rect">
            <a:avLst/>
          </a:prstGeom>
          <a:solidFill>
            <a:srgbClr val="E8B975"/>
          </a:solidFill>
          <a:ln w="19050">
            <a:solidFill>
              <a:srgbClr val="FFFFFF"/>
            </a:solidFill>
            <a:prstDash val="solid"/>
          </a:ln>
        </p:spPr>
      </p:sp>
      <p:sp>
        <p:nvSpPr>
          <p:cNvPr id="41" name="Text 39"/>
          <p:cNvSpPr/>
          <p:nvPr/>
        </p:nvSpPr>
        <p:spPr>
          <a:xfrm>
            <a:off x="667512" y="4562856"/>
            <a:ext cx="347472" cy="512064"/>
          </a:xfrm>
          <a:prstGeom prst="rect">
            <a:avLst/>
          </a:prstGeom>
          <a:noFill/>
          <a:ln/>
        </p:spPr>
        <p:txBody>
          <a:bodyPr wrap="square" lIns="0" tIns="0" rIns="0" bIns="0" rtlCol="0" anchor="ctr"/>
          <a:lstStyle/>
          <a:p>
            <a:pPr algn="ctr" indent="0" marL="0">
              <a:buNone/>
            </a:pPr>
            <a:r>
              <a:rPr lang="en-US" sz="950" b="1" dirty="0">
                <a:solidFill>
                  <a:srgbClr val="70757C"/>
                </a:solidFill>
                <a:latin typeface="Calibri" pitchFamily="34" charset="0"/>
                <a:ea typeface="Calibri" pitchFamily="34" charset="-122"/>
                <a:cs typeface="Calibri" pitchFamily="34" charset="-120"/>
              </a:rPr>
              <a:t>P1</a:t>
            </a:r>
            <a:endParaRPr lang="en-US" sz="950" dirty="0"/>
          </a:p>
        </p:txBody>
      </p:sp>
      <p:sp>
        <p:nvSpPr>
          <p:cNvPr id="42" name="Shape 40"/>
          <p:cNvSpPr/>
          <p:nvPr/>
        </p:nvSpPr>
        <p:spPr>
          <a:xfrm>
            <a:off x="1051560" y="4562856"/>
            <a:ext cx="658368" cy="475488"/>
          </a:xfrm>
          <a:prstGeom prst="rect">
            <a:avLst/>
          </a:prstGeom>
          <a:solidFill>
            <a:srgbClr val="DEE3E6"/>
          </a:solidFill>
          <a:ln w="19050">
            <a:solidFill>
              <a:srgbClr val="FFFFFF"/>
            </a:solidFill>
            <a:prstDash val="solid"/>
          </a:ln>
        </p:spPr>
      </p:sp>
      <p:sp>
        <p:nvSpPr>
          <p:cNvPr id="43" name="Shape 41"/>
          <p:cNvSpPr/>
          <p:nvPr/>
        </p:nvSpPr>
        <p:spPr>
          <a:xfrm>
            <a:off x="1746504" y="4562856"/>
            <a:ext cx="658368" cy="475488"/>
          </a:xfrm>
          <a:prstGeom prst="rect">
            <a:avLst/>
          </a:prstGeom>
          <a:solidFill>
            <a:srgbClr val="DEE3E6"/>
          </a:solidFill>
          <a:ln w="19050">
            <a:solidFill>
              <a:srgbClr val="FFFFFF"/>
            </a:solidFill>
            <a:prstDash val="solid"/>
          </a:ln>
        </p:spPr>
      </p:sp>
      <p:sp>
        <p:nvSpPr>
          <p:cNvPr id="44" name="Shape 42"/>
          <p:cNvSpPr/>
          <p:nvPr/>
        </p:nvSpPr>
        <p:spPr>
          <a:xfrm>
            <a:off x="2441448" y="4562856"/>
            <a:ext cx="658368" cy="475488"/>
          </a:xfrm>
          <a:prstGeom prst="rect">
            <a:avLst/>
          </a:prstGeom>
          <a:solidFill>
            <a:srgbClr val="DEE3E6"/>
          </a:solidFill>
          <a:ln w="19050">
            <a:solidFill>
              <a:srgbClr val="FFFFFF"/>
            </a:solidFill>
            <a:prstDash val="solid"/>
          </a:ln>
        </p:spPr>
      </p:sp>
      <p:sp>
        <p:nvSpPr>
          <p:cNvPr id="45" name="Shape 43"/>
          <p:cNvSpPr/>
          <p:nvPr/>
        </p:nvSpPr>
        <p:spPr>
          <a:xfrm>
            <a:off x="3136392" y="4562856"/>
            <a:ext cx="658368" cy="475488"/>
          </a:xfrm>
          <a:prstGeom prst="rect">
            <a:avLst/>
          </a:prstGeom>
          <a:solidFill>
            <a:srgbClr val="DEE3E6"/>
          </a:solidFill>
          <a:ln w="19050">
            <a:solidFill>
              <a:srgbClr val="FFFFFF"/>
            </a:solidFill>
            <a:prstDash val="solid"/>
          </a:ln>
        </p:spPr>
      </p:sp>
      <p:sp>
        <p:nvSpPr>
          <p:cNvPr id="46" name="Shape 44"/>
          <p:cNvSpPr/>
          <p:nvPr/>
        </p:nvSpPr>
        <p:spPr>
          <a:xfrm>
            <a:off x="3831336" y="4562856"/>
            <a:ext cx="658368" cy="475488"/>
          </a:xfrm>
          <a:prstGeom prst="rect">
            <a:avLst/>
          </a:prstGeom>
          <a:solidFill>
            <a:srgbClr val="DEE3E6"/>
          </a:solidFill>
          <a:ln w="19050">
            <a:solidFill>
              <a:srgbClr val="FFFFFF"/>
            </a:solidFill>
            <a:prstDash val="solid"/>
          </a:ln>
        </p:spPr>
      </p:sp>
      <p:sp>
        <p:nvSpPr>
          <p:cNvPr id="47" name="Text 45"/>
          <p:cNvSpPr/>
          <p:nvPr/>
        </p:nvSpPr>
        <p:spPr>
          <a:xfrm>
            <a:off x="1051560" y="5129784"/>
            <a:ext cx="3474720" cy="219456"/>
          </a:xfrm>
          <a:prstGeom prst="rect">
            <a:avLst/>
          </a:prstGeom>
          <a:noFill/>
          <a:ln/>
        </p:spPr>
        <p:txBody>
          <a:bodyPr wrap="square" lIns="0" tIns="0" rIns="0" bIns="0" rtlCol="0" anchor="ctr"/>
          <a:lstStyle/>
          <a:p>
            <a:pPr indent="0" marL="0">
              <a:buNone/>
            </a:pPr>
            <a:r>
              <a:rPr lang="en-US" sz="850" b="1" spc="50" kern="0" dirty="0">
                <a:solidFill>
                  <a:srgbClr val="70757C"/>
                </a:solidFill>
                <a:latin typeface="Calibri" pitchFamily="34" charset="0"/>
                <a:ea typeface="Calibri" pitchFamily="34" charset="-122"/>
                <a:cs typeface="Calibri" pitchFamily="34" charset="-120"/>
              </a:rPr>
              <a:t>IMPACT  →</a:t>
            </a:r>
            <a:endParaRPr lang="en-US" sz="850" dirty="0"/>
          </a:p>
        </p:txBody>
      </p:sp>
      <p:sp>
        <p:nvSpPr>
          <p:cNvPr id="48" name="Shape 46"/>
          <p:cNvSpPr/>
          <p:nvPr/>
        </p:nvSpPr>
        <p:spPr>
          <a:xfrm>
            <a:off x="1051560" y="5440680"/>
            <a:ext cx="182880" cy="182880"/>
          </a:xfrm>
          <a:prstGeom prst="rect">
            <a:avLst/>
          </a:prstGeom>
          <a:solidFill>
            <a:srgbClr val="DEE3E6"/>
          </a:solidFill>
          <a:ln/>
        </p:spPr>
      </p:sp>
      <p:sp>
        <p:nvSpPr>
          <p:cNvPr id="49" name="Text 47"/>
          <p:cNvSpPr/>
          <p:nvPr/>
        </p:nvSpPr>
        <p:spPr>
          <a:xfrm>
            <a:off x="1271016" y="5404104"/>
            <a:ext cx="685800" cy="256032"/>
          </a:xfrm>
          <a:prstGeom prst="rect">
            <a:avLst/>
          </a:prstGeom>
          <a:noFill/>
          <a:ln/>
        </p:spPr>
        <p:txBody>
          <a:bodyPr wrap="square" lIns="0" tIns="0" rIns="0" bIns="0" rtlCol="0" anchor="ctr"/>
          <a:lstStyle/>
          <a:p>
            <a:pPr indent="0" marL="0">
              <a:buNone/>
            </a:pPr>
            <a:r>
              <a:rPr lang="en-US" sz="850" dirty="0">
                <a:solidFill>
                  <a:srgbClr val="3D4147"/>
                </a:solidFill>
                <a:latin typeface="Calibri" pitchFamily="34" charset="0"/>
                <a:ea typeface="Calibri" pitchFamily="34" charset="-122"/>
                <a:cs typeface="Calibri" pitchFamily="34" charset="-120"/>
              </a:rPr>
              <a:t>Low</a:t>
            </a:r>
            <a:endParaRPr lang="en-US" sz="850" dirty="0"/>
          </a:p>
        </p:txBody>
      </p:sp>
      <p:sp>
        <p:nvSpPr>
          <p:cNvPr id="50" name="Shape 48"/>
          <p:cNvSpPr/>
          <p:nvPr/>
        </p:nvSpPr>
        <p:spPr>
          <a:xfrm>
            <a:off x="1965960" y="5440680"/>
            <a:ext cx="182880" cy="182880"/>
          </a:xfrm>
          <a:prstGeom prst="rect">
            <a:avLst/>
          </a:prstGeom>
          <a:solidFill>
            <a:srgbClr val="E8B975"/>
          </a:solidFill>
          <a:ln/>
        </p:spPr>
      </p:sp>
      <p:sp>
        <p:nvSpPr>
          <p:cNvPr id="51" name="Text 49"/>
          <p:cNvSpPr/>
          <p:nvPr/>
        </p:nvSpPr>
        <p:spPr>
          <a:xfrm>
            <a:off x="2185416" y="5404104"/>
            <a:ext cx="685800" cy="256032"/>
          </a:xfrm>
          <a:prstGeom prst="rect">
            <a:avLst/>
          </a:prstGeom>
          <a:noFill/>
          <a:ln/>
        </p:spPr>
        <p:txBody>
          <a:bodyPr wrap="square" lIns="0" tIns="0" rIns="0" bIns="0" rtlCol="0" anchor="ctr"/>
          <a:lstStyle/>
          <a:p>
            <a:pPr indent="0" marL="0">
              <a:buNone/>
            </a:pPr>
            <a:r>
              <a:rPr lang="en-US" sz="850" dirty="0">
                <a:solidFill>
                  <a:srgbClr val="3D4147"/>
                </a:solidFill>
                <a:latin typeface="Calibri" pitchFamily="34" charset="0"/>
                <a:ea typeface="Calibri" pitchFamily="34" charset="-122"/>
                <a:cs typeface="Calibri" pitchFamily="34" charset="-120"/>
              </a:rPr>
              <a:t>Medium</a:t>
            </a:r>
            <a:endParaRPr lang="en-US" sz="850" dirty="0"/>
          </a:p>
        </p:txBody>
      </p:sp>
      <p:sp>
        <p:nvSpPr>
          <p:cNvPr id="52" name="Shape 50"/>
          <p:cNvSpPr/>
          <p:nvPr/>
        </p:nvSpPr>
        <p:spPr>
          <a:xfrm>
            <a:off x="2880360" y="5440680"/>
            <a:ext cx="182880" cy="182880"/>
          </a:xfrm>
          <a:prstGeom prst="rect">
            <a:avLst/>
          </a:prstGeom>
          <a:solidFill>
            <a:srgbClr val="D9782D"/>
          </a:solidFill>
          <a:ln/>
        </p:spPr>
      </p:sp>
      <p:sp>
        <p:nvSpPr>
          <p:cNvPr id="53" name="Text 51"/>
          <p:cNvSpPr/>
          <p:nvPr/>
        </p:nvSpPr>
        <p:spPr>
          <a:xfrm>
            <a:off x="3099816" y="5404104"/>
            <a:ext cx="685800" cy="256032"/>
          </a:xfrm>
          <a:prstGeom prst="rect">
            <a:avLst/>
          </a:prstGeom>
          <a:noFill/>
          <a:ln/>
        </p:spPr>
        <p:txBody>
          <a:bodyPr wrap="square" lIns="0" tIns="0" rIns="0" bIns="0" rtlCol="0" anchor="ctr"/>
          <a:lstStyle/>
          <a:p>
            <a:pPr indent="0" marL="0">
              <a:buNone/>
            </a:pPr>
            <a:r>
              <a:rPr lang="en-US" sz="850" dirty="0">
                <a:solidFill>
                  <a:srgbClr val="3D4147"/>
                </a:solidFill>
                <a:latin typeface="Calibri" pitchFamily="34" charset="0"/>
                <a:ea typeface="Calibri" pitchFamily="34" charset="-122"/>
                <a:cs typeface="Calibri" pitchFamily="34" charset="-120"/>
              </a:rPr>
              <a:t>High</a:t>
            </a:r>
            <a:endParaRPr lang="en-US" sz="850" dirty="0"/>
          </a:p>
        </p:txBody>
      </p:sp>
      <p:sp>
        <p:nvSpPr>
          <p:cNvPr id="54" name="Shape 52"/>
          <p:cNvSpPr/>
          <p:nvPr/>
        </p:nvSpPr>
        <p:spPr>
          <a:xfrm>
            <a:off x="3794760" y="5440680"/>
            <a:ext cx="182880" cy="182880"/>
          </a:xfrm>
          <a:prstGeom prst="rect">
            <a:avLst/>
          </a:prstGeom>
          <a:solidFill>
            <a:srgbClr val="B23A34"/>
          </a:solidFill>
          <a:ln/>
        </p:spPr>
      </p:sp>
      <p:sp>
        <p:nvSpPr>
          <p:cNvPr id="55" name="Text 53"/>
          <p:cNvSpPr/>
          <p:nvPr/>
        </p:nvSpPr>
        <p:spPr>
          <a:xfrm>
            <a:off x="4014216" y="5404104"/>
            <a:ext cx="685800" cy="256032"/>
          </a:xfrm>
          <a:prstGeom prst="rect">
            <a:avLst/>
          </a:prstGeom>
          <a:noFill/>
          <a:ln/>
        </p:spPr>
        <p:txBody>
          <a:bodyPr wrap="square" lIns="0" tIns="0" rIns="0" bIns="0" rtlCol="0" anchor="ctr"/>
          <a:lstStyle/>
          <a:p>
            <a:pPr indent="0" marL="0">
              <a:buNone/>
            </a:pPr>
            <a:r>
              <a:rPr lang="en-US" sz="850" dirty="0">
                <a:solidFill>
                  <a:srgbClr val="3D4147"/>
                </a:solidFill>
                <a:latin typeface="Calibri" pitchFamily="34" charset="0"/>
                <a:ea typeface="Calibri" pitchFamily="34" charset="-122"/>
                <a:cs typeface="Calibri" pitchFamily="34" charset="-120"/>
              </a:rPr>
              <a:t>Critical</a:t>
            </a:r>
            <a:endParaRPr lang="en-US" sz="850" dirty="0"/>
          </a:p>
        </p:txBody>
      </p:sp>
      <p:sp>
        <p:nvSpPr>
          <p:cNvPr id="56" name="Text 54"/>
          <p:cNvSpPr/>
          <p:nvPr/>
        </p:nvSpPr>
        <p:spPr>
          <a:xfrm>
            <a:off x="5806440" y="1874520"/>
            <a:ext cx="5836615" cy="237744"/>
          </a:xfrm>
          <a:prstGeom prst="rect">
            <a:avLst/>
          </a:prstGeom>
          <a:noFill/>
          <a:ln/>
        </p:spPr>
        <p:txBody>
          <a:bodyPr wrap="square" lIns="0" tIns="0" rIns="0" bIns="0" rtlCol="0" anchor="ctr"/>
          <a:lstStyle/>
          <a:p>
            <a:pPr indent="0" marL="0">
              <a:buNone/>
            </a:pPr>
            <a:r>
              <a:rPr lang="en-US" sz="1000" b="1" spc="30" kern="0" dirty="0">
                <a:solidFill>
                  <a:srgbClr val="23262A"/>
                </a:solidFill>
                <a:latin typeface="Calibri" pitchFamily="34" charset="0"/>
                <a:ea typeface="Calibri" pitchFamily="34" charset="-122"/>
                <a:cs typeface="Calibri" pitchFamily="34" charset="-120"/>
              </a:rPr>
              <a:t>TOP CRITICAL RISKS (SEVERITY 20/25)</a:t>
            </a:r>
            <a:endParaRPr lang="en-US" sz="1000" dirty="0"/>
          </a:p>
        </p:txBody>
      </p:sp>
      <p:sp>
        <p:nvSpPr>
          <p:cNvPr id="57" name="Shape 55"/>
          <p:cNvSpPr/>
          <p:nvPr/>
        </p:nvSpPr>
        <p:spPr>
          <a:xfrm>
            <a:off x="5806440" y="2157984"/>
            <a:ext cx="5836615" cy="841248"/>
          </a:xfrm>
          <a:prstGeom prst="roundRect">
            <a:avLst>
              <a:gd name="adj" fmla="val 6522"/>
            </a:avLst>
          </a:prstGeom>
          <a:solidFill>
            <a:srgbClr val="F7E4E2"/>
          </a:solidFill>
          <a:ln/>
        </p:spPr>
      </p:sp>
      <p:sp>
        <p:nvSpPr>
          <p:cNvPr id="58" name="Shape 56"/>
          <p:cNvSpPr/>
          <p:nvPr/>
        </p:nvSpPr>
        <p:spPr>
          <a:xfrm>
            <a:off x="5806440" y="2157984"/>
            <a:ext cx="64008" cy="841248"/>
          </a:xfrm>
          <a:prstGeom prst="rect">
            <a:avLst/>
          </a:prstGeom>
          <a:solidFill>
            <a:srgbClr val="B23A34"/>
          </a:solidFill>
          <a:ln/>
        </p:spPr>
      </p:sp>
      <p:sp>
        <p:nvSpPr>
          <p:cNvPr id="59" name="Text 57"/>
          <p:cNvSpPr/>
          <p:nvPr/>
        </p:nvSpPr>
        <p:spPr>
          <a:xfrm>
            <a:off x="6007608" y="2231136"/>
            <a:ext cx="5470855" cy="329184"/>
          </a:xfrm>
          <a:prstGeom prst="rect">
            <a:avLst/>
          </a:prstGeom>
          <a:noFill/>
          <a:ln/>
        </p:spPr>
        <p:txBody>
          <a:bodyPr wrap="square" lIns="0" tIns="0" rIns="0" bIns="0" rtlCol="0" anchor="t"/>
          <a:lstStyle/>
          <a:p>
            <a:pPr indent="0" marL="0">
              <a:lnSpc>
                <a:spcPct val="105000"/>
              </a:lnSpc>
              <a:buNone/>
            </a:pPr>
            <a:r>
              <a:rPr lang="en-US" sz="900" b="1" dirty="0">
                <a:solidFill>
                  <a:srgbClr val="B23A34"/>
                </a:solidFill>
                <a:latin typeface="Calibri" pitchFamily="34" charset="0"/>
                <a:ea typeface="Calibri" pitchFamily="34" charset="-122"/>
                <a:cs typeface="Calibri" pitchFamily="34" charset="-120"/>
              </a:rPr>
              <a:t>R-17 · Geographic Expansion   </a:t>
            </a:r>
            <a:pPr indent="0" marL="0">
              <a:lnSpc>
                <a:spcPct val="105000"/>
              </a:lnSpc>
              <a:buNone/>
            </a:pPr>
            <a:r>
              <a:rPr lang="en-US" sz="1050" b="1" dirty="0">
                <a:solidFill>
                  <a:srgbClr val="23262A"/>
                </a:solidFill>
                <a:latin typeface="Calibri" pitchFamily="34" charset="0"/>
                <a:ea typeface="Calibri" pitchFamily="34" charset="-122"/>
                <a:cs typeface="Calibri" pitchFamily="34" charset="-120"/>
              </a:rPr>
              <a:t>Plant location &amp; service-radius selection risk</a:t>
            </a:r>
            <a:endParaRPr lang="en-US" sz="900" dirty="0"/>
          </a:p>
        </p:txBody>
      </p:sp>
      <p:sp>
        <p:nvSpPr>
          <p:cNvPr id="60" name="Text 58"/>
          <p:cNvSpPr/>
          <p:nvPr/>
        </p:nvSpPr>
        <p:spPr>
          <a:xfrm>
            <a:off x="6007608" y="2560320"/>
            <a:ext cx="5470855" cy="402336"/>
          </a:xfrm>
          <a:prstGeom prst="rect">
            <a:avLst/>
          </a:prstGeom>
          <a:noFill/>
          <a:ln/>
        </p:spPr>
        <p:txBody>
          <a:bodyPr wrap="square" lIns="0" tIns="0" rIns="0" bIns="0" rtlCol="0" anchor="t"/>
          <a:lstStyle/>
          <a:p>
            <a:pPr indent="0" marL="0">
              <a:lnSpc>
                <a:spcPct val="108000"/>
              </a:lnSpc>
              <a:buNone/>
            </a:pPr>
            <a:r>
              <a:rPr lang="en-US" sz="930" dirty="0">
                <a:solidFill>
                  <a:srgbClr val="3D4147"/>
                </a:solidFill>
                <a:latin typeface="Calibri" pitchFamily="34" charset="0"/>
                <a:ea typeface="Calibri" pitchFamily="34" charset="-122"/>
                <a:cs typeface="Calibri" pitchFamily="34" charset="-120"/>
              </a:rPr>
              <a:t>Mitigation: Finalize site only after mapping SAM districts, competitor nodes and delivery lanes.</a:t>
            </a:r>
            <a:endParaRPr lang="en-US" sz="930" dirty="0"/>
          </a:p>
        </p:txBody>
      </p:sp>
      <p:sp>
        <p:nvSpPr>
          <p:cNvPr id="61" name="Shape 59"/>
          <p:cNvSpPr/>
          <p:nvPr/>
        </p:nvSpPr>
        <p:spPr>
          <a:xfrm>
            <a:off x="5806440" y="3127248"/>
            <a:ext cx="5836615" cy="841248"/>
          </a:xfrm>
          <a:prstGeom prst="roundRect">
            <a:avLst>
              <a:gd name="adj" fmla="val 6522"/>
            </a:avLst>
          </a:prstGeom>
          <a:solidFill>
            <a:srgbClr val="F7E4E2"/>
          </a:solidFill>
          <a:ln/>
        </p:spPr>
      </p:sp>
      <p:sp>
        <p:nvSpPr>
          <p:cNvPr id="62" name="Shape 60"/>
          <p:cNvSpPr/>
          <p:nvPr/>
        </p:nvSpPr>
        <p:spPr>
          <a:xfrm>
            <a:off x="5806440" y="3127248"/>
            <a:ext cx="64008" cy="841248"/>
          </a:xfrm>
          <a:prstGeom prst="rect">
            <a:avLst/>
          </a:prstGeom>
          <a:solidFill>
            <a:srgbClr val="B23A34"/>
          </a:solidFill>
          <a:ln/>
        </p:spPr>
      </p:sp>
      <p:sp>
        <p:nvSpPr>
          <p:cNvPr id="63" name="Text 61"/>
          <p:cNvSpPr/>
          <p:nvPr/>
        </p:nvSpPr>
        <p:spPr>
          <a:xfrm>
            <a:off x="6007608" y="3200400"/>
            <a:ext cx="5470855" cy="329184"/>
          </a:xfrm>
          <a:prstGeom prst="rect">
            <a:avLst/>
          </a:prstGeom>
          <a:noFill/>
          <a:ln/>
        </p:spPr>
        <p:txBody>
          <a:bodyPr wrap="square" lIns="0" tIns="0" rIns="0" bIns="0" rtlCol="0" anchor="t"/>
          <a:lstStyle/>
          <a:p>
            <a:pPr indent="0" marL="0">
              <a:lnSpc>
                <a:spcPct val="105000"/>
              </a:lnSpc>
              <a:buNone/>
            </a:pPr>
            <a:r>
              <a:rPr lang="en-US" sz="900" b="1" dirty="0">
                <a:solidFill>
                  <a:srgbClr val="B23A34"/>
                </a:solidFill>
                <a:latin typeface="Calibri" pitchFamily="34" charset="0"/>
                <a:ea typeface="Calibri" pitchFamily="34" charset="-122"/>
                <a:cs typeface="Calibri" pitchFamily="34" charset="-120"/>
              </a:rPr>
              <a:t>R-18 · Residential Demand   </a:t>
            </a:r>
            <a:pPr indent="0" marL="0">
              <a:lnSpc>
                <a:spcPct val="105000"/>
              </a:lnSpc>
              <a:buNone/>
            </a:pPr>
            <a:r>
              <a:rPr lang="en-US" sz="1050" b="1" dirty="0">
                <a:solidFill>
                  <a:srgbClr val="23262A"/>
                </a:solidFill>
                <a:latin typeface="Calibri" pitchFamily="34" charset="0"/>
                <a:ea typeface="Calibri" pitchFamily="34" charset="-122"/>
                <a:cs typeface="Calibri" pitchFamily="34" charset="-120"/>
              </a:rPr>
              <a:t>Surat demand-concentration risk</a:t>
            </a:r>
            <a:endParaRPr lang="en-US" sz="900" dirty="0"/>
          </a:p>
        </p:txBody>
      </p:sp>
      <p:sp>
        <p:nvSpPr>
          <p:cNvPr id="64" name="Text 62"/>
          <p:cNvSpPr/>
          <p:nvPr/>
        </p:nvSpPr>
        <p:spPr>
          <a:xfrm>
            <a:off x="6007608" y="3529584"/>
            <a:ext cx="5470855" cy="402336"/>
          </a:xfrm>
          <a:prstGeom prst="rect">
            <a:avLst/>
          </a:prstGeom>
          <a:noFill/>
          <a:ln/>
        </p:spPr>
        <p:txBody>
          <a:bodyPr wrap="square" lIns="0" tIns="0" rIns="0" bIns="0" rtlCol="0" anchor="t"/>
          <a:lstStyle/>
          <a:p>
            <a:pPr indent="0" marL="0">
              <a:lnSpc>
                <a:spcPct val="108000"/>
              </a:lnSpc>
              <a:buNone/>
            </a:pPr>
            <a:r>
              <a:rPr lang="en-US" sz="930" dirty="0">
                <a:solidFill>
                  <a:srgbClr val="3D4147"/>
                </a:solidFill>
                <a:latin typeface="Calibri" pitchFamily="34" charset="0"/>
                <a:ea typeface="Calibri" pitchFamily="34" charset="-122"/>
                <a:cs typeface="Calibri" pitchFamily="34" charset="-120"/>
              </a:rPr>
              <a:t>Mitigation: Secure anchor customers in Surat first, then diversify into Valsad and Bharuch.</a:t>
            </a:r>
            <a:endParaRPr lang="en-US" sz="930" dirty="0"/>
          </a:p>
        </p:txBody>
      </p:sp>
      <p:sp>
        <p:nvSpPr>
          <p:cNvPr id="65" name="Shape 63"/>
          <p:cNvSpPr/>
          <p:nvPr/>
        </p:nvSpPr>
        <p:spPr>
          <a:xfrm>
            <a:off x="5806440" y="4096512"/>
            <a:ext cx="5836615" cy="841248"/>
          </a:xfrm>
          <a:prstGeom prst="roundRect">
            <a:avLst>
              <a:gd name="adj" fmla="val 6522"/>
            </a:avLst>
          </a:prstGeom>
          <a:solidFill>
            <a:srgbClr val="F7E4E2"/>
          </a:solidFill>
          <a:ln/>
        </p:spPr>
      </p:sp>
      <p:sp>
        <p:nvSpPr>
          <p:cNvPr id="66" name="Shape 64"/>
          <p:cNvSpPr/>
          <p:nvPr/>
        </p:nvSpPr>
        <p:spPr>
          <a:xfrm>
            <a:off x="5806440" y="4096512"/>
            <a:ext cx="64008" cy="841248"/>
          </a:xfrm>
          <a:prstGeom prst="rect">
            <a:avLst/>
          </a:prstGeom>
          <a:solidFill>
            <a:srgbClr val="B23A34"/>
          </a:solidFill>
          <a:ln/>
        </p:spPr>
      </p:sp>
      <p:sp>
        <p:nvSpPr>
          <p:cNvPr id="67" name="Text 65"/>
          <p:cNvSpPr/>
          <p:nvPr/>
        </p:nvSpPr>
        <p:spPr>
          <a:xfrm>
            <a:off x="6007608" y="4169664"/>
            <a:ext cx="5470855" cy="329184"/>
          </a:xfrm>
          <a:prstGeom prst="rect">
            <a:avLst/>
          </a:prstGeom>
          <a:noFill/>
          <a:ln/>
        </p:spPr>
        <p:txBody>
          <a:bodyPr wrap="square" lIns="0" tIns="0" rIns="0" bIns="0" rtlCol="0" anchor="t"/>
          <a:lstStyle/>
          <a:p>
            <a:pPr indent="0" marL="0">
              <a:lnSpc>
                <a:spcPct val="105000"/>
              </a:lnSpc>
              <a:buNone/>
            </a:pPr>
            <a:r>
              <a:rPr lang="en-US" sz="900" b="1" dirty="0">
                <a:solidFill>
                  <a:srgbClr val="B23A34"/>
                </a:solidFill>
                <a:latin typeface="Calibri" pitchFamily="34" charset="0"/>
                <a:ea typeface="Calibri" pitchFamily="34" charset="-122"/>
                <a:cs typeface="Calibri" pitchFamily="34" charset="-120"/>
              </a:rPr>
              <a:t>R-19 · Financial Return   </a:t>
            </a:r>
            <a:pPr indent="0" marL="0">
              <a:lnSpc>
                <a:spcPct val="105000"/>
              </a:lnSpc>
              <a:buNone/>
            </a:pPr>
            <a:r>
              <a:rPr lang="en-US" sz="1050" b="1" dirty="0">
                <a:solidFill>
                  <a:srgbClr val="23262A"/>
                </a:solidFill>
                <a:latin typeface="Calibri" pitchFamily="34" charset="0"/>
                <a:ea typeface="Calibri" pitchFamily="34" charset="-122"/>
                <a:cs typeface="Calibri" pitchFamily="34" charset="-120"/>
              </a:rPr>
              <a:t>SOM capture ramp risk</a:t>
            </a:r>
            <a:endParaRPr lang="en-US" sz="900" dirty="0"/>
          </a:p>
        </p:txBody>
      </p:sp>
      <p:sp>
        <p:nvSpPr>
          <p:cNvPr id="68" name="Text 66"/>
          <p:cNvSpPr/>
          <p:nvPr/>
        </p:nvSpPr>
        <p:spPr>
          <a:xfrm>
            <a:off x="6007608" y="4498848"/>
            <a:ext cx="5470855" cy="402336"/>
          </a:xfrm>
          <a:prstGeom prst="rect">
            <a:avLst/>
          </a:prstGeom>
          <a:noFill/>
          <a:ln/>
        </p:spPr>
        <p:txBody>
          <a:bodyPr wrap="square" lIns="0" tIns="0" rIns="0" bIns="0" rtlCol="0" anchor="t"/>
          <a:lstStyle/>
          <a:p>
            <a:pPr indent="0" marL="0">
              <a:lnSpc>
                <a:spcPct val="108000"/>
              </a:lnSpc>
              <a:buNone/>
            </a:pPr>
            <a:r>
              <a:rPr lang="en-US" sz="930" dirty="0">
                <a:solidFill>
                  <a:srgbClr val="3D4147"/>
                </a:solidFill>
                <a:latin typeface="Calibri" pitchFamily="34" charset="0"/>
                <a:ea typeface="Calibri" pitchFamily="34" charset="-122"/>
                <a:cs typeface="Calibri" pitchFamily="34" charset="-120"/>
              </a:rPr>
              <a:t>Mitigation: Gate expansion spend to signed onboarding milestones tied to Year 1-3 SOM targets.</a:t>
            </a:r>
            <a:endParaRPr lang="en-US" sz="930" dirty="0"/>
          </a:p>
        </p:txBody>
      </p:sp>
      <p:sp>
        <p:nvSpPr>
          <p:cNvPr id="69" name="Text 67"/>
          <p:cNvSpPr/>
          <p:nvPr/>
        </p:nvSpPr>
        <p:spPr>
          <a:xfrm>
            <a:off x="5806440" y="5138928"/>
            <a:ext cx="5836615" cy="219456"/>
          </a:xfrm>
          <a:prstGeom prst="rect">
            <a:avLst/>
          </a:prstGeom>
          <a:noFill/>
          <a:ln/>
        </p:spPr>
        <p:txBody>
          <a:bodyPr wrap="square" lIns="0" tIns="0" rIns="0" bIns="0" rtlCol="0" anchor="ctr"/>
          <a:lstStyle/>
          <a:p>
            <a:pPr indent="0" marL="0">
              <a:buNone/>
            </a:pPr>
            <a:r>
              <a:rPr lang="en-US" sz="950" b="1" spc="30" kern="0" dirty="0">
                <a:solidFill>
                  <a:srgbClr val="23262A"/>
                </a:solidFill>
                <a:latin typeface="Calibri" pitchFamily="34" charset="0"/>
                <a:ea typeface="Calibri" pitchFamily="34" charset="-122"/>
                <a:cs typeface="Calibri" pitchFamily="34" charset="-120"/>
              </a:rPr>
              <a:t>6 ADDITIONAL HIGH-SEVERITY RISKS (15–16 / 25)</a:t>
            </a:r>
            <a:endParaRPr lang="en-US" sz="950" dirty="0"/>
          </a:p>
        </p:txBody>
      </p:sp>
      <p:sp>
        <p:nvSpPr>
          <p:cNvPr id="70" name="Text 68"/>
          <p:cNvSpPr/>
          <p:nvPr/>
        </p:nvSpPr>
        <p:spPr>
          <a:xfrm>
            <a:off x="5806440" y="5394960"/>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Raw-material &amp; unit-cost break-even risk</a:t>
            </a:r>
            <a:endParaRPr lang="en-US" sz="900" dirty="0"/>
          </a:p>
        </p:txBody>
      </p:sp>
      <p:sp>
        <p:nvSpPr>
          <p:cNvPr id="71" name="Text 69"/>
          <p:cNvSpPr/>
          <p:nvPr/>
        </p:nvSpPr>
        <p:spPr>
          <a:xfrm>
            <a:off x="8816188" y="5394960"/>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Competitive pricing-pressure risk</a:t>
            </a:r>
            <a:endParaRPr lang="en-US" sz="900" dirty="0"/>
          </a:p>
        </p:txBody>
      </p:sp>
      <p:sp>
        <p:nvSpPr>
          <p:cNvPr id="72" name="Text 70"/>
          <p:cNvSpPr/>
          <p:nvPr/>
        </p:nvSpPr>
        <p:spPr>
          <a:xfrm>
            <a:off x="5806440" y="5705856"/>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Customer acquisition risk</a:t>
            </a:r>
            <a:endParaRPr lang="en-US" sz="900" dirty="0"/>
          </a:p>
        </p:txBody>
      </p:sp>
      <p:sp>
        <p:nvSpPr>
          <p:cNvPr id="73" name="Text 71"/>
          <p:cNvSpPr/>
          <p:nvPr/>
        </p:nvSpPr>
        <p:spPr>
          <a:xfrm>
            <a:off x="8816188" y="5705856"/>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Project pipeline validation risk</a:t>
            </a:r>
            <a:endParaRPr lang="en-US" sz="900" dirty="0"/>
          </a:p>
        </p:txBody>
      </p:sp>
      <p:sp>
        <p:nvSpPr>
          <p:cNvPr id="74" name="Text 72"/>
          <p:cNvSpPr/>
          <p:nvPr/>
        </p:nvSpPr>
        <p:spPr>
          <a:xfrm>
            <a:off x="5806440" y="6016752"/>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Mixed-development / residential concentration risk</a:t>
            </a:r>
            <a:endParaRPr lang="en-US" sz="900" dirty="0"/>
          </a:p>
        </p:txBody>
      </p:sp>
      <p:sp>
        <p:nvSpPr>
          <p:cNvPr id="75" name="Text 73"/>
          <p:cNvSpPr/>
          <p:nvPr/>
        </p:nvSpPr>
        <p:spPr>
          <a:xfrm>
            <a:off x="8816188" y="6016752"/>
            <a:ext cx="2826868" cy="292608"/>
          </a:xfrm>
          <a:prstGeom prst="rect">
            <a:avLst/>
          </a:prstGeom>
          <a:noFill/>
          <a:ln/>
        </p:spPr>
        <p:txBody>
          <a:bodyPr wrap="square" lIns="0" tIns="0" rIns="0" bIns="0" rtlCol="0" anchor="t"/>
          <a:lstStyle/>
          <a:p>
            <a:pPr indent="0" marL="0">
              <a:buNone/>
            </a:pPr>
            <a:r>
              <a:rPr lang="en-US" sz="900" dirty="0">
                <a:solidFill>
                  <a:srgbClr val="3D4147"/>
                </a:solidFill>
                <a:latin typeface="Calibri" pitchFamily="34" charset="0"/>
                <a:ea typeface="Calibri" pitchFamily="34" charset="-122"/>
                <a:cs typeface="Calibri" pitchFamily="34" charset="-120"/>
              </a:rPr>
              <a:t>▪ Logistics &amp; delivery reliability risk</a:t>
            </a:r>
            <a:endParaRPr lang="en-US" sz="900" dirty="0"/>
          </a:p>
        </p:txBody>
      </p:sp>
      <p:sp>
        <p:nvSpPr>
          <p:cNvPr id="76" name="Text 74"/>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77" name="Text 75"/>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ns2="http://schemas.microsoft.com/office/powerpoint/2010/main"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13  </a:t>
            </a:r>
            <a:pPr indent="0" marL="0">
              <a:buNone/>
            </a:pPr>
            <a:r>
              <a:rPr lang="en-US" sz="1250" b="1" spc="200" kern="0" dirty="0">
                <a:solidFill>
                  <a:srgbClr val="D9782D"/>
                </a:solidFill>
                <a:latin typeface="Calibri" pitchFamily="34" charset="0"/>
                <a:ea typeface="Calibri" pitchFamily="34" charset="-122"/>
                <a:cs typeface="Calibri" pitchFamily="34" charset="-120"/>
              </a:rPr>
              <a:t>DASHBOARD HIGHLIGHTS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400" b="1" dirty="0">
                <a:solidFill>
                  <a:srgbClr val="23262A"/>
                </a:solidFill>
                <a:latin typeface="Cambria" pitchFamily="34" charset="0"/>
                <a:ea typeface="Cambria" pitchFamily="34" charset="-122"/>
                <a:cs typeface="Cambria" pitchFamily="34" charset="-120"/>
              </a:rPr>
              <a:t>One page, every number the investment committee needs</a:t>
            </a:r>
            <a:endParaRPr lang="en-US" sz="2400" dirty="0"/>
          </a:p>
        </p:txBody>
      </p:sp>
      <p:sp>
        <p:nvSpPr>
          <p:cNvPr id="4" name="Shape 2"/>
          <p:cNvSpPr/>
          <p:nvPr/>
        </p:nvSpPr>
        <p:spPr>
          <a:xfrm>
            <a:off x="548640" y="1810512"/>
            <a:ext cx="1737360" cy="603504"/>
          </a:xfrm>
          <a:prstGeom prst="roundRect">
            <a:avLst>
              <a:gd name="adj" fmla="val 12121"/>
            </a:avLst>
          </a:prstGeom>
          <a:solidFill>
            <a:srgbClr val="23262A"/>
          </a:solidFill>
          <a:ln/>
          <a:effectLst>
            <a:outerShdw sx="100000" sy="100000" kx="0" ky="0" algn="bl" rotWithShape="0" blurRad="101600" dist="25400" dir="5400000">
              <a:srgbClr val="1A1C1F">
                <a:alpha val="10000"/>
              </a:srgbClr>
            </a:outerShdw>
          </a:effectLst>
        </p:spPr>
      </p:sp>
      <p:sp>
        <p:nvSpPr>
          <p:cNvPr id="5" name="Text 3"/>
          <p:cNvSpPr/>
          <p:nvPr/>
        </p:nvSpPr>
        <p:spPr>
          <a:xfrm>
            <a:off x="713232" y="1883664"/>
            <a:ext cx="1417320" cy="182880"/>
          </a:xfrm>
          <a:prstGeom prst="rect">
            <a:avLst/>
          </a:prstGeom>
          <a:noFill/>
          <a:ln/>
        </p:spPr>
        <p:txBody>
          <a:bodyPr wrap="square" lIns="0" tIns="0" rIns="0" bIns="0" rtlCol="0" anchor="ctr"/>
          <a:lstStyle/>
          <a:p>
            <a:pPr indent="0" marL="0">
              <a:buNone/>
            </a:pPr>
            <a:r>
              <a:rPr lang="en-US" sz="800" b="1" spc="100" kern="0" dirty="0">
                <a:solidFill>
                  <a:srgbClr val="D9782D"/>
                </a:solidFill>
                <a:latin typeface="Calibri" pitchFamily="34" charset="0"/>
                <a:ea typeface="Calibri" pitchFamily="34" charset="-122"/>
                <a:cs typeface="Calibri" pitchFamily="34" charset="-120"/>
              </a:rPr>
              <a:t>DECISION</a:t>
            </a:r>
            <a:endParaRPr lang="en-US" sz="800" dirty="0"/>
          </a:p>
        </p:txBody>
      </p:sp>
      <p:sp>
        <p:nvSpPr>
          <p:cNvPr id="6" name="Text 4"/>
          <p:cNvSpPr/>
          <p:nvPr/>
        </p:nvSpPr>
        <p:spPr>
          <a:xfrm>
            <a:off x="685800" y="1993392"/>
            <a:ext cx="1463040" cy="402336"/>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GO</a:t>
            </a:r>
            <a:endParaRPr lang="en-US" sz="2700" dirty="0"/>
          </a:p>
        </p:txBody>
      </p:sp>
      <p:sp>
        <p:nvSpPr>
          <p:cNvPr id="7" name="Shape 5"/>
          <p:cNvSpPr/>
          <p:nvPr/>
        </p:nvSpPr>
        <p:spPr>
          <a:xfrm>
            <a:off x="2468880" y="1810512"/>
            <a:ext cx="9174175" cy="603504"/>
          </a:xfrm>
          <a:prstGeom prst="roundRect">
            <a:avLst>
              <a:gd name="adj" fmla="val 12121"/>
            </a:avLst>
          </a:prstGeom>
          <a:solidFill>
            <a:srgbClr val="EEF0F1"/>
          </a:solidFill>
          <a:ln/>
        </p:spPr>
      </p:sp>
      <p:sp>
        <p:nvSpPr>
          <p:cNvPr id="8" name="Text 6"/>
          <p:cNvSpPr/>
          <p:nvPr/>
        </p:nvSpPr>
        <p:spPr>
          <a:xfrm>
            <a:off x="2670048" y="1810512"/>
            <a:ext cx="8771839" cy="603504"/>
          </a:xfrm>
          <a:prstGeom prst="rect">
            <a:avLst/>
          </a:prstGeom>
          <a:noFill/>
          <a:ln/>
        </p:spPr>
        <p:txBody>
          <a:bodyPr wrap="square" lIns="0" tIns="0" rIns="0" bIns="0" rtlCol="0" anchor="ctr"/>
          <a:lstStyle/>
          <a:p>
            <a:pPr indent="0" marL="0">
              <a:lnSpc>
                <a:spcPct val="112000"/>
              </a:lnSpc>
              <a:buNone/>
            </a:pPr>
            <a:r>
              <a:rPr lang="en-US" sz="1080" b="1" dirty="0">
                <a:solidFill>
                  <a:srgbClr val="23262A"/>
                </a:solidFill>
                <a:latin typeface="Calibri" pitchFamily="34" charset="0"/>
                <a:ea typeface="Calibri" pitchFamily="34" charset="-122"/>
                <a:cs typeface="Calibri" pitchFamily="34" charset="-120"/>
              </a:rPr>
              <a:t>Recommendation rationale:  </a:t>
            </a:r>
            <a:pPr indent="0" marL="0">
              <a:lnSpc>
                <a:spcPct val="112000"/>
              </a:lnSpc>
              <a:buNone/>
            </a:pPr>
            <a:r>
              <a:rPr lang="en-US" sz="1080" dirty="0">
                <a:solidFill>
                  <a:srgbClr val="3D4147"/>
                </a:solidFill>
                <a:latin typeface="Calibri" pitchFamily="34" charset="0"/>
                <a:ea typeface="Calibri" pitchFamily="34" charset="-122"/>
                <a:cs typeface="Calibri" pitchFamily="34" charset="-120"/>
              </a:rPr>
              <a:t>Positive NPV of ₹30.8 Cr, IRR of 40.8%, payback of 2.9 years, a manageable risk profile, and favourable market potential support a phased entry.</a:t>
            </a:r>
            <a:endParaRPr lang="en-US" sz="1080" dirty="0"/>
          </a:p>
        </p:txBody>
      </p:sp>
      <p:sp>
        <p:nvSpPr>
          <p:cNvPr id="9" name="Shape 7"/>
          <p:cNvSpPr/>
          <p:nvPr/>
        </p:nvSpPr>
        <p:spPr>
          <a:xfrm>
            <a:off x="548640" y="257860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10" name="Text 8"/>
          <p:cNvSpPr/>
          <p:nvPr/>
        </p:nvSpPr>
        <p:spPr>
          <a:xfrm>
            <a:off x="713232" y="270662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3,087</a:t>
            </a:r>
            <a:endParaRPr lang="en-US" sz="1700" dirty="0"/>
          </a:p>
        </p:txBody>
      </p:sp>
      <p:sp>
        <p:nvSpPr>
          <p:cNvPr id="11" name="Text 9"/>
          <p:cNvSpPr/>
          <p:nvPr/>
        </p:nvSpPr>
        <p:spPr>
          <a:xfrm>
            <a:off x="713232" y="297362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PROJECTS IN TAM</a:t>
            </a:r>
            <a:endParaRPr lang="en-US" sz="950" dirty="0"/>
          </a:p>
        </p:txBody>
      </p:sp>
      <p:sp>
        <p:nvSpPr>
          <p:cNvPr id="12" name="Shape 10"/>
          <p:cNvSpPr/>
          <p:nvPr/>
        </p:nvSpPr>
        <p:spPr>
          <a:xfrm>
            <a:off x="4307738" y="257860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13" name="Text 11"/>
          <p:cNvSpPr/>
          <p:nvPr/>
        </p:nvSpPr>
        <p:spPr>
          <a:xfrm>
            <a:off x="4472330" y="270662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44.2M m³</a:t>
            </a:r>
            <a:endParaRPr lang="en-US" sz="1700" dirty="0"/>
          </a:p>
        </p:txBody>
      </p:sp>
      <p:sp>
        <p:nvSpPr>
          <p:cNvPr id="14" name="Text 12"/>
          <p:cNvSpPr/>
          <p:nvPr/>
        </p:nvSpPr>
        <p:spPr>
          <a:xfrm>
            <a:off x="4472330" y="297362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TOTAL DEMAND</a:t>
            </a:r>
            <a:endParaRPr lang="en-US" sz="950" dirty="0"/>
          </a:p>
        </p:txBody>
      </p:sp>
      <p:sp>
        <p:nvSpPr>
          <p:cNvPr id="15" name="Shape 13"/>
          <p:cNvSpPr/>
          <p:nvPr/>
        </p:nvSpPr>
        <p:spPr>
          <a:xfrm>
            <a:off x="8066837" y="257860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16" name="Text 14"/>
          <p:cNvSpPr/>
          <p:nvPr/>
        </p:nvSpPr>
        <p:spPr>
          <a:xfrm>
            <a:off x="8231429" y="270662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₹26,760 Cr</a:t>
            </a:r>
            <a:endParaRPr lang="en-US" sz="1700" dirty="0"/>
          </a:p>
        </p:txBody>
      </p:sp>
      <p:sp>
        <p:nvSpPr>
          <p:cNvPr id="17" name="Text 15"/>
          <p:cNvSpPr/>
          <p:nvPr/>
        </p:nvSpPr>
        <p:spPr>
          <a:xfrm>
            <a:off x="8231429" y="297362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TAM</a:t>
            </a:r>
            <a:endParaRPr lang="en-US" sz="950" dirty="0"/>
          </a:p>
        </p:txBody>
      </p:sp>
      <p:sp>
        <p:nvSpPr>
          <p:cNvPr id="18" name="Shape 16"/>
          <p:cNvSpPr/>
          <p:nvPr/>
        </p:nvSpPr>
        <p:spPr>
          <a:xfrm>
            <a:off x="548640" y="335584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19" name="Text 17"/>
          <p:cNvSpPr/>
          <p:nvPr/>
        </p:nvSpPr>
        <p:spPr>
          <a:xfrm>
            <a:off x="713232" y="348386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₹25,943 Cr</a:t>
            </a:r>
            <a:endParaRPr lang="en-US" sz="1700" dirty="0"/>
          </a:p>
        </p:txBody>
      </p:sp>
      <p:sp>
        <p:nvSpPr>
          <p:cNvPr id="20" name="Text 18"/>
          <p:cNvSpPr/>
          <p:nvPr/>
        </p:nvSpPr>
        <p:spPr>
          <a:xfrm>
            <a:off x="713232" y="375086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SAM</a:t>
            </a:r>
            <a:endParaRPr lang="en-US" sz="950" dirty="0"/>
          </a:p>
        </p:txBody>
      </p:sp>
      <p:sp>
        <p:nvSpPr>
          <p:cNvPr id="21" name="Shape 19"/>
          <p:cNvSpPr/>
          <p:nvPr/>
        </p:nvSpPr>
        <p:spPr>
          <a:xfrm>
            <a:off x="4307738" y="335584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22" name="Text 20"/>
          <p:cNvSpPr/>
          <p:nvPr/>
        </p:nvSpPr>
        <p:spPr>
          <a:xfrm>
            <a:off x="4472330" y="348386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₹1,297 Cr</a:t>
            </a:r>
            <a:endParaRPr lang="en-US" sz="1700" dirty="0"/>
          </a:p>
        </p:txBody>
      </p:sp>
      <p:sp>
        <p:nvSpPr>
          <p:cNvPr id="23" name="Text 21"/>
          <p:cNvSpPr/>
          <p:nvPr/>
        </p:nvSpPr>
        <p:spPr>
          <a:xfrm>
            <a:off x="4472330" y="375086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SOM (YEAR 1)</a:t>
            </a:r>
            <a:endParaRPr lang="en-US" sz="950" dirty="0"/>
          </a:p>
        </p:txBody>
      </p:sp>
      <p:sp>
        <p:nvSpPr>
          <p:cNvPr id="24" name="Shape 22"/>
          <p:cNvSpPr/>
          <p:nvPr/>
        </p:nvSpPr>
        <p:spPr>
          <a:xfrm>
            <a:off x="8066837" y="3355848"/>
            <a:ext cx="3576218" cy="658368"/>
          </a:xfrm>
          <a:prstGeom prst="roundRect">
            <a:avLst>
              <a:gd name="adj" fmla="val 12500"/>
            </a:avLst>
          </a:prstGeom>
          <a:solidFill>
            <a:srgbClr val="EEF0F1"/>
          </a:solidFill>
          <a:ln/>
          <a:effectLst>
            <a:outerShdw sx="100000" sy="100000" kx="0" ky="0" algn="bl" rotWithShape="0" blurRad="101600" dist="25400" dir="5400000">
              <a:srgbClr val="1A1C1F">
                <a:alpha val="10000"/>
              </a:srgbClr>
            </a:outerShdw>
          </a:effectLst>
        </p:spPr>
      </p:sp>
      <p:sp>
        <p:nvSpPr>
          <p:cNvPr id="25" name="Text 23"/>
          <p:cNvSpPr/>
          <p:nvPr/>
        </p:nvSpPr>
        <p:spPr>
          <a:xfrm>
            <a:off x="8231429" y="3483864"/>
            <a:ext cx="3247034" cy="342351"/>
          </a:xfrm>
          <a:prstGeom prst="rect">
            <a:avLst/>
          </a:prstGeom>
          <a:noFill/>
          <a:ln/>
        </p:spPr>
        <p:txBody>
          <a:bodyPr wrap="square" lIns="0" tIns="0" rIns="0" bIns="0" rtlCol="0" anchor="b"/>
          <a:lstStyle/>
          <a:p>
            <a:pPr indent="0" marL="0">
              <a:buNone/>
            </a:pPr>
            <a:r>
              <a:rPr lang="en-US" sz="1700" b="1" dirty="0">
                <a:solidFill>
                  <a:srgbClr val="D9782D"/>
                </a:solidFill>
                <a:latin typeface="Cambria" pitchFamily="34" charset="0"/>
                <a:ea typeface="Cambria" pitchFamily="34" charset="-122"/>
                <a:cs typeface="Cambria" pitchFamily="34" charset="-120"/>
              </a:rPr>
              <a:t>22.7%</a:t>
            </a:r>
            <a:endParaRPr lang="en-US" sz="1700" dirty="0"/>
          </a:p>
        </p:txBody>
      </p:sp>
      <p:sp>
        <p:nvSpPr>
          <p:cNvPr id="26" name="Text 24"/>
          <p:cNvSpPr/>
          <p:nvPr/>
        </p:nvSpPr>
        <p:spPr>
          <a:xfrm>
            <a:off x="8231429" y="3750869"/>
            <a:ext cx="3247034" cy="256032"/>
          </a:xfrm>
          <a:prstGeom prst="rect">
            <a:avLst/>
          </a:prstGeom>
          <a:noFill/>
          <a:ln/>
        </p:spPr>
        <p:txBody>
          <a:bodyPr wrap="square" lIns="0" tIns="0" rIns="0" bIns="0" rtlCol="0" anchor="t"/>
          <a:lstStyle/>
          <a:p>
            <a:pPr indent="0" marL="0">
              <a:buNone/>
            </a:pPr>
            <a:r>
              <a:rPr lang="en-US" sz="950" b="1" spc="50" kern="0" dirty="0">
                <a:solidFill>
                  <a:srgbClr val="23262A"/>
                </a:solidFill>
                <a:latin typeface="Calibri" pitchFamily="34" charset="0"/>
                <a:ea typeface="Calibri" pitchFamily="34" charset="-122"/>
                <a:cs typeface="Calibri" pitchFamily="34" charset="-120"/>
              </a:rPr>
              <a:t>AVG. EBITDA MARGIN</a:t>
            </a:r>
            <a:endParaRPr lang="en-US" sz="950" dirty="0"/>
          </a:p>
        </p:txBody>
      </p:sp>
      <p:sp>
        <p:nvSpPr>
          <p:cNvPr id="27" name="Text 25"/>
          <p:cNvSpPr/>
          <p:nvPr/>
        </p:nvSpPr>
        <p:spPr>
          <a:xfrm>
            <a:off x="548640" y="4215384"/>
            <a:ext cx="5486400" cy="219456"/>
          </a:xfrm>
          <a:prstGeom prst="rect">
            <a:avLst/>
          </a:prstGeom>
          <a:noFill/>
          <a:ln/>
        </p:spPr>
        <p:txBody>
          <a:bodyPr wrap="square" lIns="0" tIns="0" rIns="0" bIns="0" rtlCol="0" anchor="ctr"/>
          <a:lstStyle/>
          <a:p>
            <a:pPr indent="0" marL="0">
              <a:buNone/>
            </a:pPr>
            <a:r>
              <a:rPr lang="en-US" sz="950" b="1" spc="30" kern="0" dirty="0">
                <a:solidFill>
                  <a:srgbClr val="23262A"/>
                </a:solidFill>
                <a:latin typeface="Calibri" pitchFamily="34" charset="0"/>
                <a:ea typeface="Calibri" pitchFamily="34" charset="-122"/>
                <a:cs typeface="Calibri" pitchFamily="34" charset="-120"/>
              </a:rPr>
              <a:t>SAMPLE COVERAGE &amp; DATA QUALITY ASSESSMENT</a:t>
            </a:r>
            <a:endParaRPr lang="en-US" sz="950" dirty="0"/>
          </a:p>
        </p:txBody>
      </p:sp>
      <p:graphicFrame>
        <p:nvGraphicFramePr>
          <p:cNvPr id="14" name="Table 0"/>
          <p:cNvGraphicFramePr>
            <a:graphicFrameLocks noGrp="1"/>
          </p:cNvGraphicFramePr>
          <p:nvPr>
            <p:extLst>
              <p:ext uri="{D42A27DB-BD31-4B8C-83A1-F6EECF244321}">
                <ns2:modId val="1579011935"/>
              </p:ext>
            </p:extLst>
          </p:nvPr>
        </p:nvGraphicFramePr>
        <p:xfrm>
          <a:off x="548640" y="4462272"/>
          <a:ext cx="11094415" cy="914400"/>
        </p:xfrm>
        <a:graphic>
          <a:graphicData uri="http://schemas.openxmlformats.org/drawingml/2006/table">
            <a:tbl>
              <a:tblPr/>
              <a:tblGrid>
                <a:gridCol w="3017520"/>
                <a:gridCol w="2743200"/>
                <a:gridCol w="2743200"/>
                <a:gridCol w="2587752"/>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DISTRICT</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PROJECTS</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SAMPLE SHARE</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QUALITY</a:t>
                      </a:r>
                      <a:endParaRPr lang="en-US" sz="90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23262A"/>
                    </a:solidFill>
                  </a:tcPr>
                </a:tc>
              </a:tr>
              <a:tr h="265176">
                <a:tc>
                  <a:txBody>
                    <a:bodyPr/>
                    <a:lstStyle/>
                    <a:p>
                      <a:pPr indent="0" marL="0">
                        <a:buNone/>
                      </a:pPr>
                      <a:r>
                        <a:rPr lang="en-US" sz="950" b="1" dirty="0">
                          <a:solidFill>
                            <a:srgbClr val="23262A"/>
                          </a:solidFill>
                          <a:latin typeface="Calibri" pitchFamily="34" charset="0"/>
                          <a:ea typeface="Calibri" pitchFamily="34" charset="-122"/>
                          <a:cs typeface="Calibri" pitchFamily="34" charset="-120"/>
                        </a:rPr>
                        <a:t>Surat</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2,406</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78.5%</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2E8B57"/>
                          </a:solidFill>
                          <a:latin typeface="Calibri" pitchFamily="34" charset="0"/>
                          <a:ea typeface="Calibri" pitchFamily="34" charset="-122"/>
                          <a:cs typeface="Calibri" pitchFamily="34" charset="-120"/>
                        </a:rPr>
                        <a:t>High</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23262A"/>
                          </a:solidFill>
                          <a:latin typeface="Calibri" pitchFamily="34" charset="0"/>
                          <a:ea typeface="Calibri" pitchFamily="34" charset="-122"/>
                          <a:cs typeface="Calibri" pitchFamily="34" charset="-120"/>
                        </a:rPr>
                        <a:t>Valsad</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345</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11.3%</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ctr" indent="0" marL="0">
                        <a:buNone/>
                      </a:pPr>
                      <a:r>
                        <a:rPr lang="en-US" sz="950" b="1" dirty="0">
                          <a:solidFill>
                            <a:srgbClr val="B85F1E"/>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265176">
                <a:tc>
                  <a:txBody>
                    <a:bodyPr/>
                    <a:lstStyle/>
                    <a:p>
                      <a:pPr indent="0" marL="0">
                        <a:buNone/>
                      </a:pPr>
                      <a:r>
                        <a:rPr lang="en-US" sz="950" b="1" dirty="0">
                          <a:solidFill>
                            <a:srgbClr val="23262A"/>
                          </a:solidFill>
                          <a:latin typeface="Calibri" pitchFamily="34" charset="0"/>
                          <a:ea typeface="Calibri" pitchFamily="34" charset="-122"/>
                          <a:cs typeface="Calibri" pitchFamily="34" charset="-120"/>
                        </a:rPr>
                        <a:t>Bharuch</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195</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6.4%</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5F1E"/>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r h="265176">
                <a:tc>
                  <a:txBody>
                    <a:bodyPr/>
                    <a:lstStyle/>
                    <a:p>
                      <a:pPr indent="0" marL="0">
                        <a:buNone/>
                      </a:pPr>
                      <a:r>
                        <a:rPr lang="en-US" sz="950" b="1" dirty="0">
                          <a:solidFill>
                            <a:srgbClr val="23262A"/>
                          </a:solidFill>
                          <a:latin typeface="Calibri" pitchFamily="34" charset="0"/>
                          <a:ea typeface="Calibri" pitchFamily="34" charset="-122"/>
                          <a:cs typeface="Calibri" pitchFamily="34" charset="-120"/>
                        </a:rPr>
                        <a:t>Navsari</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115</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c>
                  <a:txBody>
                    <a:bodyPr/>
                    <a:lstStyle/>
                    <a:p>
                      <a:pPr algn="ctr" indent="0" marL="0">
                        <a:buNone/>
                      </a:pPr>
                      <a:r>
                        <a:rPr lang="en-US" sz="950" b="1" dirty="0">
                          <a:solidFill>
                            <a:srgbClr val="B85F1E"/>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5F6F5"/>
                    </a:solidFill>
                  </a:tcPr>
                </a:tc>
              </a:tr>
              <a:tr h="265176">
                <a:tc>
                  <a:txBody>
                    <a:bodyPr/>
                    <a:lstStyle/>
                    <a:p>
                      <a:pPr indent="0" marL="0">
                        <a:buNone/>
                      </a:pPr>
                      <a:r>
                        <a:rPr lang="en-US" sz="950" b="1" dirty="0">
                          <a:solidFill>
                            <a:srgbClr val="23262A"/>
                          </a:solidFill>
                          <a:latin typeface="Calibri" pitchFamily="34" charset="0"/>
                          <a:ea typeface="Calibri" pitchFamily="34" charset="-122"/>
                          <a:cs typeface="Calibri" pitchFamily="34" charset="-120"/>
                        </a:rPr>
                        <a:t>Tapi</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r" indent="0" marL="0">
                        <a:buNone/>
                      </a:pPr>
                      <a:r>
                        <a:rPr lang="en-US" sz="950" dirty="0">
                          <a:solidFill>
                            <a:srgbClr val="3D4147"/>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23A34"/>
                          </a:solidFill>
                          <a:latin typeface="Calibri" pitchFamily="34" charset="0"/>
                          <a:ea typeface="Calibri" pitchFamily="34" charset="-122"/>
                          <a:cs typeface="Calibri" pitchFamily="34" charset="-120"/>
                        </a:rPr>
                        <a:t>Low</a:t>
                      </a:r>
                      <a:endParaRPr lang="en-US" sz="950" dirty="0">
                        <a:latin typeface="Calibri" charset="0"/>
                        <a:ea typeface="Calibri" charset="0"/>
                        <a:cs typeface="Calibri" charset="0"/>
                      </a:endParaRPr>
                    </a:p>
                  </a:txBody>
                  <a:tcPr marL="91440" marR="91440" marT="45720" marB="45720" anchor="ctr">
                    <a:lnL w="6350" cap="flat" cmpd="sng" algn="ctr">
                      <a:solidFill>
                        <a:srgbClr val="DEE1E3"/>
                      </a:solidFill>
                      <a:prstDash val="solid"/>
                      <a:round/>
                      <a:headEnd type="none" w="med" len="med"/>
                      <a:tailEnd type="none" w="med" len="med"/>
                    </a:lnL>
                    <a:lnR w="6350" cap="flat" cmpd="sng" algn="ctr">
                      <a:solidFill>
                        <a:srgbClr val="DEE1E3"/>
                      </a:solidFill>
                      <a:prstDash val="solid"/>
                      <a:round/>
                      <a:headEnd type="none" w="med" len="med"/>
                      <a:tailEnd type="none" w="med" len="med"/>
                    </a:lnR>
                    <a:lnT w="6350" cap="flat" cmpd="sng" algn="ctr">
                      <a:solidFill>
                        <a:srgbClr val="DEE1E3"/>
                      </a:solidFill>
                      <a:prstDash val="solid"/>
                      <a:round/>
                      <a:headEnd type="none" w="med" len="med"/>
                      <a:tailEnd type="none" w="med" len="med"/>
                    </a:lnT>
                    <a:lnB w="6350" cap="flat" cmpd="sng" algn="ctr">
                      <a:solidFill>
                        <a:srgbClr val="DEE1E3"/>
                      </a:solidFill>
                      <a:prstDash val="solid"/>
                      <a:round/>
                      <a:headEnd type="none" w="med" len="med"/>
                      <a:tailEnd type="none" w="med" len="med"/>
                    </a:lnB>
                    <a:solidFill>
                      <a:srgbClr val="FFFFFF"/>
                    </a:solidFill>
                  </a:tcPr>
                </a:tc>
              </a:tr>
            </a:tbl>
          </a:graphicData>
        </a:graphic>
      </p:graphicFrame>
      <p:sp>
        <p:nvSpPr>
          <p:cNvPr id="29" name="Text 26"/>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30" name="Text 27"/>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14  </a:t>
            </a:r>
            <a:pPr indent="0" marL="0">
              <a:buNone/>
            </a:pPr>
            <a:r>
              <a:rPr lang="en-US" sz="1250" b="1" spc="200" kern="0" dirty="0">
                <a:solidFill>
                  <a:srgbClr val="D9782D"/>
                </a:solidFill>
                <a:latin typeface="Calibri" pitchFamily="34" charset="0"/>
                <a:ea typeface="Calibri" pitchFamily="34" charset="-122"/>
                <a:cs typeface="Calibri" pitchFamily="34" charset="-120"/>
              </a:rPr>
              <a:t>STRATEGIC RECOMMENDATION</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GO — enter Surat first, then scale to Bharuch and Valsad on proven milestones</a:t>
            </a:r>
            <a:endParaRPr lang="en-US" sz="2100" dirty="0"/>
          </a:p>
        </p:txBody>
      </p:sp>
      <p:sp>
        <p:nvSpPr>
          <p:cNvPr id="4" name="Shape 2"/>
          <p:cNvSpPr/>
          <p:nvPr/>
        </p:nvSpPr>
        <p:spPr>
          <a:xfrm>
            <a:off x="685800" y="2221992"/>
            <a:ext cx="10820095" cy="0"/>
          </a:xfrm>
          <a:prstGeom prst="line">
            <a:avLst/>
          </a:prstGeom>
          <a:noFill/>
          <a:ln w="19050">
            <a:solidFill>
              <a:srgbClr val="DEE1E3"/>
            </a:solidFill>
            <a:prstDash val="solid"/>
          </a:ln>
        </p:spPr>
      </p:sp>
      <p:sp>
        <p:nvSpPr>
          <p:cNvPr id="5" name="Shape 3"/>
          <p:cNvSpPr/>
          <p:nvPr/>
        </p:nvSpPr>
        <p:spPr>
          <a:xfrm>
            <a:off x="548640" y="1947672"/>
            <a:ext cx="292608" cy="292608"/>
          </a:xfrm>
          <a:prstGeom prst="ellipse">
            <a:avLst/>
          </a:prstGeom>
          <a:solidFill>
            <a:srgbClr val="D9782D"/>
          </a:solidFill>
          <a:ln/>
        </p:spPr>
      </p:sp>
      <p:sp>
        <p:nvSpPr>
          <p:cNvPr id="6" name="Text 4"/>
          <p:cNvSpPr/>
          <p:nvPr/>
        </p:nvSpPr>
        <p:spPr>
          <a:xfrm>
            <a:off x="548640" y="19476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0120" y="1911096"/>
            <a:ext cx="3103778" cy="274320"/>
          </a:xfrm>
          <a:prstGeom prst="rect">
            <a:avLst/>
          </a:prstGeom>
          <a:noFill/>
          <a:ln/>
        </p:spPr>
        <p:txBody>
          <a:bodyPr wrap="square" lIns="0" tIns="0" rIns="0" bIns="0" rtlCol="0" anchor="ctr"/>
          <a:lstStyle/>
          <a:p>
            <a:pPr indent="0" marL="0">
              <a:buNone/>
            </a:pPr>
            <a:r>
              <a:rPr lang="en-US" sz="1050" b="1" spc="100" kern="0" dirty="0">
                <a:solidFill>
                  <a:srgbClr val="D9782D"/>
                </a:solidFill>
                <a:latin typeface="Calibri" pitchFamily="34" charset="0"/>
                <a:ea typeface="Calibri" pitchFamily="34" charset="-122"/>
                <a:cs typeface="Calibri" pitchFamily="34" charset="-120"/>
              </a:rPr>
              <a:t>YEAR 1</a:t>
            </a:r>
            <a:endParaRPr lang="en-US" sz="1050" dirty="0"/>
          </a:p>
        </p:txBody>
      </p:sp>
      <p:sp>
        <p:nvSpPr>
          <p:cNvPr id="8" name="Shape 6"/>
          <p:cNvSpPr/>
          <p:nvPr/>
        </p:nvSpPr>
        <p:spPr>
          <a:xfrm>
            <a:off x="548640" y="2350008"/>
            <a:ext cx="3515258" cy="2130552"/>
          </a:xfrm>
          <a:prstGeom prst="roundRect">
            <a:avLst>
              <a:gd name="adj" fmla="val 3004"/>
            </a:avLst>
          </a:prstGeom>
          <a:solidFill>
            <a:srgbClr val="EEF0F1"/>
          </a:solidFill>
          <a:ln/>
        </p:spPr>
      </p:sp>
      <p:sp>
        <p:nvSpPr>
          <p:cNvPr id="9" name="Text 7"/>
          <p:cNvSpPr/>
          <p:nvPr/>
        </p:nvSpPr>
        <p:spPr>
          <a:xfrm>
            <a:off x="731520" y="2478024"/>
            <a:ext cx="3149498" cy="457200"/>
          </a:xfrm>
          <a:prstGeom prst="rect">
            <a:avLst/>
          </a:prstGeom>
          <a:noFill/>
          <a:ln/>
        </p:spPr>
        <p:txBody>
          <a:bodyPr wrap="square" lIns="0" tIns="0" rIns="0" bIns="0" rtlCol="0" anchor="t"/>
          <a:lstStyle/>
          <a:p>
            <a:pPr indent="0" marL="0">
              <a:lnSpc>
                <a:spcPct val="102000"/>
              </a:lnSpc>
              <a:buNone/>
            </a:pPr>
            <a:r>
              <a:rPr lang="en-US" sz="1450" b="1" dirty="0">
                <a:solidFill>
                  <a:srgbClr val="23262A"/>
                </a:solidFill>
                <a:latin typeface="Cambria" pitchFamily="34" charset="0"/>
                <a:ea typeface="Cambria" pitchFamily="34" charset="-122"/>
                <a:cs typeface="Cambria" pitchFamily="34" charset="-120"/>
              </a:rPr>
              <a:t>Establish the Surat Anchor</a:t>
            </a:r>
            <a:endParaRPr lang="en-US" sz="1450" dirty="0"/>
          </a:p>
        </p:txBody>
      </p:sp>
      <p:sp>
        <p:nvSpPr>
          <p:cNvPr id="10" name="Text 8"/>
          <p:cNvSpPr/>
          <p:nvPr/>
        </p:nvSpPr>
        <p:spPr>
          <a:xfrm>
            <a:off x="731520" y="2953512"/>
            <a:ext cx="3149498" cy="1143000"/>
          </a:xfrm>
          <a:prstGeom prst="rect">
            <a:avLst/>
          </a:prstGeom>
          <a:noFill/>
          <a:ln/>
        </p:spPr>
        <p:txBody>
          <a:bodyPr wrap="square" lIns="0" tIns="0" rIns="0" bIns="0" rtlCol="0" anchor="t"/>
          <a:lstStyle/>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Commission Plant 1 in Surat (₹17 Cr CapEx)</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Target residential &amp; mixed-development anchor accounts</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Build a certified QA / reliability track record</a:t>
            </a:r>
            <a:endParaRPr lang="en-US" sz="1000" dirty="0"/>
          </a:p>
        </p:txBody>
      </p:sp>
      <p:sp>
        <p:nvSpPr>
          <p:cNvPr id="11" name="Text 9"/>
          <p:cNvSpPr/>
          <p:nvPr/>
        </p:nvSpPr>
        <p:spPr>
          <a:xfrm>
            <a:off x="731520" y="4005072"/>
            <a:ext cx="3149498" cy="420624"/>
          </a:xfrm>
          <a:prstGeom prst="rect">
            <a:avLst/>
          </a:prstGeom>
          <a:noFill/>
          <a:ln/>
        </p:spPr>
        <p:txBody>
          <a:bodyPr wrap="square" lIns="0" tIns="0" rIns="0" bIns="0" rtlCol="0" anchor="t"/>
          <a:lstStyle/>
          <a:p>
            <a:pPr indent="0" marL="0">
              <a:lnSpc>
                <a:spcPct val="110000"/>
              </a:lnSpc>
              <a:buNone/>
            </a:pPr>
            <a:r>
              <a:rPr lang="en-US" sz="880" b="1" i="1" dirty="0">
                <a:solidFill>
                  <a:srgbClr val="B85F1E"/>
                </a:solidFill>
                <a:latin typeface="Calibri" pitchFamily="34" charset="0"/>
                <a:ea typeface="Calibri" pitchFamily="34" charset="-122"/>
                <a:cs typeface="Calibri" pitchFamily="34" charset="-120"/>
              </a:rPr>
              <a:t>Gate to Year 2: utilization &amp; realized-price thresholds met</a:t>
            </a:r>
            <a:endParaRPr lang="en-US" sz="880" dirty="0"/>
          </a:p>
        </p:txBody>
      </p:sp>
      <p:sp>
        <p:nvSpPr>
          <p:cNvPr id="12" name="Shape 10"/>
          <p:cNvSpPr/>
          <p:nvPr/>
        </p:nvSpPr>
        <p:spPr>
          <a:xfrm>
            <a:off x="4338218" y="1947672"/>
            <a:ext cx="292608" cy="292608"/>
          </a:xfrm>
          <a:prstGeom prst="ellipse">
            <a:avLst/>
          </a:prstGeom>
          <a:solidFill>
            <a:srgbClr val="D9782D"/>
          </a:solidFill>
          <a:ln/>
        </p:spPr>
      </p:sp>
      <p:sp>
        <p:nvSpPr>
          <p:cNvPr id="13" name="Text 11"/>
          <p:cNvSpPr/>
          <p:nvPr/>
        </p:nvSpPr>
        <p:spPr>
          <a:xfrm>
            <a:off x="4338218" y="19476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749698" y="1911096"/>
            <a:ext cx="3103778" cy="274320"/>
          </a:xfrm>
          <a:prstGeom prst="rect">
            <a:avLst/>
          </a:prstGeom>
          <a:noFill/>
          <a:ln/>
        </p:spPr>
        <p:txBody>
          <a:bodyPr wrap="square" lIns="0" tIns="0" rIns="0" bIns="0" rtlCol="0" anchor="ctr"/>
          <a:lstStyle/>
          <a:p>
            <a:pPr indent="0" marL="0">
              <a:buNone/>
            </a:pPr>
            <a:r>
              <a:rPr lang="en-US" sz="1050" b="1" spc="100" kern="0" dirty="0">
                <a:solidFill>
                  <a:srgbClr val="D9782D"/>
                </a:solidFill>
                <a:latin typeface="Calibri" pitchFamily="34" charset="0"/>
                <a:ea typeface="Calibri" pitchFamily="34" charset="-122"/>
                <a:cs typeface="Calibri" pitchFamily="34" charset="-120"/>
              </a:rPr>
              <a:t>YEAR 2</a:t>
            </a:r>
            <a:endParaRPr lang="en-US" sz="1050" dirty="0"/>
          </a:p>
        </p:txBody>
      </p:sp>
      <p:sp>
        <p:nvSpPr>
          <p:cNvPr id="15" name="Shape 13"/>
          <p:cNvSpPr/>
          <p:nvPr/>
        </p:nvSpPr>
        <p:spPr>
          <a:xfrm>
            <a:off x="4338218" y="2350008"/>
            <a:ext cx="3515258" cy="2130552"/>
          </a:xfrm>
          <a:prstGeom prst="roundRect">
            <a:avLst>
              <a:gd name="adj" fmla="val 3004"/>
            </a:avLst>
          </a:prstGeom>
          <a:solidFill>
            <a:srgbClr val="EEF0F1"/>
          </a:solidFill>
          <a:ln/>
        </p:spPr>
      </p:sp>
      <p:sp>
        <p:nvSpPr>
          <p:cNvPr id="16" name="Text 14"/>
          <p:cNvSpPr/>
          <p:nvPr/>
        </p:nvSpPr>
        <p:spPr>
          <a:xfrm>
            <a:off x="4521098" y="2478024"/>
            <a:ext cx="3149498" cy="457200"/>
          </a:xfrm>
          <a:prstGeom prst="rect">
            <a:avLst/>
          </a:prstGeom>
          <a:noFill/>
          <a:ln/>
        </p:spPr>
        <p:txBody>
          <a:bodyPr wrap="square" lIns="0" tIns="0" rIns="0" bIns="0" rtlCol="0" anchor="t"/>
          <a:lstStyle/>
          <a:p>
            <a:pPr indent="0" marL="0">
              <a:lnSpc>
                <a:spcPct val="102000"/>
              </a:lnSpc>
              <a:buNone/>
            </a:pPr>
            <a:r>
              <a:rPr lang="en-US" sz="1450" b="1" dirty="0">
                <a:solidFill>
                  <a:srgbClr val="23262A"/>
                </a:solidFill>
                <a:latin typeface="Cambria" pitchFamily="34" charset="0"/>
                <a:ea typeface="Cambria" pitchFamily="34" charset="-122"/>
                <a:cs typeface="Cambria" pitchFamily="34" charset="-120"/>
              </a:rPr>
              <a:t>Scale to Bharuch &amp; Valsad</a:t>
            </a:r>
            <a:endParaRPr lang="en-US" sz="1450" dirty="0"/>
          </a:p>
        </p:txBody>
      </p:sp>
      <p:sp>
        <p:nvSpPr>
          <p:cNvPr id="17" name="Text 15"/>
          <p:cNvSpPr/>
          <p:nvPr/>
        </p:nvSpPr>
        <p:spPr>
          <a:xfrm>
            <a:off x="4521098" y="2953512"/>
            <a:ext cx="3149498" cy="1143000"/>
          </a:xfrm>
          <a:prstGeom prst="rect">
            <a:avLst/>
          </a:prstGeom>
          <a:noFill/>
          <a:ln/>
        </p:spPr>
        <p:txBody>
          <a:bodyPr wrap="square" lIns="0" tIns="0" rIns="0" bIns="0" rtlCol="0" anchor="t"/>
          <a:lstStyle/>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Commission Plant 2</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Expand into Bharuch industrial accounts and Valsad</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Open satellite dispatch to white-space corridors</a:t>
            </a:r>
            <a:endParaRPr lang="en-US" sz="1000" dirty="0"/>
          </a:p>
        </p:txBody>
      </p:sp>
      <p:sp>
        <p:nvSpPr>
          <p:cNvPr id="18" name="Text 16"/>
          <p:cNvSpPr/>
          <p:nvPr/>
        </p:nvSpPr>
        <p:spPr>
          <a:xfrm>
            <a:off x="4521098" y="4005072"/>
            <a:ext cx="3149498" cy="420624"/>
          </a:xfrm>
          <a:prstGeom prst="rect">
            <a:avLst/>
          </a:prstGeom>
          <a:noFill/>
          <a:ln/>
        </p:spPr>
        <p:txBody>
          <a:bodyPr wrap="square" lIns="0" tIns="0" rIns="0" bIns="0" rtlCol="0" anchor="t"/>
          <a:lstStyle/>
          <a:p>
            <a:pPr indent="0" marL="0">
              <a:lnSpc>
                <a:spcPct val="110000"/>
              </a:lnSpc>
              <a:buNone/>
            </a:pPr>
            <a:r>
              <a:rPr lang="en-US" sz="880" b="1" i="1" dirty="0">
                <a:solidFill>
                  <a:srgbClr val="B85F1E"/>
                </a:solidFill>
                <a:latin typeface="Calibri" pitchFamily="34" charset="0"/>
                <a:ea typeface="Calibri" pitchFamily="34" charset="-122"/>
                <a:cs typeface="Calibri" pitchFamily="34" charset="-120"/>
              </a:rPr>
              <a:t>Gate to Year 3: consistent EBITDA margin sustained</a:t>
            </a:r>
            <a:endParaRPr lang="en-US" sz="880" dirty="0"/>
          </a:p>
        </p:txBody>
      </p:sp>
      <p:sp>
        <p:nvSpPr>
          <p:cNvPr id="19" name="Shape 17"/>
          <p:cNvSpPr/>
          <p:nvPr/>
        </p:nvSpPr>
        <p:spPr>
          <a:xfrm>
            <a:off x="8127797" y="1947672"/>
            <a:ext cx="292608" cy="292608"/>
          </a:xfrm>
          <a:prstGeom prst="ellipse">
            <a:avLst/>
          </a:prstGeom>
          <a:solidFill>
            <a:srgbClr val="D9782D"/>
          </a:solidFill>
          <a:ln/>
        </p:spPr>
      </p:sp>
      <p:sp>
        <p:nvSpPr>
          <p:cNvPr id="20" name="Text 18"/>
          <p:cNvSpPr/>
          <p:nvPr/>
        </p:nvSpPr>
        <p:spPr>
          <a:xfrm>
            <a:off x="8127797" y="19476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539277" y="1911096"/>
            <a:ext cx="3103778" cy="274320"/>
          </a:xfrm>
          <a:prstGeom prst="rect">
            <a:avLst/>
          </a:prstGeom>
          <a:noFill/>
          <a:ln/>
        </p:spPr>
        <p:txBody>
          <a:bodyPr wrap="square" lIns="0" tIns="0" rIns="0" bIns="0" rtlCol="0" anchor="ctr"/>
          <a:lstStyle/>
          <a:p>
            <a:pPr indent="0" marL="0">
              <a:buNone/>
            </a:pPr>
            <a:r>
              <a:rPr lang="en-US" sz="1050" b="1" spc="100" kern="0" dirty="0">
                <a:solidFill>
                  <a:srgbClr val="D9782D"/>
                </a:solidFill>
                <a:latin typeface="Calibri" pitchFamily="34" charset="0"/>
                <a:ea typeface="Calibri" pitchFamily="34" charset="-122"/>
                <a:cs typeface="Calibri" pitchFamily="34" charset="-120"/>
              </a:rPr>
              <a:t>YEAR 3</a:t>
            </a:r>
            <a:endParaRPr lang="en-US" sz="1050" dirty="0"/>
          </a:p>
        </p:txBody>
      </p:sp>
      <p:sp>
        <p:nvSpPr>
          <p:cNvPr id="22" name="Shape 20"/>
          <p:cNvSpPr/>
          <p:nvPr/>
        </p:nvSpPr>
        <p:spPr>
          <a:xfrm>
            <a:off x="8127797" y="2350008"/>
            <a:ext cx="3515258" cy="2130552"/>
          </a:xfrm>
          <a:prstGeom prst="roundRect">
            <a:avLst>
              <a:gd name="adj" fmla="val 3004"/>
            </a:avLst>
          </a:prstGeom>
          <a:solidFill>
            <a:srgbClr val="EEF0F1"/>
          </a:solidFill>
          <a:ln/>
        </p:spPr>
      </p:sp>
      <p:sp>
        <p:nvSpPr>
          <p:cNvPr id="23" name="Text 21"/>
          <p:cNvSpPr/>
          <p:nvPr/>
        </p:nvSpPr>
        <p:spPr>
          <a:xfrm>
            <a:off x="8310677" y="2478024"/>
            <a:ext cx="3149498" cy="457200"/>
          </a:xfrm>
          <a:prstGeom prst="rect">
            <a:avLst/>
          </a:prstGeom>
          <a:noFill/>
          <a:ln/>
        </p:spPr>
        <p:txBody>
          <a:bodyPr wrap="square" lIns="0" tIns="0" rIns="0" bIns="0" rtlCol="0" anchor="t"/>
          <a:lstStyle/>
          <a:p>
            <a:pPr indent="0" marL="0">
              <a:lnSpc>
                <a:spcPct val="102000"/>
              </a:lnSpc>
              <a:buNone/>
            </a:pPr>
            <a:r>
              <a:rPr lang="en-US" sz="1450" b="1" dirty="0">
                <a:solidFill>
                  <a:srgbClr val="23262A"/>
                </a:solidFill>
                <a:latin typeface="Cambria" pitchFamily="34" charset="0"/>
                <a:ea typeface="Cambria" pitchFamily="34" charset="-122"/>
                <a:cs typeface="Cambria" pitchFamily="34" charset="-120"/>
              </a:rPr>
              <a:t>Complete the 3-Plant Network</a:t>
            </a:r>
            <a:endParaRPr lang="en-US" sz="1450" dirty="0"/>
          </a:p>
        </p:txBody>
      </p:sp>
      <p:sp>
        <p:nvSpPr>
          <p:cNvPr id="24" name="Text 22"/>
          <p:cNvSpPr/>
          <p:nvPr/>
        </p:nvSpPr>
        <p:spPr>
          <a:xfrm>
            <a:off x="8310677" y="2953512"/>
            <a:ext cx="3149498" cy="1143000"/>
          </a:xfrm>
          <a:prstGeom prst="rect">
            <a:avLst/>
          </a:prstGeom>
          <a:noFill/>
          <a:ln/>
        </p:spPr>
        <p:txBody>
          <a:bodyPr wrap="square" lIns="0" tIns="0" rIns="0" bIns="0" rtlCol="0" anchor="t"/>
          <a:lstStyle/>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Commission Plant 3 — reach steady-state capacity</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Pursue GIDC industrial key accounts (Hazira, Vapi)</a:t>
            </a:r>
            <a:endParaRPr lang="en-US" sz="1000" dirty="0"/>
          </a:p>
          <a:p>
            <a:pPr indent="0" marL="0">
              <a:lnSpc>
                <a:spcPct val="125000"/>
              </a:lnSpc>
              <a:buNone/>
            </a:pPr>
            <a:r>
              <a:rPr lang="en-US" sz="1000" dirty="0">
                <a:solidFill>
                  <a:srgbClr val="3D4147"/>
                </a:solidFill>
                <a:latin typeface="Calibri" pitchFamily="34" charset="0"/>
                <a:ea typeface="Calibri" pitchFamily="34" charset="-122"/>
                <a:cs typeface="Calibri" pitchFamily="34" charset="-120"/>
              </a:rPr>
              <a:t>•  Full network live; Year-5 base revenue reaches ₹129.1 Cr</a:t>
            </a:r>
            <a:endParaRPr lang="en-US" sz="1000" dirty="0"/>
          </a:p>
        </p:txBody>
      </p:sp>
      <p:sp>
        <p:nvSpPr>
          <p:cNvPr id="25" name="Text 23"/>
          <p:cNvSpPr/>
          <p:nvPr/>
        </p:nvSpPr>
        <p:spPr>
          <a:xfrm>
            <a:off x="8310677" y="4005072"/>
            <a:ext cx="3149498" cy="420624"/>
          </a:xfrm>
          <a:prstGeom prst="rect">
            <a:avLst/>
          </a:prstGeom>
          <a:noFill/>
          <a:ln/>
        </p:spPr>
        <p:txBody>
          <a:bodyPr wrap="square" lIns="0" tIns="0" rIns="0" bIns="0" rtlCol="0" anchor="t"/>
          <a:lstStyle/>
          <a:p>
            <a:pPr indent="0" marL="0">
              <a:lnSpc>
                <a:spcPct val="110000"/>
              </a:lnSpc>
              <a:buNone/>
            </a:pPr>
            <a:r>
              <a:rPr lang="en-US" sz="880" b="1" i="1" dirty="0">
                <a:solidFill>
                  <a:srgbClr val="B85F1E"/>
                </a:solidFill>
                <a:latin typeface="Calibri" pitchFamily="34" charset="0"/>
                <a:ea typeface="Calibri" pitchFamily="34" charset="-122"/>
                <a:cs typeface="Calibri" pitchFamily="34" charset="-120"/>
              </a:rPr>
              <a:t>Outcome: network complete, milestone-gated risk contained</a:t>
            </a:r>
            <a:endParaRPr lang="en-US" sz="880" dirty="0"/>
          </a:p>
        </p:txBody>
      </p:sp>
      <p:sp>
        <p:nvSpPr>
          <p:cNvPr id="26" name="Text 24"/>
          <p:cNvSpPr/>
          <p:nvPr/>
        </p:nvSpPr>
        <p:spPr>
          <a:xfrm>
            <a:off x="548640" y="4736592"/>
            <a:ext cx="4572000" cy="237744"/>
          </a:xfrm>
          <a:prstGeom prst="rect">
            <a:avLst/>
          </a:prstGeom>
          <a:noFill/>
          <a:ln/>
        </p:spPr>
        <p:txBody>
          <a:bodyPr wrap="square" lIns="0" tIns="0" rIns="0" bIns="0" rtlCol="0" anchor="ctr"/>
          <a:lstStyle/>
          <a:p>
            <a:pPr indent="0" marL="0">
              <a:buNone/>
            </a:pPr>
            <a:r>
              <a:rPr lang="en-US" sz="1000" b="1" spc="50" kern="0" dirty="0">
                <a:solidFill>
                  <a:srgbClr val="23262A"/>
                </a:solidFill>
                <a:latin typeface="Calibri" pitchFamily="34" charset="0"/>
                <a:ea typeface="Calibri" pitchFamily="34" charset="-122"/>
                <a:cs typeface="Calibri" pitchFamily="34" charset="-120"/>
              </a:rPr>
              <a:t>POSITIONING STRATEGY</a:t>
            </a:r>
            <a:endParaRPr lang="en-US" sz="1000" dirty="0"/>
          </a:p>
        </p:txBody>
      </p:sp>
      <p:sp>
        <p:nvSpPr>
          <p:cNvPr id="27" name="Shape 25"/>
          <p:cNvSpPr/>
          <p:nvPr/>
        </p:nvSpPr>
        <p:spPr>
          <a:xfrm>
            <a:off x="548640" y="5029200"/>
            <a:ext cx="402336" cy="402336"/>
          </a:xfrm>
          <a:prstGeom prst="ellipse">
            <a:avLst/>
          </a:prstGeom>
          <a:solidFill>
            <a:srgbClr val="D9782D"/>
          </a:solidFill>
          <a:ln/>
        </p:spPr>
      </p:sp>
      <p:pic>
        <p:nvPicPr>
          <p:cNvPr id="28" name="Image 0" descr="./assets/coins_white.png">    </p:cNvPr>
          <p:cNvPicPr>
            <a:picLocks noChangeAspect="1"/>
          </p:cNvPicPr>
          <p:nvPr/>
        </p:nvPicPr>
        <p:blipFill>
          <a:blip r:embed="rId1"/>
          <a:stretch>
            <a:fillRect/>
          </a:stretch>
        </p:blipFill>
        <p:spPr>
          <a:xfrm>
            <a:off x="653247" y="5133807"/>
            <a:ext cx="193121" cy="193121"/>
          </a:xfrm>
          <a:prstGeom prst="rect">
            <a:avLst/>
          </a:prstGeom>
        </p:spPr>
      </p:pic>
      <p:sp>
        <p:nvSpPr>
          <p:cNvPr id="29" name="Text 26"/>
          <p:cNvSpPr/>
          <p:nvPr/>
        </p:nvSpPr>
        <p:spPr>
          <a:xfrm>
            <a:off x="1133856" y="5001768"/>
            <a:ext cx="2016938" cy="274320"/>
          </a:xfrm>
          <a:prstGeom prst="rect">
            <a:avLst/>
          </a:prstGeom>
          <a:noFill/>
          <a:ln/>
        </p:spPr>
        <p:txBody>
          <a:bodyPr wrap="square" lIns="0" tIns="0" rIns="0" bIns="0" rtlCol="0" anchor="t"/>
          <a:lstStyle/>
          <a:p>
            <a:pPr indent="0" marL="0">
              <a:buNone/>
            </a:pPr>
            <a:r>
              <a:rPr lang="en-US" sz="1050" b="1" dirty="0">
                <a:solidFill>
                  <a:srgbClr val="23262A"/>
                </a:solidFill>
                <a:latin typeface="Calibri" pitchFamily="34" charset="0"/>
                <a:ea typeface="Calibri" pitchFamily="34" charset="-122"/>
                <a:cs typeface="Calibri" pitchFamily="34" charset="-120"/>
              </a:rPr>
              <a:t>Mid-Premium Pricing</a:t>
            </a:r>
            <a:endParaRPr lang="en-US" sz="1050" dirty="0"/>
          </a:p>
        </p:txBody>
      </p:sp>
      <p:sp>
        <p:nvSpPr>
          <p:cNvPr id="30" name="Text 27"/>
          <p:cNvSpPr/>
          <p:nvPr/>
        </p:nvSpPr>
        <p:spPr>
          <a:xfrm>
            <a:off x="1133856" y="5276088"/>
            <a:ext cx="2016938" cy="173736"/>
          </a:xfrm>
          <a:prstGeom prst="rect">
            <a:avLst/>
          </a:prstGeom>
          <a:noFill/>
          <a:ln/>
        </p:spPr>
        <p:txBody>
          <a:bodyPr wrap="square" lIns="0" tIns="0" rIns="0" bIns="0" rtlCol="0" anchor="t"/>
          <a:lstStyle/>
          <a:p>
            <a:pPr indent="0" marL="0">
              <a:lnSpc>
                <a:spcPct val="105000"/>
              </a:lnSpc>
              <a:buNone/>
            </a:pPr>
            <a:r>
              <a:rPr lang="en-US" sz="900" dirty="0">
                <a:solidFill>
                  <a:srgbClr val="70757C"/>
                </a:solidFill>
                <a:latin typeface="Calibri" pitchFamily="34" charset="0"/>
                <a:ea typeface="Calibri" pitchFamily="34" charset="-122"/>
                <a:cs typeface="Calibri" pitchFamily="34" charset="-120"/>
              </a:rPr>
              <a:t>Priced above low-cost independents, below national Tier-1.</a:t>
            </a:r>
            <a:endParaRPr lang="en-US" sz="900" dirty="0"/>
          </a:p>
        </p:txBody>
      </p:sp>
      <p:sp>
        <p:nvSpPr>
          <p:cNvPr id="31" name="Shape 28"/>
          <p:cNvSpPr/>
          <p:nvPr/>
        </p:nvSpPr>
        <p:spPr>
          <a:xfrm>
            <a:off x="3379394" y="5029200"/>
            <a:ext cx="402336" cy="402336"/>
          </a:xfrm>
          <a:prstGeom prst="ellipse">
            <a:avLst/>
          </a:prstGeom>
          <a:solidFill>
            <a:srgbClr val="45606F"/>
          </a:solidFill>
          <a:ln/>
        </p:spPr>
      </p:sp>
      <p:pic>
        <p:nvPicPr>
          <p:cNvPr id="32" name="Image 1" descr="./assets/shield_white.png">    </p:cNvPr>
          <p:cNvPicPr>
            <a:picLocks noChangeAspect="1"/>
          </p:cNvPicPr>
          <p:nvPr/>
        </p:nvPicPr>
        <p:blipFill>
          <a:blip r:embed="rId2"/>
          <a:stretch>
            <a:fillRect/>
          </a:stretch>
        </p:blipFill>
        <p:spPr>
          <a:xfrm>
            <a:off x="3484001" y="5133807"/>
            <a:ext cx="193121" cy="193121"/>
          </a:xfrm>
          <a:prstGeom prst="rect">
            <a:avLst/>
          </a:prstGeom>
        </p:spPr>
      </p:pic>
      <p:sp>
        <p:nvSpPr>
          <p:cNvPr id="33" name="Text 29"/>
          <p:cNvSpPr/>
          <p:nvPr/>
        </p:nvSpPr>
        <p:spPr>
          <a:xfrm>
            <a:off x="3964610" y="5001768"/>
            <a:ext cx="2016938" cy="274320"/>
          </a:xfrm>
          <a:prstGeom prst="rect">
            <a:avLst/>
          </a:prstGeom>
          <a:noFill/>
          <a:ln/>
        </p:spPr>
        <p:txBody>
          <a:bodyPr wrap="square" lIns="0" tIns="0" rIns="0" bIns="0" rtlCol="0" anchor="t"/>
          <a:lstStyle/>
          <a:p>
            <a:pPr indent="0" marL="0">
              <a:buNone/>
            </a:pPr>
            <a:r>
              <a:rPr lang="en-US" sz="1050" b="1" dirty="0">
                <a:solidFill>
                  <a:srgbClr val="23262A"/>
                </a:solidFill>
                <a:latin typeface="Calibri" pitchFamily="34" charset="0"/>
                <a:ea typeface="Calibri" pitchFamily="34" charset="-122"/>
                <a:cs typeface="Calibri" pitchFamily="34" charset="-120"/>
              </a:rPr>
              <a:t>Certified Reliability</a:t>
            </a:r>
            <a:endParaRPr lang="en-US" sz="1050" dirty="0"/>
          </a:p>
        </p:txBody>
      </p:sp>
      <p:sp>
        <p:nvSpPr>
          <p:cNvPr id="34" name="Text 30"/>
          <p:cNvSpPr/>
          <p:nvPr/>
        </p:nvSpPr>
        <p:spPr>
          <a:xfrm>
            <a:off x="3964610" y="5276088"/>
            <a:ext cx="2016938" cy="173736"/>
          </a:xfrm>
          <a:prstGeom prst="rect">
            <a:avLst/>
          </a:prstGeom>
          <a:noFill/>
          <a:ln/>
        </p:spPr>
        <p:txBody>
          <a:bodyPr wrap="square" lIns="0" tIns="0" rIns="0" bIns="0" rtlCol="0" anchor="t"/>
          <a:lstStyle/>
          <a:p>
            <a:pPr indent="0" marL="0">
              <a:lnSpc>
                <a:spcPct val="105000"/>
              </a:lnSpc>
              <a:buNone/>
            </a:pPr>
            <a:r>
              <a:rPr lang="en-US" sz="900" dirty="0">
                <a:solidFill>
                  <a:srgbClr val="70757C"/>
                </a:solidFill>
                <a:latin typeface="Calibri" pitchFamily="34" charset="0"/>
                <a:ea typeface="Calibri" pitchFamily="34" charset="-122"/>
                <a:cs typeface="Calibri" pitchFamily="34" charset="-120"/>
              </a:rPr>
              <a:t>QA/QC and on-time delivery as the core differentiator.</a:t>
            </a:r>
            <a:endParaRPr lang="en-US" sz="900" dirty="0"/>
          </a:p>
        </p:txBody>
      </p:sp>
      <p:sp>
        <p:nvSpPr>
          <p:cNvPr id="35" name="Shape 31"/>
          <p:cNvSpPr/>
          <p:nvPr/>
        </p:nvSpPr>
        <p:spPr>
          <a:xfrm>
            <a:off x="6210148" y="5029200"/>
            <a:ext cx="402336" cy="402336"/>
          </a:xfrm>
          <a:prstGeom prst="ellipse">
            <a:avLst/>
          </a:prstGeom>
          <a:solidFill>
            <a:srgbClr val="D9782D"/>
          </a:solidFill>
          <a:ln/>
        </p:spPr>
      </p:sp>
      <p:pic>
        <p:nvPicPr>
          <p:cNvPr id="36" name="Image 2" descr="./assets/industry_white.png">    </p:cNvPr>
          <p:cNvPicPr>
            <a:picLocks noChangeAspect="1"/>
          </p:cNvPicPr>
          <p:nvPr/>
        </p:nvPicPr>
        <p:blipFill>
          <a:blip r:embed="rId3"/>
          <a:stretch>
            <a:fillRect/>
          </a:stretch>
        </p:blipFill>
        <p:spPr>
          <a:xfrm>
            <a:off x="6314755" y="5133807"/>
            <a:ext cx="193121" cy="193121"/>
          </a:xfrm>
          <a:prstGeom prst="rect">
            <a:avLst/>
          </a:prstGeom>
        </p:spPr>
      </p:pic>
      <p:sp>
        <p:nvSpPr>
          <p:cNvPr id="37" name="Text 32"/>
          <p:cNvSpPr/>
          <p:nvPr/>
        </p:nvSpPr>
        <p:spPr>
          <a:xfrm>
            <a:off x="6795364" y="5001768"/>
            <a:ext cx="2016938" cy="274320"/>
          </a:xfrm>
          <a:prstGeom prst="rect">
            <a:avLst/>
          </a:prstGeom>
          <a:noFill/>
          <a:ln/>
        </p:spPr>
        <p:txBody>
          <a:bodyPr wrap="square" lIns="0" tIns="0" rIns="0" bIns="0" rtlCol="0" anchor="t"/>
          <a:lstStyle/>
          <a:p>
            <a:pPr indent="0" marL="0">
              <a:buNone/>
            </a:pPr>
            <a:r>
              <a:rPr lang="en-US" sz="1050" b="1" dirty="0">
                <a:solidFill>
                  <a:srgbClr val="23262A"/>
                </a:solidFill>
                <a:latin typeface="Calibri" pitchFamily="34" charset="0"/>
                <a:ea typeface="Calibri" pitchFamily="34" charset="-122"/>
                <a:cs typeface="Calibri" pitchFamily="34" charset="-120"/>
              </a:rPr>
              <a:t>Industrial Key Accounts</a:t>
            </a:r>
            <a:endParaRPr lang="en-US" sz="1050" dirty="0"/>
          </a:p>
        </p:txBody>
      </p:sp>
      <p:sp>
        <p:nvSpPr>
          <p:cNvPr id="38" name="Text 33"/>
          <p:cNvSpPr/>
          <p:nvPr/>
        </p:nvSpPr>
        <p:spPr>
          <a:xfrm>
            <a:off x="6795364" y="5276088"/>
            <a:ext cx="2016938" cy="173736"/>
          </a:xfrm>
          <a:prstGeom prst="rect">
            <a:avLst/>
          </a:prstGeom>
          <a:noFill/>
          <a:ln/>
        </p:spPr>
        <p:txBody>
          <a:bodyPr wrap="square" lIns="0" tIns="0" rIns="0" bIns="0" rtlCol="0" anchor="t"/>
          <a:lstStyle/>
          <a:p>
            <a:pPr indent="0" marL="0">
              <a:lnSpc>
                <a:spcPct val="105000"/>
              </a:lnSpc>
              <a:buNone/>
            </a:pPr>
            <a:r>
              <a:rPr lang="en-US" sz="900" dirty="0">
                <a:solidFill>
                  <a:srgbClr val="70757C"/>
                </a:solidFill>
                <a:latin typeface="Calibri" pitchFamily="34" charset="0"/>
                <a:ea typeface="Calibri" pitchFamily="34" charset="-122"/>
                <a:cs typeface="Calibri" pitchFamily="34" charset="-120"/>
              </a:rPr>
              <a:t>Dahej, Ankleshwar, Hazira and Vapi GIDC corridors.</a:t>
            </a:r>
            <a:endParaRPr lang="en-US" sz="900" dirty="0"/>
          </a:p>
        </p:txBody>
      </p:sp>
      <p:sp>
        <p:nvSpPr>
          <p:cNvPr id="39" name="Shape 34"/>
          <p:cNvSpPr/>
          <p:nvPr/>
        </p:nvSpPr>
        <p:spPr>
          <a:xfrm>
            <a:off x="9040901" y="5029200"/>
            <a:ext cx="402336" cy="402336"/>
          </a:xfrm>
          <a:prstGeom prst="ellipse">
            <a:avLst/>
          </a:prstGeom>
          <a:solidFill>
            <a:srgbClr val="45606F"/>
          </a:solidFill>
          <a:ln/>
        </p:spPr>
      </p:sp>
      <p:pic>
        <p:nvPicPr>
          <p:cNvPr id="40" name="Image 3" descr="./assets/map_white.png">    </p:cNvPr>
          <p:cNvPicPr>
            <a:picLocks noChangeAspect="1"/>
          </p:cNvPicPr>
          <p:nvPr/>
        </p:nvPicPr>
        <p:blipFill>
          <a:blip r:embed="rId4"/>
          <a:stretch>
            <a:fillRect/>
          </a:stretch>
        </p:blipFill>
        <p:spPr>
          <a:xfrm>
            <a:off x="9145509" y="5133807"/>
            <a:ext cx="193121" cy="193121"/>
          </a:xfrm>
          <a:prstGeom prst="rect">
            <a:avLst/>
          </a:prstGeom>
        </p:spPr>
      </p:pic>
      <p:sp>
        <p:nvSpPr>
          <p:cNvPr id="41" name="Text 35"/>
          <p:cNvSpPr/>
          <p:nvPr/>
        </p:nvSpPr>
        <p:spPr>
          <a:xfrm>
            <a:off x="9626117" y="5001768"/>
            <a:ext cx="2016938" cy="274320"/>
          </a:xfrm>
          <a:prstGeom prst="rect">
            <a:avLst/>
          </a:prstGeom>
          <a:noFill/>
          <a:ln/>
        </p:spPr>
        <p:txBody>
          <a:bodyPr wrap="square" lIns="0" tIns="0" rIns="0" bIns="0" rtlCol="0" anchor="t"/>
          <a:lstStyle/>
          <a:p>
            <a:pPr indent="0" marL="0">
              <a:buNone/>
            </a:pPr>
            <a:r>
              <a:rPr lang="en-US" sz="1050" b="1" dirty="0">
                <a:solidFill>
                  <a:srgbClr val="23262A"/>
                </a:solidFill>
                <a:latin typeface="Calibri" pitchFamily="34" charset="0"/>
                <a:ea typeface="Calibri" pitchFamily="34" charset="-122"/>
                <a:cs typeface="Calibri" pitchFamily="34" charset="-120"/>
              </a:rPr>
              <a:t>Satellite White-Space</a:t>
            </a:r>
            <a:endParaRPr lang="en-US" sz="1050" dirty="0"/>
          </a:p>
        </p:txBody>
      </p:sp>
      <p:sp>
        <p:nvSpPr>
          <p:cNvPr id="42" name="Text 36"/>
          <p:cNvSpPr/>
          <p:nvPr/>
        </p:nvSpPr>
        <p:spPr>
          <a:xfrm>
            <a:off x="9626117" y="5276088"/>
            <a:ext cx="2016938" cy="173736"/>
          </a:xfrm>
          <a:prstGeom prst="rect">
            <a:avLst/>
          </a:prstGeom>
          <a:noFill/>
          <a:ln/>
        </p:spPr>
        <p:txBody>
          <a:bodyPr wrap="square" lIns="0" tIns="0" rIns="0" bIns="0" rtlCol="0" anchor="t"/>
          <a:lstStyle/>
          <a:p>
            <a:pPr indent="0" marL="0">
              <a:lnSpc>
                <a:spcPct val="105000"/>
              </a:lnSpc>
              <a:buNone/>
            </a:pPr>
            <a:r>
              <a:rPr lang="en-US" sz="900" dirty="0">
                <a:solidFill>
                  <a:srgbClr val="70757C"/>
                </a:solidFill>
                <a:latin typeface="Calibri" pitchFamily="34" charset="0"/>
                <a:ea typeface="Calibri" pitchFamily="34" charset="-122"/>
                <a:cs typeface="Calibri" pitchFamily="34" charset="-120"/>
              </a:rPr>
              <a:t>Sarigam, Palej, eastern Tapi and Chikhli/Navsari pockets.</a:t>
            </a:r>
            <a:endParaRPr lang="en-US" sz="900" dirty="0"/>
          </a:p>
        </p:txBody>
      </p:sp>
      <p:sp>
        <p:nvSpPr>
          <p:cNvPr id="43" name="Text 37"/>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44" name="Text 38"/>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lide 15">
    <p:bg>
      <p:bgPr>
        <a:solidFill>
          <a:srgbClr val="23262A"/>
        </a:solidFill>
      </p:bgPr>
    </p:bg>
    <p:spTree>
      <p:nvGrpSpPr>
        <p:cNvPr id="1" name=""/>
        <p:cNvGrpSpPr/>
        <p:nvPr/>
      </p:nvGrpSpPr>
      <p:grpSpPr>
        <a:xfrm>
          <a:off x="0" y="0"/>
          <a:ext cx="0" cy="0"/>
          <a:chOff x="0" y="0"/>
          <a:chExt cx="0" cy="0"/>
        </a:xfrm>
      </p:grpSpPr>
      <p:sp>
        <p:nvSpPr>
          <p:cNvPr id="2" name="Shape 0"/>
          <p:cNvSpPr/>
          <p:nvPr/>
        </p:nvSpPr>
        <p:spPr>
          <a:xfrm>
            <a:off x="-2011680" y="-2194560"/>
            <a:ext cx="5303520" cy="5303520"/>
          </a:xfrm>
          <a:prstGeom prst="ellipse">
            <a:avLst/>
          </a:prstGeom>
          <a:solidFill>
            <a:srgbClr val="2E3237"/>
          </a:solidFill>
          <a:ln/>
        </p:spPr>
      </p:sp>
      <p:sp>
        <p:nvSpPr>
          <p:cNvPr id="3" name="Shape 1"/>
          <p:cNvSpPr/>
          <p:nvPr/>
        </p:nvSpPr>
        <p:spPr>
          <a:xfrm>
            <a:off x="10607040" y="5120640"/>
            <a:ext cx="2377440" cy="2377440"/>
          </a:xfrm>
          <a:prstGeom prst="ellipse">
            <a:avLst/>
          </a:prstGeom>
          <a:ln w="13970">
            <a:solidFill>
              <a:srgbClr val="D9782D"/>
            </a:solidFill>
            <a:prstDash val="solid"/>
          </a:ln>
        </p:spPr>
      </p:sp>
      <p:sp>
        <p:nvSpPr>
          <p:cNvPr id="4" name="Text 2"/>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15  </a:t>
            </a:r>
            <a:pPr indent="0" marL="0">
              <a:buNone/>
            </a:pPr>
            <a:r>
              <a:rPr lang="en-US" sz="1250" b="1" spc="200" kern="0" dirty="0">
                <a:solidFill>
                  <a:srgbClr val="D9782D"/>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200" b="1" dirty="0">
                <a:solidFill>
                  <a:srgbClr val="FFFFFF"/>
                </a:solidFill>
                <a:latin typeface="Cambria" pitchFamily="34" charset="0"/>
                <a:ea typeface="Cambria" pitchFamily="34" charset="-122"/>
                <a:cs typeface="Cambria" pitchFamily="34" charset="-120"/>
              </a:rPr>
              <a:t>GO — a large, financially compelling opportunity with a clear, risk-managed path to execution</a:t>
            </a:r>
            <a:endParaRPr lang="en-US" sz="2200" dirty="0"/>
          </a:p>
        </p:txBody>
      </p:sp>
      <p:sp>
        <p:nvSpPr>
          <p:cNvPr id="6" name="Shape 4"/>
          <p:cNvSpPr/>
          <p:nvPr/>
        </p:nvSpPr>
        <p:spPr>
          <a:xfrm>
            <a:off x="548640" y="2788920"/>
            <a:ext cx="2567864" cy="2331720"/>
          </a:xfrm>
          <a:prstGeom prst="roundRect">
            <a:avLst>
              <a:gd name="adj" fmla="val 3137"/>
            </a:avLst>
          </a:prstGeom>
          <a:solidFill>
            <a:srgbClr val="2E3237"/>
          </a:solidFill>
          <a:ln/>
        </p:spPr>
      </p:sp>
      <p:pic>
        <p:nvPicPr>
          <p:cNvPr id="7" name="Image 0" descr="./assets/check_amber.png">    </p:cNvPr>
          <p:cNvPicPr>
            <a:picLocks noChangeAspect="1"/>
          </p:cNvPicPr>
          <p:nvPr/>
        </p:nvPicPr>
        <p:blipFill>
          <a:blip r:embed="rId1"/>
          <a:stretch>
            <a:fillRect/>
          </a:stretch>
        </p:blipFill>
        <p:spPr>
          <a:xfrm>
            <a:off x="749808" y="2990088"/>
            <a:ext cx="384048" cy="384048"/>
          </a:xfrm>
          <a:prstGeom prst="rect">
            <a:avLst/>
          </a:prstGeom>
        </p:spPr>
      </p:pic>
      <p:sp>
        <p:nvSpPr>
          <p:cNvPr id="8" name="Text 5"/>
          <p:cNvSpPr/>
          <p:nvPr/>
        </p:nvSpPr>
        <p:spPr>
          <a:xfrm>
            <a:off x="749808" y="3502152"/>
            <a:ext cx="2165528" cy="457200"/>
          </a:xfrm>
          <a:prstGeom prst="rect">
            <a:avLst/>
          </a:prstGeom>
          <a:noFill/>
          <a:ln/>
        </p:spPr>
        <p:txBody>
          <a:bodyPr wrap="square" lIns="0" tIns="0" rIns="0" bIns="0" rtlCol="0" anchor="t"/>
          <a:lstStyle/>
          <a:p>
            <a:pPr indent="0" marL="0">
              <a:buNone/>
            </a:pPr>
            <a:r>
              <a:rPr lang="en-US" sz="1450" b="1" dirty="0">
                <a:solidFill>
                  <a:srgbClr val="FFFFFF"/>
                </a:solidFill>
                <a:latin typeface="Cambria" pitchFamily="34" charset="0"/>
                <a:ea typeface="Cambria" pitchFamily="34" charset="-122"/>
                <a:cs typeface="Cambria" pitchFamily="34" charset="-120"/>
              </a:rPr>
              <a:t>Large Market</a:t>
            </a:r>
            <a:endParaRPr lang="en-US" sz="1450" dirty="0"/>
          </a:p>
        </p:txBody>
      </p:sp>
      <p:sp>
        <p:nvSpPr>
          <p:cNvPr id="9" name="Text 6"/>
          <p:cNvSpPr/>
          <p:nvPr/>
        </p:nvSpPr>
        <p:spPr>
          <a:xfrm>
            <a:off x="749808" y="3959352"/>
            <a:ext cx="2165528" cy="1051560"/>
          </a:xfrm>
          <a:prstGeom prst="rect">
            <a:avLst/>
          </a:prstGeom>
          <a:noFill/>
          <a:ln/>
        </p:spPr>
        <p:txBody>
          <a:bodyPr wrap="square" lIns="0" tIns="0" rIns="0" bIns="0" rtlCol="0" anchor="t"/>
          <a:lstStyle/>
          <a:p>
            <a:pPr indent="0" marL="0">
              <a:lnSpc>
                <a:spcPct val="120000"/>
              </a:lnSpc>
              <a:buNone/>
            </a:pPr>
            <a:r>
              <a:rPr lang="en-US" sz="1050" dirty="0">
                <a:solidFill>
                  <a:srgbClr val="B9BEC4"/>
                </a:solidFill>
                <a:latin typeface="Calibri" pitchFamily="34" charset="0"/>
                <a:ea typeface="Calibri" pitchFamily="34" charset="-122"/>
                <a:cs typeface="Calibri" pitchFamily="34" charset="-120"/>
              </a:rPr>
              <a:t>₹26,760 Cr TAM and 44.2M m³ of demand across 5 South Gujarat districts.</a:t>
            </a:r>
            <a:endParaRPr lang="en-US" sz="1050" dirty="0"/>
          </a:p>
        </p:txBody>
      </p:sp>
      <p:sp>
        <p:nvSpPr>
          <p:cNvPr id="10" name="Shape 7"/>
          <p:cNvSpPr/>
          <p:nvPr/>
        </p:nvSpPr>
        <p:spPr>
          <a:xfrm>
            <a:off x="3390824" y="2788920"/>
            <a:ext cx="2567864" cy="2331720"/>
          </a:xfrm>
          <a:prstGeom prst="roundRect">
            <a:avLst>
              <a:gd name="adj" fmla="val 3137"/>
            </a:avLst>
          </a:prstGeom>
          <a:solidFill>
            <a:srgbClr val="2E3237"/>
          </a:solidFill>
          <a:ln/>
        </p:spPr>
      </p:sp>
      <p:pic>
        <p:nvPicPr>
          <p:cNvPr id="11" name="Image 1" descr="./assets/check_amber.png">    </p:cNvPr>
          <p:cNvPicPr>
            <a:picLocks noChangeAspect="1"/>
          </p:cNvPicPr>
          <p:nvPr/>
        </p:nvPicPr>
        <p:blipFill>
          <a:blip r:embed="rId2"/>
          <a:stretch>
            <a:fillRect/>
          </a:stretch>
        </p:blipFill>
        <p:spPr>
          <a:xfrm>
            <a:off x="3591992" y="2990088"/>
            <a:ext cx="384048" cy="384048"/>
          </a:xfrm>
          <a:prstGeom prst="rect">
            <a:avLst/>
          </a:prstGeom>
        </p:spPr>
      </p:pic>
      <p:sp>
        <p:nvSpPr>
          <p:cNvPr id="12" name="Text 8"/>
          <p:cNvSpPr/>
          <p:nvPr/>
        </p:nvSpPr>
        <p:spPr>
          <a:xfrm>
            <a:off x="3591992" y="3502152"/>
            <a:ext cx="2165528" cy="457200"/>
          </a:xfrm>
          <a:prstGeom prst="rect">
            <a:avLst/>
          </a:prstGeom>
          <a:noFill/>
          <a:ln/>
        </p:spPr>
        <p:txBody>
          <a:bodyPr wrap="square" lIns="0" tIns="0" rIns="0" bIns="0" rtlCol="0" anchor="t"/>
          <a:lstStyle/>
          <a:p>
            <a:pPr indent="0" marL="0">
              <a:buNone/>
            </a:pPr>
            <a:r>
              <a:rPr lang="en-US" sz="1450" b="1" dirty="0">
                <a:solidFill>
                  <a:srgbClr val="FFFFFF"/>
                </a:solidFill>
                <a:latin typeface="Cambria" pitchFamily="34" charset="0"/>
                <a:ea typeface="Cambria" pitchFamily="34" charset="-122"/>
                <a:cs typeface="Cambria" pitchFamily="34" charset="-120"/>
              </a:rPr>
              <a:t>Financially Attractive</a:t>
            </a:r>
            <a:endParaRPr lang="en-US" sz="1450" dirty="0"/>
          </a:p>
        </p:txBody>
      </p:sp>
      <p:sp>
        <p:nvSpPr>
          <p:cNvPr id="13" name="Text 9"/>
          <p:cNvSpPr/>
          <p:nvPr/>
        </p:nvSpPr>
        <p:spPr>
          <a:xfrm>
            <a:off x="3591992" y="3959352"/>
            <a:ext cx="2165528" cy="1051560"/>
          </a:xfrm>
          <a:prstGeom prst="rect">
            <a:avLst/>
          </a:prstGeom>
          <a:noFill/>
          <a:ln/>
        </p:spPr>
        <p:txBody>
          <a:bodyPr wrap="square" lIns="0" tIns="0" rIns="0" bIns="0" rtlCol="0" anchor="t"/>
          <a:lstStyle/>
          <a:p>
            <a:pPr indent="0" marL="0">
              <a:lnSpc>
                <a:spcPct val="120000"/>
              </a:lnSpc>
              <a:buNone/>
            </a:pPr>
            <a:r>
              <a:rPr lang="en-US" sz="1050" dirty="0">
                <a:solidFill>
                  <a:srgbClr val="B9BEC4"/>
                </a:solidFill>
                <a:latin typeface="Calibri" pitchFamily="34" charset="0"/>
                <a:ea typeface="Calibri" pitchFamily="34" charset="-122"/>
                <a:cs typeface="Calibri" pitchFamily="34" charset="-120"/>
              </a:rPr>
              <a:t>₹30.8 Cr NPV, 40.8% IRR and a 2.9-year payback on the base case.</a:t>
            </a:r>
            <a:endParaRPr lang="en-US" sz="1050" dirty="0"/>
          </a:p>
        </p:txBody>
      </p:sp>
      <p:sp>
        <p:nvSpPr>
          <p:cNvPr id="14" name="Shape 10"/>
          <p:cNvSpPr/>
          <p:nvPr/>
        </p:nvSpPr>
        <p:spPr>
          <a:xfrm>
            <a:off x="6233008" y="2788920"/>
            <a:ext cx="2567864" cy="2331720"/>
          </a:xfrm>
          <a:prstGeom prst="roundRect">
            <a:avLst>
              <a:gd name="adj" fmla="val 3137"/>
            </a:avLst>
          </a:prstGeom>
          <a:solidFill>
            <a:srgbClr val="2E3237"/>
          </a:solidFill>
          <a:ln/>
        </p:spPr>
      </p:sp>
      <p:pic>
        <p:nvPicPr>
          <p:cNvPr id="15" name="Image 2" descr="./assets/check_amber.png">    </p:cNvPr>
          <p:cNvPicPr>
            <a:picLocks noChangeAspect="1"/>
          </p:cNvPicPr>
          <p:nvPr/>
        </p:nvPicPr>
        <p:blipFill>
          <a:blip r:embed="rId3"/>
          <a:stretch>
            <a:fillRect/>
          </a:stretch>
        </p:blipFill>
        <p:spPr>
          <a:xfrm>
            <a:off x="6434176" y="2990088"/>
            <a:ext cx="384048" cy="384048"/>
          </a:xfrm>
          <a:prstGeom prst="rect">
            <a:avLst/>
          </a:prstGeom>
        </p:spPr>
      </p:pic>
      <p:sp>
        <p:nvSpPr>
          <p:cNvPr id="16" name="Text 11"/>
          <p:cNvSpPr/>
          <p:nvPr/>
        </p:nvSpPr>
        <p:spPr>
          <a:xfrm>
            <a:off x="6434176" y="3502152"/>
            <a:ext cx="2165528" cy="457200"/>
          </a:xfrm>
          <a:prstGeom prst="rect">
            <a:avLst/>
          </a:prstGeom>
          <a:noFill/>
          <a:ln/>
        </p:spPr>
        <p:txBody>
          <a:bodyPr wrap="square" lIns="0" tIns="0" rIns="0" bIns="0" rtlCol="0" anchor="t"/>
          <a:lstStyle/>
          <a:p>
            <a:pPr indent="0" marL="0">
              <a:buNone/>
            </a:pPr>
            <a:r>
              <a:rPr lang="en-US" sz="1450" b="1" dirty="0">
                <a:solidFill>
                  <a:srgbClr val="FFFFFF"/>
                </a:solidFill>
                <a:latin typeface="Cambria" pitchFamily="34" charset="0"/>
                <a:ea typeface="Cambria" pitchFamily="34" charset="-122"/>
                <a:cs typeface="Cambria" pitchFamily="34" charset="-120"/>
              </a:rPr>
              <a:t>Manageable Risk</a:t>
            </a:r>
            <a:endParaRPr lang="en-US" sz="1450" dirty="0"/>
          </a:p>
        </p:txBody>
      </p:sp>
      <p:sp>
        <p:nvSpPr>
          <p:cNvPr id="17" name="Text 12"/>
          <p:cNvSpPr/>
          <p:nvPr/>
        </p:nvSpPr>
        <p:spPr>
          <a:xfrm>
            <a:off x="6434176" y="3959352"/>
            <a:ext cx="2165528" cy="1051560"/>
          </a:xfrm>
          <a:prstGeom prst="rect">
            <a:avLst/>
          </a:prstGeom>
          <a:noFill/>
          <a:ln/>
        </p:spPr>
        <p:txBody>
          <a:bodyPr wrap="square" lIns="0" tIns="0" rIns="0" bIns="0" rtlCol="0" anchor="t"/>
          <a:lstStyle/>
          <a:p>
            <a:pPr indent="0" marL="0">
              <a:lnSpc>
                <a:spcPct val="120000"/>
              </a:lnSpc>
              <a:buNone/>
            </a:pPr>
            <a:r>
              <a:rPr lang="en-US" sz="1050" dirty="0">
                <a:solidFill>
                  <a:srgbClr val="B9BEC4"/>
                </a:solidFill>
                <a:latin typeface="Calibri" pitchFamily="34" charset="0"/>
                <a:ea typeface="Calibri" pitchFamily="34" charset="-122"/>
                <a:cs typeface="Calibri" pitchFamily="34" charset="-120"/>
              </a:rPr>
              <a:t>19 risks mapped — every single one carries a defined mitigation.</a:t>
            </a:r>
            <a:endParaRPr lang="en-US" sz="1050" dirty="0"/>
          </a:p>
        </p:txBody>
      </p:sp>
      <p:sp>
        <p:nvSpPr>
          <p:cNvPr id="18" name="Shape 13"/>
          <p:cNvSpPr/>
          <p:nvPr/>
        </p:nvSpPr>
        <p:spPr>
          <a:xfrm>
            <a:off x="9075191" y="2788920"/>
            <a:ext cx="2567864" cy="2331720"/>
          </a:xfrm>
          <a:prstGeom prst="roundRect">
            <a:avLst>
              <a:gd name="adj" fmla="val 3137"/>
            </a:avLst>
          </a:prstGeom>
          <a:solidFill>
            <a:srgbClr val="2E3237"/>
          </a:solidFill>
          <a:ln/>
        </p:spPr>
      </p:sp>
      <p:pic>
        <p:nvPicPr>
          <p:cNvPr id="19" name="Image 3" descr="./assets/check_amber.png">    </p:cNvPr>
          <p:cNvPicPr>
            <a:picLocks noChangeAspect="1"/>
          </p:cNvPicPr>
          <p:nvPr/>
        </p:nvPicPr>
        <p:blipFill>
          <a:blip r:embed="rId4"/>
          <a:stretch>
            <a:fillRect/>
          </a:stretch>
        </p:blipFill>
        <p:spPr>
          <a:xfrm>
            <a:off x="9276359" y="2990088"/>
            <a:ext cx="384048" cy="384048"/>
          </a:xfrm>
          <a:prstGeom prst="rect">
            <a:avLst/>
          </a:prstGeom>
        </p:spPr>
      </p:pic>
      <p:sp>
        <p:nvSpPr>
          <p:cNvPr id="20" name="Text 14"/>
          <p:cNvSpPr/>
          <p:nvPr/>
        </p:nvSpPr>
        <p:spPr>
          <a:xfrm>
            <a:off x="9276359" y="3502152"/>
            <a:ext cx="2165528" cy="457200"/>
          </a:xfrm>
          <a:prstGeom prst="rect">
            <a:avLst/>
          </a:prstGeom>
          <a:noFill/>
          <a:ln/>
        </p:spPr>
        <p:txBody>
          <a:bodyPr wrap="square" lIns="0" tIns="0" rIns="0" bIns="0" rtlCol="0" anchor="t"/>
          <a:lstStyle/>
          <a:p>
            <a:pPr indent="0" marL="0">
              <a:buNone/>
            </a:pPr>
            <a:r>
              <a:rPr lang="en-US" sz="1450" b="1" dirty="0">
                <a:solidFill>
                  <a:srgbClr val="FFFFFF"/>
                </a:solidFill>
                <a:latin typeface="Cambria" pitchFamily="34" charset="0"/>
                <a:ea typeface="Cambria" pitchFamily="34" charset="-122"/>
                <a:cs typeface="Cambria" pitchFamily="34" charset="-120"/>
              </a:rPr>
              <a:t>Clear Execution Path</a:t>
            </a:r>
            <a:endParaRPr lang="en-US" sz="1450" dirty="0"/>
          </a:p>
        </p:txBody>
      </p:sp>
      <p:sp>
        <p:nvSpPr>
          <p:cNvPr id="21" name="Text 15"/>
          <p:cNvSpPr/>
          <p:nvPr/>
        </p:nvSpPr>
        <p:spPr>
          <a:xfrm>
            <a:off x="9276359" y="3959352"/>
            <a:ext cx="2165528" cy="1051560"/>
          </a:xfrm>
          <a:prstGeom prst="rect">
            <a:avLst/>
          </a:prstGeom>
          <a:noFill/>
          <a:ln/>
        </p:spPr>
        <p:txBody>
          <a:bodyPr wrap="square" lIns="0" tIns="0" rIns="0" bIns="0" rtlCol="0" anchor="t"/>
          <a:lstStyle/>
          <a:p>
            <a:pPr indent="0" marL="0">
              <a:lnSpc>
                <a:spcPct val="120000"/>
              </a:lnSpc>
              <a:buNone/>
            </a:pPr>
            <a:r>
              <a:rPr lang="en-US" sz="1050" dirty="0">
                <a:solidFill>
                  <a:srgbClr val="B9BEC4"/>
                </a:solidFill>
                <a:latin typeface="Calibri" pitchFamily="34" charset="0"/>
                <a:ea typeface="Calibri" pitchFamily="34" charset="-122"/>
                <a:cs typeface="Calibri" pitchFamily="34" charset="-120"/>
              </a:rPr>
              <a:t>Phased 3-plant rollout, Surat-first, gated on measurable milestones.</a:t>
            </a:r>
            <a:endParaRPr lang="en-US" sz="1050" dirty="0"/>
          </a:p>
        </p:txBody>
      </p:sp>
      <p:sp>
        <p:nvSpPr>
          <p:cNvPr id="22" name="Text 16"/>
          <p:cNvSpPr/>
          <p:nvPr/>
        </p:nvSpPr>
        <p:spPr>
          <a:xfrm>
            <a:off x="548640" y="5532120"/>
            <a:ext cx="11094415" cy="457200"/>
          </a:xfrm>
          <a:prstGeom prst="rect">
            <a:avLst/>
          </a:prstGeom>
          <a:noFill/>
          <a:ln/>
        </p:spPr>
        <p:txBody>
          <a:bodyPr wrap="square" lIns="0" tIns="0" rIns="0" bIns="0" rtlCol="0" anchor="ctr"/>
          <a:lstStyle/>
          <a:p>
            <a:pPr algn="ctr" indent="0" marL="0">
              <a:buNone/>
            </a:pPr>
            <a:r>
              <a:rPr lang="en-US" sz="1300" i="1" dirty="0">
                <a:solidFill>
                  <a:srgbClr val="D9782D"/>
                </a:solidFill>
                <a:latin typeface="Calibri" pitchFamily="34" charset="0"/>
                <a:ea typeface="Calibri" pitchFamily="34" charset="-122"/>
                <a:cs typeface="Calibri" pitchFamily="34" charset="-120"/>
              </a:rPr>
              <a:t>Recommendation: proceed with a phased, milestone-gated RMC plant rollout beginning in Surat.</a:t>
            </a:r>
            <a:endParaRPr lang="en-US" sz="1300" dirty="0"/>
          </a:p>
        </p:txBody>
      </p:sp>
      <p:sp>
        <p:nvSpPr>
          <p:cNvPr id="23" name="Text 17"/>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B9BEC4"/>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4" name="Text 18"/>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B9BEC4"/>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16  </a:t>
            </a:r>
            <a:pPr indent="0" marL="0">
              <a:buNone/>
            </a:pPr>
            <a:r>
              <a:rPr lang="en-US" sz="1250" b="1" spc="200" kern="0" dirty="0">
                <a:solidFill>
                  <a:srgbClr val="D9782D"/>
                </a:solidFill>
                <a:latin typeface="Calibri" pitchFamily="34" charset="0"/>
                <a:ea typeface="Calibri" pitchFamily="34" charset="-122"/>
                <a:cs typeface="Calibri" pitchFamily="34" charset="-120"/>
              </a:rPr>
              <a:t>FUTURE OPPORTUNITIES</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500" b="1" dirty="0">
                <a:solidFill>
                  <a:srgbClr val="23262A"/>
                </a:solidFill>
                <a:latin typeface="Cambria" pitchFamily="34" charset="0"/>
                <a:ea typeface="Cambria" pitchFamily="34" charset="-122"/>
                <a:cs typeface="Cambria" pitchFamily="34" charset="-120"/>
              </a:rPr>
              <a:t>Beyond the base case: six vectors to extend the opportunity</a:t>
            </a:r>
            <a:endParaRPr lang="en-US" sz="2500" dirty="0"/>
          </a:p>
        </p:txBody>
      </p:sp>
      <p:sp>
        <p:nvSpPr>
          <p:cNvPr id="4" name="Shape 2"/>
          <p:cNvSpPr/>
          <p:nvPr/>
        </p:nvSpPr>
        <p:spPr>
          <a:xfrm>
            <a:off x="548640" y="2011680"/>
            <a:ext cx="512064" cy="512064"/>
          </a:xfrm>
          <a:prstGeom prst="ellipse">
            <a:avLst/>
          </a:prstGeom>
          <a:solidFill>
            <a:srgbClr val="D9782D"/>
          </a:solidFill>
          <a:ln/>
        </p:spPr>
      </p:sp>
      <p:pic>
        <p:nvPicPr>
          <p:cNvPr id="5" name="Image 0" descr="./assets/industry_white.png">    </p:cNvPr>
          <p:cNvPicPr>
            <a:picLocks noChangeAspect="1"/>
          </p:cNvPicPr>
          <p:nvPr/>
        </p:nvPicPr>
        <p:blipFill>
          <a:blip r:embed="rId1"/>
          <a:stretch>
            <a:fillRect/>
          </a:stretch>
        </p:blipFill>
        <p:spPr>
          <a:xfrm>
            <a:off x="681777" y="2144817"/>
            <a:ext cx="245791" cy="245791"/>
          </a:xfrm>
          <a:prstGeom prst="rect">
            <a:avLst/>
          </a:prstGeom>
        </p:spPr>
      </p:pic>
      <p:sp>
        <p:nvSpPr>
          <p:cNvPr id="6" name="Text 3"/>
          <p:cNvSpPr/>
          <p:nvPr/>
        </p:nvSpPr>
        <p:spPr>
          <a:xfrm>
            <a:off x="1243584" y="1984248"/>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Industrial Key Accounts</a:t>
            </a:r>
            <a:endParaRPr lang="en-US" sz="1350" dirty="0"/>
          </a:p>
        </p:txBody>
      </p:sp>
      <p:sp>
        <p:nvSpPr>
          <p:cNvPr id="7" name="Text 4"/>
          <p:cNvSpPr/>
          <p:nvPr/>
        </p:nvSpPr>
        <p:spPr>
          <a:xfrm>
            <a:off x="1243584" y="2258568"/>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Chemical, petrochemical and logistics accounts across Dahej, Ankleshwar, Hazira and Vapi GIDC.</a:t>
            </a:r>
            <a:endParaRPr lang="en-US" sz="1100" dirty="0"/>
          </a:p>
        </p:txBody>
      </p:sp>
      <p:sp>
        <p:nvSpPr>
          <p:cNvPr id="8" name="Shape 5"/>
          <p:cNvSpPr/>
          <p:nvPr/>
        </p:nvSpPr>
        <p:spPr>
          <a:xfrm>
            <a:off x="6324448" y="2011680"/>
            <a:ext cx="512064" cy="512064"/>
          </a:xfrm>
          <a:prstGeom prst="ellipse">
            <a:avLst/>
          </a:prstGeom>
          <a:solidFill>
            <a:srgbClr val="45606F"/>
          </a:solidFill>
          <a:ln/>
        </p:spPr>
      </p:sp>
      <p:pic>
        <p:nvPicPr>
          <p:cNvPr id="9" name="Image 1" descr="./assets/map_white.png">    </p:cNvPr>
          <p:cNvPicPr>
            <a:picLocks noChangeAspect="1"/>
          </p:cNvPicPr>
          <p:nvPr/>
        </p:nvPicPr>
        <p:blipFill>
          <a:blip r:embed="rId2"/>
          <a:stretch>
            <a:fillRect/>
          </a:stretch>
        </p:blipFill>
        <p:spPr>
          <a:xfrm>
            <a:off x="6457584" y="2144817"/>
            <a:ext cx="245791" cy="245791"/>
          </a:xfrm>
          <a:prstGeom prst="rect">
            <a:avLst/>
          </a:prstGeom>
        </p:spPr>
      </p:pic>
      <p:sp>
        <p:nvSpPr>
          <p:cNvPr id="10" name="Text 6"/>
          <p:cNvSpPr/>
          <p:nvPr/>
        </p:nvSpPr>
        <p:spPr>
          <a:xfrm>
            <a:off x="7019392" y="1984248"/>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Geographic Extension</a:t>
            </a:r>
            <a:endParaRPr lang="en-US" sz="1350" dirty="0"/>
          </a:p>
        </p:txBody>
      </p:sp>
      <p:sp>
        <p:nvSpPr>
          <p:cNvPr id="11" name="Text 7"/>
          <p:cNvSpPr/>
          <p:nvPr/>
        </p:nvSpPr>
        <p:spPr>
          <a:xfrm>
            <a:off x="7019392" y="2258568"/>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Extend beyond the 3-plant core once the Surat–Bharuch–Valsad base is proven post-Year 3.</a:t>
            </a:r>
            <a:endParaRPr lang="en-US" sz="1100" dirty="0"/>
          </a:p>
        </p:txBody>
      </p:sp>
      <p:sp>
        <p:nvSpPr>
          <p:cNvPr id="12" name="Shape 8"/>
          <p:cNvSpPr/>
          <p:nvPr/>
        </p:nvSpPr>
        <p:spPr>
          <a:xfrm>
            <a:off x="548640" y="3502152"/>
            <a:ext cx="512064" cy="512064"/>
          </a:xfrm>
          <a:prstGeom prst="ellipse">
            <a:avLst/>
          </a:prstGeom>
          <a:solidFill>
            <a:srgbClr val="D9782D"/>
          </a:solidFill>
          <a:ln/>
        </p:spPr>
      </p:sp>
      <p:pic>
        <p:nvPicPr>
          <p:cNvPr id="13" name="Image 2" descr="./assets/leaf_white.png">    </p:cNvPr>
          <p:cNvPicPr>
            <a:picLocks noChangeAspect="1"/>
          </p:cNvPicPr>
          <p:nvPr/>
        </p:nvPicPr>
        <p:blipFill>
          <a:blip r:embed="rId3"/>
          <a:stretch>
            <a:fillRect/>
          </a:stretch>
        </p:blipFill>
        <p:spPr>
          <a:xfrm>
            <a:off x="681777" y="3635289"/>
            <a:ext cx="245791" cy="245791"/>
          </a:xfrm>
          <a:prstGeom prst="rect">
            <a:avLst/>
          </a:prstGeom>
        </p:spPr>
      </p:pic>
      <p:sp>
        <p:nvSpPr>
          <p:cNvPr id="14" name="Text 9"/>
          <p:cNvSpPr/>
          <p:nvPr/>
        </p:nvSpPr>
        <p:spPr>
          <a:xfrm>
            <a:off x="1243584" y="3474720"/>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Green / Value-Added Concrete</a:t>
            </a:r>
            <a:endParaRPr lang="en-US" sz="1350" dirty="0"/>
          </a:p>
        </p:txBody>
      </p:sp>
      <p:sp>
        <p:nvSpPr>
          <p:cNvPr id="15" name="Text 10"/>
          <p:cNvSpPr/>
          <p:nvPr/>
        </p:nvSpPr>
        <p:spPr>
          <a:xfrm>
            <a:off x="1243584" y="3749040"/>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Fly-ash and GGBS blended products as an ESG credential and margin differentiator.</a:t>
            </a:r>
            <a:endParaRPr lang="en-US" sz="1100" dirty="0"/>
          </a:p>
        </p:txBody>
      </p:sp>
      <p:sp>
        <p:nvSpPr>
          <p:cNvPr id="16" name="Shape 11"/>
          <p:cNvSpPr/>
          <p:nvPr/>
        </p:nvSpPr>
        <p:spPr>
          <a:xfrm>
            <a:off x="6324448" y="3502152"/>
            <a:ext cx="512064" cy="512064"/>
          </a:xfrm>
          <a:prstGeom prst="ellipse">
            <a:avLst/>
          </a:prstGeom>
          <a:solidFill>
            <a:srgbClr val="45606F"/>
          </a:solidFill>
          <a:ln/>
        </p:spPr>
      </p:sp>
      <p:pic>
        <p:nvPicPr>
          <p:cNvPr id="17" name="Image 3" descr="./assets/mobile_white.png">    </p:cNvPr>
          <p:cNvPicPr>
            <a:picLocks noChangeAspect="1"/>
          </p:cNvPicPr>
          <p:nvPr/>
        </p:nvPicPr>
        <p:blipFill>
          <a:blip r:embed="rId4"/>
          <a:stretch>
            <a:fillRect/>
          </a:stretch>
        </p:blipFill>
        <p:spPr>
          <a:xfrm>
            <a:off x="6457584" y="3635289"/>
            <a:ext cx="245791" cy="245791"/>
          </a:xfrm>
          <a:prstGeom prst="rect">
            <a:avLst/>
          </a:prstGeom>
        </p:spPr>
      </p:pic>
      <p:sp>
        <p:nvSpPr>
          <p:cNvPr id="18" name="Text 12"/>
          <p:cNvSpPr/>
          <p:nvPr/>
        </p:nvSpPr>
        <p:spPr>
          <a:xfrm>
            <a:off x="7019392" y="3474720"/>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Digital Ordering Platform</a:t>
            </a:r>
            <a:endParaRPr lang="en-US" sz="1350" dirty="0"/>
          </a:p>
        </p:txBody>
      </p:sp>
      <p:sp>
        <p:nvSpPr>
          <p:cNvPr id="19" name="Text 13"/>
          <p:cNvSpPr/>
          <p:nvPr/>
        </p:nvSpPr>
        <p:spPr>
          <a:xfrm>
            <a:off x="7019392" y="3749040"/>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Direct booking and dispatch tracking to defend against tech-aggregator entrants.</a:t>
            </a:r>
            <a:endParaRPr lang="en-US" sz="1100" dirty="0"/>
          </a:p>
        </p:txBody>
      </p:sp>
      <p:sp>
        <p:nvSpPr>
          <p:cNvPr id="20" name="Shape 14"/>
          <p:cNvSpPr/>
          <p:nvPr/>
        </p:nvSpPr>
        <p:spPr>
          <a:xfrm>
            <a:off x="548640" y="4992624"/>
            <a:ext cx="512064" cy="512064"/>
          </a:xfrm>
          <a:prstGeom prst="ellipse">
            <a:avLst/>
          </a:prstGeom>
          <a:solidFill>
            <a:srgbClr val="D9782D"/>
          </a:solidFill>
          <a:ln/>
        </p:spPr>
      </p:sp>
      <p:pic>
        <p:nvPicPr>
          <p:cNvPr id="21" name="Image 4" descr="./assets/handshake_white.png">    </p:cNvPr>
          <p:cNvPicPr>
            <a:picLocks noChangeAspect="1"/>
          </p:cNvPicPr>
          <p:nvPr/>
        </p:nvPicPr>
        <p:blipFill>
          <a:blip r:embed="rId5"/>
          <a:stretch>
            <a:fillRect/>
          </a:stretch>
        </p:blipFill>
        <p:spPr>
          <a:xfrm>
            <a:off x="681777" y="5125761"/>
            <a:ext cx="245791" cy="245791"/>
          </a:xfrm>
          <a:prstGeom prst="rect">
            <a:avLst/>
          </a:prstGeom>
        </p:spPr>
      </p:pic>
      <p:sp>
        <p:nvSpPr>
          <p:cNvPr id="22" name="Text 15"/>
          <p:cNvSpPr/>
          <p:nvPr/>
        </p:nvSpPr>
        <p:spPr>
          <a:xfrm>
            <a:off x="1243584" y="4965192"/>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Regional M&amp;A / JV</a:t>
            </a:r>
            <a:endParaRPr lang="en-US" sz="1350" dirty="0"/>
          </a:p>
        </p:txBody>
      </p:sp>
      <p:sp>
        <p:nvSpPr>
          <p:cNvPr id="23" name="Text 16"/>
          <p:cNvSpPr/>
          <p:nvPr/>
        </p:nvSpPr>
        <p:spPr>
          <a:xfrm>
            <a:off x="1243584" y="5239512"/>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Partner with or acquire a strong regional brand to accelerate share capture.</a:t>
            </a:r>
            <a:endParaRPr lang="en-US" sz="1100" dirty="0"/>
          </a:p>
        </p:txBody>
      </p:sp>
      <p:sp>
        <p:nvSpPr>
          <p:cNvPr id="24" name="Shape 17"/>
          <p:cNvSpPr/>
          <p:nvPr/>
        </p:nvSpPr>
        <p:spPr>
          <a:xfrm>
            <a:off x="6324448" y="4992624"/>
            <a:ext cx="512064" cy="512064"/>
          </a:xfrm>
          <a:prstGeom prst="ellipse">
            <a:avLst/>
          </a:prstGeom>
          <a:solidFill>
            <a:srgbClr val="45606F"/>
          </a:solidFill>
          <a:ln/>
        </p:spPr>
      </p:sp>
      <p:pic>
        <p:nvPicPr>
          <p:cNvPr id="25" name="Image 5" descr="./assets/rocket_white.png">    </p:cNvPr>
          <p:cNvPicPr>
            <a:picLocks noChangeAspect="1"/>
          </p:cNvPicPr>
          <p:nvPr/>
        </p:nvPicPr>
        <p:blipFill>
          <a:blip r:embed="rId6"/>
          <a:stretch>
            <a:fillRect/>
          </a:stretch>
        </p:blipFill>
        <p:spPr>
          <a:xfrm>
            <a:off x="6457584" y="5125761"/>
            <a:ext cx="245791" cy="245791"/>
          </a:xfrm>
          <a:prstGeom prst="rect">
            <a:avLst/>
          </a:prstGeom>
        </p:spPr>
      </p:pic>
      <p:sp>
        <p:nvSpPr>
          <p:cNvPr id="26" name="Text 18"/>
          <p:cNvSpPr/>
          <p:nvPr/>
        </p:nvSpPr>
        <p:spPr>
          <a:xfrm>
            <a:off x="7019392" y="4965192"/>
            <a:ext cx="4623664" cy="274320"/>
          </a:xfrm>
          <a:prstGeom prst="rect">
            <a:avLst/>
          </a:prstGeom>
          <a:noFill/>
          <a:ln/>
        </p:spPr>
        <p:txBody>
          <a:bodyPr wrap="square" lIns="0" tIns="0" rIns="0" bIns="0" rtlCol="0" anchor="t"/>
          <a:lstStyle/>
          <a:p>
            <a:pPr indent="0" marL="0">
              <a:buNone/>
            </a:pPr>
            <a:r>
              <a:rPr lang="en-US" sz="1350" b="1" dirty="0">
                <a:solidFill>
                  <a:srgbClr val="23262A"/>
                </a:solidFill>
                <a:latin typeface="Calibri" pitchFamily="34" charset="0"/>
                <a:ea typeface="Calibri" pitchFamily="34" charset="-122"/>
                <a:cs typeface="Calibri" pitchFamily="34" charset="-120"/>
              </a:rPr>
              <a:t>Capacity Scale-Up</a:t>
            </a:r>
            <a:endParaRPr lang="en-US" sz="1350" dirty="0"/>
          </a:p>
        </p:txBody>
      </p:sp>
      <p:sp>
        <p:nvSpPr>
          <p:cNvPr id="27" name="Text 19"/>
          <p:cNvSpPr/>
          <p:nvPr/>
        </p:nvSpPr>
        <p:spPr>
          <a:xfrm>
            <a:off x="7019392" y="5239512"/>
            <a:ext cx="4623664" cy="283464"/>
          </a:xfrm>
          <a:prstGeom prst="rect">
            <a:avLst/>
          </a:prstGeom>
          <a:noFill/>
          <a:ln/>
        </p:spPr>
        <p:txBody>
          <a:bodyPr wrap="square" lIns="0" tIns="0" rIns="0" bIns="0" rtlCol="0" anchor="t"/>
          <a:lstStyle/>
          <a:p>
            <a:pPr indent="0" marL="0">
              <a:lnSpc>
                <a:spcPct val="105000"/>
              </a:lnSpc>
              <a:buNone/>
            </a:pPr>
            <a:r>
              <a:rPr lang="en-US" sz="1100" dirty="0">
                <a:solidFill>
                  <a:srgbClr val="70757C"/>
                </a:solidFill>
                <a:latin typeface="Calibri" pitchFamily="34" charset="0"/>
                <a:ea typeface="Calibri" pitchFamily="34" charset="-122"/>
                <a:cs typeface="Calibri" pitchFamily="34" charset="-120"/>
              </a:rPr>
              <a:t>A second wave of plants once Year 1–3 milestones are exceeded ahead of plan.</a:t>
            </a:r>
            <a:endParaRPr lang="en-US" sz="1100" dirty="0"/>
          </a:p>
        </p:txBody>
      </p:sp>
      <p:sp>
        <p:nvSpPr>
          <p:cNvPr id="28" name="Text 20"/>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29" name="Text 21"/>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92608"/>
          </a:xfrm>
          <a:prstGeom prst="rect">
            <a:avLst/>
          </a:prstGeom>
          <a:noFill/>
          <a:ln/>
        </p:spPr>
        <p:txBody>
          <a:bodyPr wrap="square" lIns="0" tIns="0" rIns="0" bIns="0" rtlCol="0" anchor="ctr"/>
          <a:lstStyle/>
          <a:p>
            <a:pPr indent="0" marL="0">
              <a:buNone/>
            </a:pPr>
            <a:r>
              <a:rPr lang="en-US" sz="1250" b="1" spc="200" kern="0" dirty="0">
                <a:solidFill>
                  <a:srgbClr val="D9782D"/>
                </a:solidFill>
                <a:latin typeface="Calibri" pitchFamily="34" charset="0"/>
                <a:ea typeface="Calibri" pitchFamily="34" charset="-122"/>
                <a:cs typeface="Calibri" pitchFamily="34" charset="-120"/>
              </a:rPr>
              <a:t>17  </a:t>
            </a:r>
            <a:pPr indent="0" marL="0">
              <a:buNone/>
            </a:pPr>
            <a:r>
              <a:rPr lang="en-US" sz="1250" b="1" spc="200" kern="0" dirty="0">
                <a:solidFill>
                  <a:srgbClr val="D9782D"/>
                </a:solidFill>
                <a:latin typeface="Calibri" pitchFamily="34" charset="0"/>
                <a:ea typeface="Calibri" pitchFamily="34" charset="-122"/>
                <a:cs typeface="Calibri" pitchFamily="34" charset="-120"/>
              </a:rPr>
              <a:t>SKILLS DEMONSTRATED</a:t>
            </a:r>
            <a:endParaRPr lang="en-US" sz="1250" dirty="0"/>
          </a:p>
        </p:txBody>
      </p:sp>
      <p:sp>
        <p:nvSpPr>
          <p:cNvPr id="3" name="Text 1"/>
          <p:cNvSpPr/>
          <p:nvPr/>
        </p:nvSpPr>
        <p:spPr>
          <a:xfrm>
            <a:off x="548640" y="804672"/>
            <a:ext cx="11094415" cy="868680"/>
          </a:xfrm>
          <a:prstGeom prst="rect">
            <a:avLst/>
          </a:prstGeom>
          <a:noFill/>
          <a:ln/>
        </p:spPr>
        <p:txBody>
          <a:bodyPr wrap="square" lIns="0" tIns="0" rIns="0" bIns="0" rtlCol="0" anchor="t"/>
          <a:lstStyle/>
          <a:p>
            <a:pPr indent="0" marL="0">
              <a:lnSpc>
                <a:spcPct val="103000"/>
              </a:lnSpc>
              <a:buNone/>
            </a:pPr>
            <a:r>
              <a:rPr lang="en-US" sz="2100" b="1" dirty="0">
                <a:solidFill>
                  <a:srgbClr val="23262A"/>
                </a:solidFill>
                <a:latin typeface="Cambria" pitchFamily="34" charset="0"/>
                <a:ea typeface="Cambria" pitchFamily="34" charset="-122"/>
                <a:cs typeface="Cambria" pitchFamily="34" charset="-120"/>
              </a:rPr>
              <a:t>An end-to-end Business Analyst &amp; financial modelling portfolio exercise</a:t>
            </a:r>
            <a:endParaRPr lang="en-US" sz="2100" dirty="0"/>
          </a:p>
        </p:txBody>
      </p:sp>
      <p:sp>
        <p:nvSpPr>
          <p:cNvPr id="4" name="Shape 2"/>
          <p:cNvSpPr/>
          <p:nvPr/>
        </p:nvSpPr>
        <p:spPr>
          <a:xfrm>
            <a:off x="548640" y="1965960"/>
            <a:ext cx="2622728" cy="2080260"/>
          </a:xfrm>
          <a:prstGeom prst="roundRect">
            <a:avLst>
              <a:gd name="adj" fmla="val 3516"/>
            </a:avLst>
          </a:prstGeom>
          <a:solidFill>
            <a:srgbClr val="EEF0F1"/>
          </a:solidFill>
          <a:ln/>
        </p:spPr>
      </p:sp>
      <p:sp>
        <p:nvSpPr>
          <p:cNvPr id="5" name="Shape 3"/>
          <p:cNvSpPr/>
          <p:nvPr/>
        </p:nvSpPr>
        <p:spPr>
          <a:xfrm>
            <a:off x="1603972" y="2167128"/>
            <a:ext cx="512064" cy="512064"/>
          </a:xfrm>
          <a:prstGeom prst="ellipse">
            <a:avLst/>
          </a:prstGeom>
          <a:solidFill>
            <a:srgbClr val="D9782D"/>
          </a:solidFill>
          <a:ln/>
        </p:spPr>
      </p:sp>
      <p:pic>
        <p:nvPicPr>
          <p:cNvPr id="6" name="Image 0" descr="./assets/fileExcel_white.png">    </p:cNvPr>
          <p:cNvPicPr>
            <a:picLocks noChangeAspect="1"/>
          </p:cNvPicPr>
          <p:nvPr/>
        </p:nvPicPr>
        <p:blipFill>
          <a:blip r:embed="rId1"/>
          <a:stretch>
            <a:fillRect/>
          </a:stretch>
        </p:blipFill>
        <p:spPr>
          <a:xfrm>
            <a:off x="1741132" y="2304288"/>
            <a:ext cx="237744" cy="237744"/>
          </a:xfrm>
          <a:prstGeom prst="rect">
            <a:avLst/>
          </a:prstGeom>
        </p:spPr>
      </p:pic>
      <p:sp>
        <p:nvSpPr>
          <p:cNvPr id="7" name="Text 4"/>
          <p:cNvSpPr/>
          <p:nvPr/>
        </p:nvSpPr>
        <p:spPr>
          <a:xfrm>
            <a:off x="658368" y="278892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Advanced Excel Modelling</a:t>
            </a:r>
            <a:endParaRPr lang="en-US" sz="1150" dirty="0"/>
          </a:p>
        </p:txBody>
      </p:sp>
      <p:sp>
        <p:nvSpPr>
          <p:cNvPr id="8" name="Text 5"/>
          <p:cNvSpPr/>
          <p:nvPr/>
        </p:nvSpPr>
        <p:spPr>
          <a:xfrm>
            <a:off x="694944" y="330098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10-sheet linked workbook with dynamic formulas across 3,000+ records.</a:t>
            </a:r>
            <a:endParaRPr lang="en-US" sz="900" dirty="0"/>
          </a:p>
        </p:txBody>
      </p:sp>
      <p:sp>
        <p:nvSpPr>
          <p:cNvPr id="9" name="Shape 6"/>
          <p:cNvSpPr/>
          <p:nvPr/>
        </p:nvSpPr>
        <p:spPr>
          <a:xfrm>
            <a:off x="3372536" y="1965960"/>
            <a:ext cx="2622728" cy="2080260"/>
          </a:xfrm>
          <a:prstGeom prst="roundRect">
            <a:avLst>
              <a:gd name="adj" fmla="val 3516"/>
            </a:avLst>
          </a:prstGeom>
          <a:solidFill>
            <a:srgbClr val="F5F6F5"/>
          </a:solidFill>
          <a:ln/>
        </p:spPr>
      </p:sp>
      <p:sp>
        <p:nvSpPr>
          <p:cNvPr id="10" name="Shape 7"/>
          <p:cNvSpPr/>
          <p:nvPr/>
        </p:nvSpPr>
        <p:spPr>
          <a:xfrm>
            <a:off x="4427868" y="2167128"/>
            <a:ext cx="512064" cy="512064"/>
          </a:xfrm>
          <a:prstGeom prst="ellipse">
            <a:avLst/>
          </a:prstGeom>
          <a:solidFill>
            <a:srgbClr val="23262A"/>
          </a:solidFill>
          <a:ln/>
        </p:spPr>
      </p:sp>
      <p:pic>
        <p:nvPicPr>
          <p:cNvPr id="11" name="Image 1" descr="./assets/chartBar_white.png">    </p:cNvPr>
          <p:cNvPicPr>
            <a:picLocks noChangeAspect="1"/>
          </p:cNvPicPr>
          <p:nvPr/>
        </p:nvPicPr>
        <p:blipFill>
          <a:blip r:embed="rId2"/>
          <a:stretch>
            <a:fillRect/>
          </a:stretch>
        </p:blipFill>
        <p:spPr>
          <a:xfrm>
            <a:off x="4565028" y="2304288"/>
            <a:ext cx="237744" cy="237744"/>
          </a:xfrm>
          <a:prstGeom prst="rect">
            <a:avLst/>
          </a:prstGeom>
        </p:spPr>
      </p:pic>
      <p:sp>
        <p:nvSpPr>
          <p:cNvPr id="12" name="Text 8"/>
          <p:cNvSpPr/>
          <p:nvPr/>
        </p:nvSpPr>
        <p:spPr>
          <a:xfrm>
            <a:off x="3482264" y="278892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Market Sizing</a:t>
            </a:r>
            <a:endParaRPr lang="en-US" sz="1150" dirty="0"/>
          </a:p>
        </p:txBody>
      </p:sp>
      <p:sp>
        <p:nvSpPr>
          <p:cNvPr id="13" name="Text 9"/>
          <p:cNvSpPr/>
          <p:nvPr/>
        </p:nvSpPr>
        <p:spPr>
          <a:xfrm>
            <a:off x="3518840" y="330098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Bottom-up TAM-SAM-SOM analysis built from raw project-level data.</a:t>
            </a:r>
            <a:endParaRPr lang="en-US" sz="900" dirty="0"/>
          </a:p>
        </p:txBody>
      </p:sp>
      <p:sp>
        <p:nvSpPr>
          <p:cNvPr id="14" name="Shape 10"/>
          <p:cNvSpPr/>
          <p:nvPr/>
        </p:nvSpPr>
        <p:spPr>
          <a:xfrm>
            <a:off x="6196432" y="1965960"/>
            <a:ext cx="2622728" cy="2080260"/>
          </a:xfrm>
          <a:prstGeom prst="roundRect">
            <a:avLst>
              <a:gd name="adj" fmla="val 3516"/>
            </a:avLst>
          </a:prstGeom>
          <a:solidFill>
            <a:srgbClr val="EEF0F1"/>
          </a:solidFill>
          <a:ln/>
        </p:spPr>
      </p:sp>
      <p:sp>
        <p:nvSpPr>
          <p:cNvPr id="15" name="Shape 11"/>
          <p:cNvSpPr/>
          <p:nvPr/>
        </p:nvSpPr>
        <p:spPr>
          <a:xfrm>
            <a:off x="7251764" y="2167128"/>
            <a:ext cx="512064" cy="512064"/>
          </a:xfrm>
          <a:prstGeom prst="ellipse">
            <a:avLst/>
          </a:prstGeom>
          <a:solidFill>
            <a:srgbClr val="D9782D"/>
          </a:solidFill>
          <a:ln/>
        </p:spPr>
      </p:sp>
      <p:pic>
        <p:nvPicPr>
          <p:cNvPr id="16" name="Image 2" descr="./assets/users_white.png">    </p:cNvPr>
          <p:cNvPicPr>
            <a:picLocks noChangeAspect="1"/>
          </p:cNvPicPr>
          <p:nvPr/>
        </p:nvPicPr>
        <p:blipFill>
          <a:blip r:embed="rId3"/>
          <a:stretch>
            <a:fillRect/>
          </a:stretch>
        </p:blipFill>
        <p:spPr>
          <a:xfrm>
            <a:off x="7388924" y="2304288"/>
            <a:ext cx="237744" cy="237744"/>
          </a:xfrm>
          <a:prstGeom prst="rect">
            <a:avLst/>
          </a:prstGeom>
        </p:spPr>
      </p:pic>
      <p:sp>
        <p:nvSpPr>
          <p:cNvPr id="17" name="Text 12"/>
          <p:cNvSpPr/>
          <p:nvPr/>
        </p:nvSpPr>
        <p:spPr>
          <a:xfrm>
            <a:off x="6306160" y="278892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Competitive Intelligence</a:t>
            </a:r>
            <a:endParaRPr lang="en-US" sz="1150" dirty="0"/>
          </a:p>
        </p:txBody>
      </p:sp>
      <p:sp>
        <p:nvSpPr>
          <p:cNvPr id="18" name="Text 13"/>
          <p:cNvSpPr/>
          <p:nvPr/>
        </p:nvSpPr>
        <p:spPr>
          <a:xfrm>
            <a:off x="6342736" y="330098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Porter's Five Forces, SWOT, and 66-competitor threat scoring.</a:t>
            </a:r>
            <a:endParaRPr lang="en-US" sz="900" dirty="0"/>
          </a:p>
        </p:txBody>
      </p:sp>
      <p:sp>
        <p:nvSpPr>
          <p:cNvPr id="19" name="Shape 14"/>
          <p:cNvSpPr/>
          <p:nvPr/>
        </p:nvSpPr>
        <p:spPr>
          <a:xfrm>
            <a:off x="9020327" y="1965960"/>
            <a:ext cx="2622728" cy="2080260"/>
          </a:xfrm>
          <a:prstGeom prst="roundRect">
            <a:avLst>
              <a:gd name="adj" fmla="val 3516"/>
            </a:avLst>
          </a:prstGeom>
          <a:solidFill>
            <a:srgbClr val="F5F6F5"/>
          </a:solidFill>
          <a:ln/>
        </p:spPr>
      </p:sp>
      <p:sp>
        <p:nvSpPr>
          <p:cNvPr id="20" name="Shape 15"/>
          <p:cNvSpPr/>
          <p:nvPr/>
        </p:nvSpPr>
        <p:spPr>
          <a:xfrm>
            <a:off x="10075659" y="2167128"/>
            <a:ext cx="512064" cy="512064"/>
          </a:xfrm>
          <a:prstGeom prst="ellipse">
            <a:avLst/>
          </a:prstGeom>
          <a:solidFill>
            <a:srgbClr val="23262A"/>
          </a:solidFill>
          <a:ln/>
        </p:spPr>
      </p:sp>
      <p:pic>
        <p:nvPicPr>
          <p:cNvPr id="21" name="Image 3" descr="./assets/calculator_white.png">    </p:cNvPr>
          <p:cNvPicPr>
            <a:picLocks noChangeAspect="1"/>
          </p:cNvPicPr>
          <p:nvPr/>
        </p:nvPicPr>
        <p:blipFill>
          <a:blip r:embed="rId4"/>
          <a:stretch>
            <a:fillRect/>
          </a:stretch>
        </p:blipFill>
        <p:spPr>
          <a:xfrm>
            <a:off x="10212819" y="2304288"/>
            <a:ext cx="237744" cy="237744"/>
          </a:xfrm>
          <a:prstGeom prst="rect">
            <a:avLst/>
          </a:prstGeom>
        </p:spPr>
      </p:pic>
      <p:sp>
        <p:nvSpPr>
          <p:cNvPr id="22" name="Text 16"/>
          <p:cNvSpPr/>
          <p:nvPr/>
        </p:nvSpPr>
        <p:spPr>
          <a:xfrm>
            <a:off x="9130055" y="278892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Financial Modelling</a:t>
            </a:r>
            <a:endParaRPr lang="en-US" sz="1150" dirty="0"/>
          </a:p>
        </p:txBody>
      </p:sp>
      <p:sp>
        <p:nvSpPr>
          <p:cNvPr id="23" name="Text 17"/>
          <p:cNvSpPr/>
          <p:nvPr/>
        </p:nvSpPr>
        <p:spPr>
          <a:xfrm>
            <a:off x="9166631" y="330098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DCF, NPV, IRR, ROI and Payback across a 3-scenario sensitivity model.</a:t>
            </a:r>
            <a:endParaRPr lang="en-US" sz="900" dirty="0"/>
          </a:p>
        </p:txBody>
      </p:sp>
      <p:sp>
        <p:nvSpPr>
          <p:cNvPr id="24" name="Shape 18"/>
          <p:cNvSpPr/>
          <p:nvPr/>
        </p:nvSpPr>
        <p:spPr>
          <a:xfrm>
            <a:off x="548640" y="4229100"/>
            <a:ext cx="2622728" cy="2080260"/>
          </a:xfrm>
          <a:prstGeom prst="roundRect">
            <a:avLst>
              <a:gd name="adj" fmla="val 3516"/>
            </a:avLst>
          </a:prstGeom>
          <a:solidFill>
            <a:srgbClr val="F5F6F5"/>
          </a:solidFill>
          <a:ln/>
        </p:spPr>
      </p:sp>
      <p:sp>
        <p:nvSpPr>
          <p:cNvPr id="25" name="Shape 19"/>
          <p:cNvSpPr/>
          <p:nvPr/>
        </p:nvSpPr>
        <p:spPr>
          <a:xfrm>
            <a:off x="1603972" y="4430268"/>
            <a:ext cx="512064" cy="512064"/>
          </a:xfrm>
          <a:prstGeom prst="ellipse">
            <a:avLst/>
          </a:prstGeom>
          <a:solidFill>
            <a:srgbClr val="D9782D"/>
          </a:solidFill>
          <a:ln/>
        </p:spPr>
      </p:sp>
      <p:pic>
        <p:nvPicPr>
          <p:cNvPr id="26" name="Image 4" descr="./assets/balance_white.png">    </p:cNvPr>
          <p:cNvPicPr>
            <a:picLocks noChangeAspect="1"/>
          </p:cNvPicPr>
          <p:nvPr/>
        </p:nvPicPr>
        <p:blipFill>
          <a:blip r:embed="rId5"/>
          <a:stretch>
            <a:fillRect/>
          </a:stretch>
        </p:blipFill>
        <p:spPr>
          <a:xfrm>
            <a:off x="1741132" y="4567428"/>
            <a:ext cx="237744" cy="237744"/>
          </a:xfrm>
          <a:prstGeom prst="rect">
            <a:avLst/>
          </a:prstGeom>
        </p:spPr>
      </p:pic>
      <p:sp>
        <p:nvSpPr>
          <p:cNvPr id="27" name="Text 20"/>
          <p:cNvSpPr/>
          <p:nvPr/>
        </p:nvSpPr>
        <p:spPr>
          <a:xfrm>
            <a:off x="658368" y="505206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Risk Management</a:t>
            </a:r>
            <a:endParaRPr lang="en-US" sz="1150" dirty="0"/>
          </a:p>
        </p:txBody>
      </p:sp>
      <p:sp>
        <p:nvSpPr>
          <p:cNvPr id="28" name="Text 21"/>
          <p:cNvSpPr/>
          <p:nvPr/>
        </p:nvSpPr>
        <p:spPr>
          <a:xfrm>
            <a:off x="694944" y="556412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Probability-impact matrix scored across 19 identified risks.</a:t>
            </a:r>
            <a:endParaRPr lang="en-US" sz="900" dirty="0"/>
          </a:p>
        </p:txBody>
      </p:sp>
      <p:sp>
        <p:nvSpPr>
          <p:cNvPr id="29" name="Shape 22"/>
          <p:cNvSpPr/>
          <p:nvPr/>
        </p:nvSpPr>
        <p:spPr>
          <a:xfrm>
            <a:off x="3372536" y="4229100"/>
            <a:ext cx="2622728" cy="2080260"/>
          </a:xfrm>
          <a:prstGeom prst="roundRect">
            <a:avLst>
              <a:gd name="adj" fmla="val 3516"/>
            </a:avLst>
          </a:prstGeom>
          <a:solidFill>
            <a:srgbClr val="EEF0F1"/>
          </a:solidFill>
          <a:ln/>
        </p:spPr>
      </p:sp>
      <p:sp>
        <p:nvSpPr>
          <p:cNvPr id="30" name="Shape 23"/>
          <p:cNvSpPr/>
          <p:nvPr/>
        </p:nvSpPr>
        <p:spPr>
          <a:xfrm>
            <a:off x="4427868" y="4430268"/>
            <a:ext cx="512064" cy="512064"/>
          </a:xfrm>
          <a:prstGeom prst="ellipse">
            <a:avLst/>
          </a:prstGeom>
          <a:solidFill>
            <a:srgbClr val="23262A"/>
          </a:solidFill>
          <a:ln/>
        </p:spPr>
      </p:sp>
      <p:pic>
        <p:nvPicPr>
          <p:cNvPr id="31" name="Image 5" descr="./assets/network_white.png">    </p:cNvPr>
          <p:cNvPicPr>
            <a:picLocks noChangeAspect="1"/>
          </p:cNvPicPr>
          <p:nvPr/>
        </p:nvPicPr>
        <p:blipFill>
          <a:blip r:embed="rId6"/>
          <a:stretch>
            <a:fillRect/>
          </a:stretch>
        </p:blipFill>
        <p:spPr>
          <a:xfrm>
            <a:off x="4565028" y="4567428"/>
            <a:ext cx="237744" cy="237744"/>
          </a:xfrm>
          <a:prstGeom prst="rect">
            <a:avLst/>
          </a:prstGeom>
        </p:spPr>
      </p:pic>
      <p:sp>
        <p:nvSpPr>
          <p:cNvPr id="32" name="Text 24"/>
          <p:cNvSpPr/>
          <p:nvPr/>
        </p:nvSpPr>
        <p:spPr>
          <a:xfrm>
            <a:off x="3482264" y="505206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Dashboard &amp; Data Viz</a:t>
            </a:r>
            <a:endParaRPr lang="en-US" sz="1150" dirty="0"/>
          </a:p>
        </p:txBody>
      </p:sp>
      <p:sp>
        <p:nvSpPr>
          <p:cNvPr id="33" name="Text 25"/>
          <p:cNvSpPr/>
          <p:nvPr/>
        </p:nvSpPr>
        <p:spPr>
          <a:xfrm>
            <a:off x="3518840" y="556412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Executive KPI dashboard design translating raw data into decisions.</a:t>
            </a:r>
            <a:endParaRPr lang="en-US" sz="900" dirty="0"/>
          </a:p>
        </p:txBody>
      </p:sp>
      <p:sp>
        <p:nvSpPr>
          <p:cNvPr id="34" name="Shape 26"/>
          <p:cNvSpPr/>
          <p:nvPr/>
        </p:nvSpPr>
        <p:spPr>
          <a:xfrm>
            <a:off x="6196432" y="4229100"/>
            <a:ext cx="2622728" cy="2080260"/>
          </a:xfrm>
          <a:prstGeom prst="roundRect">
            <a:avLst>
              <a:gd name="adj" fmla="val 3516"/>
            </a:avLst>
          </a:prstGeom>
          <a:solidFill>
            <a:srgbClr val="F5F6F5"/>
          </a:solidFill>
          <a:ln/>
        </p:spPr>
      </p:sp>
      <p:sp>
        <p:nvSpPr>
          <p:cNvPr id="35" name="Shape 27"/>
          <p:cNvSpPr/>
          <p:nvPr/>
        </p:nvSpPr>
        <p:spPr>
          <a:xfrm>
            <a:off x="7251764" y="4430268"/>
            <a:ext cx="512064" cy="512064"/>
          </a:xfrm>
          <a:prstGeom prst="ellipse">
            <a:avLst/>
          </a:prstGeom>
          <a:solidFill>
            <a:srgbClr val="D9782D"/>
          </a:solidFill>
          <a:ln/>
        </p:spPr>
      </p:sp>
      <p:pic>
        <p:nvPicPr>
          <p:cNvPr id="36" name="Image 6" descr="./assets/comments_white.png">    </p:cNvPr>
          <p:cNvPicPr>
            <a:picLocks noChangeAspect="1"/>
          </p:cNvPicPr>
          <p:nvPr/>
        </p:nvPicPr>
        <p:blipFill>
          <a:blip r:embed="rId7"/>
          <a:stretch>
            <a:fillRect/>
          </a:stretch>
        </p:blipFill>
        <p:spPr>
          <a:xfrm>
            <a:off x="7388924" y="4567428"/>
            <a:ext cx="237744" cy="237744"/>
          </a:xfrm>
          <a:prstGeom prst="rect">
            <a:avLst/>
          </a:prstGeom>
        </p:spPr>
      </p:pic>
      <p:sp>
        <p:nvSpPr>
          <p:cNvPr id="37" name="Text 28"/>
          <p:cNvSpPr/>
          <p:nvPr/>
        </p:nvSpPr>
        <p:spPr>
          <a:xfrm>
            <a:off x="6306160" y="505206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Executive Communication</a:t>
            </a:r>
            <a:endParaRPr lang="en-US" sz="1150" dirty="0"/>
          </a:p>
        </p:txBody>
      </p:sp>
      <p:sp>
        <p:nvSpPr>
          <p:cNvPr id="38" name="Text 29"/>
          <p:cNvSpPr/>
          <p:nvPr/>
        </p:nvSpPr>
        <p:spPr>
          <a:xfrm>
            <a:off x="6342736" y="556412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Board-ready strategic storytelling — this presentation itself.</a:t>
            </a:r>
            <a:endParaRPr lang="en-US" sz="900" dirty="0"/>
          </a:p>
        </p:txBody>
      </p:sp>
      <p:sp>
        <p:nvSpPr>
          <p:cNvPr id="39" name="Shape 30"/>
          <p:cNvSpPr/>
          <p:nvPr/>
        </p:nvSpPr>
        <p:spPr>
          <a:xfrm>
            <a:off x="9020327" y="4229100"/>
            <a:ext cx="2622728" cy="2080260"/>
          </a:xfrm>
          <a:prstGeom prst="roundRect">
            <a:avLst>
              <a:gd name="adj" fmla="val 3516"/>
            </a:avLst>
          </a:prstGeom>
          <a:solidFill>
            <a:srgbClr val="EEF0F1"/>
          </a:solidFill>
          <a:ln/>
        </p:spPr>
      </p:sp>
      <p:sp>
        <p:nvSpPr>
          <p:cNvPr id="40" name="Shape 31"/>
          <p:cNvSpPr/>
          <p:nvPr/>
        </p:nvSpPr>
        <p:spPr>
          <a:xfrm>
            <a:off x="10075659" y="4430268"/>
            <a:ext cx="512064" cy="512064"/>
          </a:xfrm>
          <a:prstGeom prst="ellipse">
            <a:avLst/>
          </a:prstGeom>
          <a:solidFill>
            <a:srgbClr val="23262A"/>
          </a:solidFill>
          <a:ln/>
        </p:spPr>
      </p:sp>
      <p:pic>
        <p:nvPicPr>
          <p:cNvPr id="41" name="Image 7" descr="./assets/gradCap_white.png">    </p:cNvPr>
          <p:cNvPicPr>
            <a:picLocks noChangeAspect="1"/>
          </p:cNvPicPr>
          <p:nvPr/>
        </p:nvPicPr>
        <p:blipFill>
          <a:blip r:embed="rId8"/>
          <a:stretch>
            <a:fillRect/>
          </a:stretch>
        </p:blipFill>
        <p:spPr>
          <a:xfrm>
            <a:off x="10212819" y="4567428"/>
            <a:ext cx="237744" cy="237744"/>
          </a:xfrm>
          <a:prstGeom prst="rect">
            <a:avLst/>
          </a:prstGeom>
        </p:spPr>
      </p:pic>
      <p:sp>
        <p:nvSpPr>
          <p:cNvPr id="42" name="Text 32"/>
          <p:cNvSpPr/>
          <p:nvPr/>
        </p:nvSpPr>
        <p:spPr>
          <a:xfrm>
            <a:off x="9130055" y="5052060"/>
            <a:ext cx="2403272" cy="502920"/>
          </a:xfrm>
          <a:prstGeom prst="rect">
            <a:avLst/>
          </a:prstGeom>
          <a:noFill/>
          <a:ln/>
        </p:spPr>
        <p:txBody>
          <a:bodyPr wrap="square" lIns="0" tIns="0" rIns="0" bIns="0" rtlCol="0" anchor="t"/>
          <a:lstStyle/>
          <a:p>
            <a:pPr algn="ctr" indent="0" marL="0">
              <a:lnSpc>
                <a:spcPct val="102000"/>
              </a:lnSpc>
              <a:buNone/>
            </a:pPr>
            <a:r>
              <a:rPr lang="en-US" sz="1150" b="1" dirty="0">
                <a:solidFill>
                  <a:srgbClr val="23262A"/>
                </a:solidFill>
                <a:latin typeface="Calibri" pitchFamily="34" charset="0"/>
                <a:ea typeface="Calibri" pitchFamily="34" charset="-122"/>
                <a:cs typeface="Calibri" pitchFamily="34" charset="-120"/>
              </a:rPr>
              <a:t>Business Analytics Foundation</a:t>
            </a:r>
            <a:endParaRPr lang="en-US" sz="1150" dirty="0"/>
          </a:p>
        </p:txBody>
      </p:sp>
      <p:sp>
        <p:nvSpPr>
          <p:cNvPr id="43" name="Text 33"/>
          <p:cNvSpPr/>
          <p:nvPr/>
        </p:nvSpPr>
        <p:spPr>
          <a:xfrm>
            <a:off x="9166631" y="5564124"/>
            <a:ext cx="2330120" cy="653796"/>
          </a:xfrm>
          <a:prstGeom prst="rect">
            <a:avLst/>
          </a:prstGeom>
          <a:noFill/>
          <a:ln/>
        </p:spPr>
        <p:txBody>
          <a:bodyPr wrap="square" lIns="0" tIns="0" rIns="0" bIns="0" rtlCol="0" anchor="t"/>
          <a:lstStyle/>
          <a:p>
            <a:pPr algn="ctr" indent="0" marL="0">
              <a:lnSpc>
                <a:spcPct val="108000"/>
              </a:lnSpc>
              <a:buNone/>
            </a:pPr>
            <a:r>
              <a:rPr lang="en-US" sz="900" dirty="0">
                <a:solidFill>
                  <a:srgbClr val="70757C"/>
                </a:solidFill>
                <a:latin typeface="Calibri" pitchFamily="34" charset="0"/>
                <a:ea typeface="Calibri" pitchFamily="34" charset="-122"/>
                <a:cs typeface="Calibri" pitchFamily="34" charset="-120"/>
              </a:rPr>
              <a:t>Applied under an NMIMS MBA (Business Analytics) specialization.</a:t>
            </a:r>
            <a:endParaRPr lang="en-US" sz="900" dirty="0"/>
          </a:p>
        </p:txBody>
      </p:sp>
      <p:sp>
        <p:nvSpPr>
          <p:cNvPr id="44" name="Text 34"/>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70757C"/>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45" name="Text 35"/>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70757C"/>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62A"/>
        </a:solidFill>
      </p:bgPr>
    </p:bg>
    <p:spTree>
      <p:nvGrpSpPr>
        <p:cNvPr id="1" name=""/>
        <p:cNvGrpSpPr/>
        <p:nvPr/>
      </p:nvGrpSpPr>
      <p:grpSpPr>
        <a:xfrm>
          <a:off x="0" y="0"/>
          <a:ext cx="0" cy="0"/>
          <a:chOff x="0" y="0"/>
          <a:chExt cx="0" cy="0"/>
        </a:xfrm>
      </p:grpSpPr>
      <p:sp>
        <p:nvSpPr>
          <p:cNvPr id="2" name="Shape 0"/>
          <p:cNvSpPr/>
          <p:nvPr/>
        </p:nvSpPr>
        <p:spPr>
          <a:xfrm>
            <a:off x="8778240" y="-2560320"/>
            <a:ext cx="5669280" cy="5669280"/>
          </a:xfrm>
          <a:prstGeom prst="ellipse">
            <a:avLst/>
          </a:prstGeom>
          <a:solidFill>
            <a:srgbClr val="2E3237"/>
          </a:solidFill>
          <a:ln/>
        </p:spPr>
      </p:sp>
      <p:sp>
        <p:nvSpPr>
          <p:cNvPr id="3" name="Shape 1"/>
          <p:cNvSpPr/>
          <p:nvPr/>
        </p:nvSpPr>
        <p:spPr>
          <a:xfrm>
            <a:off x="-1920240" y="6400800"/>
            <a:ext cx="2377440" cy="2377440"/>
          </a:xfrm>
          <a:prstGeom prst="ellipse">
            <a:avLst/>
          </a:prstGeom>
          <a:ln w="13970">
            <a:solidFill>
              <a:srgbClr val="D9782D"/>
            </a:solidFill>
            <a:prstDash val="solid"/>
          </a:ln>
        </p:spPr>
      </p:sp>
      <p:pic>
        <p:nvPicPr>
          <p:cNvPr id="4" name="Image 0" descr="./assets/handshake_amber.png">    </p:cNvPr>
          <p:cNvPicPr>
            <a:picLocks noChangeAspect="1"/>
          </p:cNvPicPr>
          <p:nvPr/>
        </p:nvPicPr>
        <p:blipFill>
          <a:blip r:embed="rId1"/>
          <a:stretch>
            <a:fillRect/>
          </a:stretch>
        </p:blipFill>
        <p:spPr>
          <a:xfrm>
            <a:off x="548640" y="1417320"/>
            <a:ext cx="685800" cy="685800"/>
          </a:xfrm>
          <a:prstGeom prst="rect">
            <a:avLst/>
          </a:prstGeom>
        </p:spPr>
      </p:pic>
      <p:sp>
        <p:nvSpPr>
          <p:cNvPr id="5" name="Text 2"/>
          <p:cNvSpPr/>
          <p:nvPr/>
        </p:nvSpPr>
        <p:spPr>
          <a:xfrm>
            <a:off x="548640" y="2286000"/>
            <a:ext cx="91440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3"/>
          <p:cNvSpPr/>
          <p:nvPr/>
        </p:nvSpPr>
        <p:spPr>
          <a:xfrm>
            <a:off x="548640" y="3246120"/>
            <a:ext cx="9144000" cy="457200"/>
          </a:xfrm>
          <a:prstGeom prst="rect">
            <a:avLst/>
          </a:prstGeom>
          <a:noFill/>
          <a:ln/>
        </p:spPr>
        <p:txBody>
          <a:bodyPr wrap="square" lIns="0" tIns="0" rIns="0" bIns="0" rtlCol="0" anchor="ctr"/>
          <a:lstStyle/>
          <a:p>
            <a:pPr indent="0" marL="0">
              <a:buNone/>
            </a:pPr>
            <a:r>
              <a:rPr lang="en-US" sz="1800" dirty="0">
                <a:solidFill>
                  <a:srgbClr val="D9782D"/>
                </a:solidFill>
                <a:latin typeface="Calibri" pitchFamily="34" charset="0"/>
                <a:ea typeface="Calibri" pitchFamily="34" charset="-122"/>
                <a:cs typeface="Calibri" pitchFamily="34" charset="-120"/>
              </a:rPr>
              <a:t>Questions &amp; Discussion Welcome</a:t>
            </a:r>
            <a:endParaRPr lang="en-US" sz="1800" dirty="0"/>
          </a:p>
        </p:txBody>
      </p:sp>
      <p:sp>
        <p:nvSpPr>
          <p:cNvPr id="7" name="Text 4"/>
          <p:cNvSpPr/>
          <p:nvPr/>
        </p:nvSpPr>
        <p:spPr>
          <a:xfrm>
            <a:off x="548640" y="4160520"/>
            <a:ext cx="73152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Abhinav Dubey</a:t>
            </a:r>
            <a:endParaRPr lang="en-US" sz="1500" dirty="0"/>
          </a:p>
        </p:txBody>
      </p:sp>
      <p:sp>
        <p:nvSpPr>
          <p:cNvPr id="8" name="Text 5"/>
          <p:cNvSpPr/>
          <p:nvPr/>
        </p:nvSpPr>
        <p:spPr>
          <a:xfrm>
            <a:off x="548640" y="4498848"/>
            <a:ext cx="8229600" cy="320040"/>
          </a:xfrm>
          <a:prstGeom prst="rect">
            <a:avLst/>
          </a:prstGeom>
          <a:noFill/>
          <a:ln/>
        </p:spPr>
        <p:txBody>
          <a:bodyPr wrap="square" lIns="0" tIns="0" rIns="0" bIns="0" rtlCol="0" anchor="ctr"/>
          <a:lstStyle/>
          <a:p>
            <a:pPr indent="0" marL="0">
              <a:buNone/>
            </a:pPr>
            <a:r>
              <a:rPr lang="en-US" sz="1200" dirty="0">
                <a:solidFill>
                  <a:srgbClr val="B9BEC4"/>
                </a:solidFill>
                <a:latin typeface="Calibri" pitchFamily="34" charset="0"/>
                <a:ea typeface="Calibri" pitchFamily="34" charset="-122"/>
                <a:cs typeface="Calibri" pitchFamily="34" charset="-120"/>
              </a:rPr>
              <a:t>MIS Executive  ·  Business Analytics Portfolio Project</a:t>
            </a:r>
            <a:endParaRPr lang="en-US" sz="1200" dirty="0"/>
          </a:p>
        </p:txBody>
      </p:sp>
      <p:sp>
        <p:nvSpPr>
          <p:cNvPr id="9" name="Shape 6"/>
          <p:cNvSpPr/>
          <p:nvPr/>
        </p:nvSpPr>
        <p:spPr>
          <a:xfrm>
            <a:off x="548640" y="5394960"/>
            <a:ext cx="11094415" cy="685800"/>
          </a:xfrm>
          <a:prstGeom prst="roundRect">
            <a:avLst>
              <a:gd name="adj" fmla="val 9333"/>
            </a:avLst>
          </a:prstGeom>
          <a:solidFill>
            <a:srgbClr val="2E3237"/>
          </a:solidFill>
          <a:ln/>
        </p:spPr>
      </p:sp>
      <p:sp>
        <p:nvSpPr>
          <p:cNvPr id="10" name="Text 7"/>
          <p:cNvSpPr/>
          <p:nvPr/>
        </p:nvSpPr>
        <p:spPr>
          <a:xfrm>
            <a:off x="777240" y="5394960"/>
            <a:ext cx="10637215" cy="685800"/>
          </a:xfrm>
          <a:prstGeom prst="rect">
            <a:avLst/>
          </a:prstGeom>
          <a:noFill/>
          <a:ln/>
        </p:spPr>
        <p:txBody>
          <a:bodyPr wrap="square" lIns="0" tIns="0" rIns="0" bIns="0" rtlCol="0" anchor="ctr"/>
          <a:lstStyle/>
          <a:p>
            <a:pPr indent="0" marL="0">
              <a:buNone/>
            </a:pPr>
            <a:r>
              <a:rPr lang="en-US" sz="1050" i="1" dirty="0">
                <a:solidFill>
                  <a:srgbClr val="B9BEC4"/>
                </a:solidFill>
                <a:latin typeface="Calibri" pitchFamily="34" charset="0"/>
                <a:ea typeface="Calibri" pitchFamily="34" charset="-122"/>
                <a:cs typeface="Calibri" pitchFamily="34" charset="-120"/>
              </a:rPr>
              <a:t>Independent Business Analytics portfolio project — not commissioned, endorsed, or affiliated with UltraTech Cement Limited.</a:t>
            </a:r>
            <a:endParaRPr lang="en-US" sz="1050" dirty="0"/>
          </a:p>
        </p:txBody>
      </p:sp>
      <p:sp>
        <p:nvSpPr>
          <p:cNvPr id="11" name="Text 8"/>
          <p:cNvSpPr/>
          <p:nvPr/>
        </p:nvSpPr>
        <p:spPr>
          <a:xfrm>
            <a:off x="548640" y="6547104"/>
            <a:ext cx="8686800" cy="256032"/>
          </a:xfrm>
          <a:prstGeom prst="rect">
            <a:avLst/>
          </a:prstGeom>
          <a:noFill/>
          <a:ln/>
        </p:spPr>
        <p:txBody>
          <a:bodyPr wrap="square" lIns="0" tIns="0" rIns="0" bIns="0" rtlCol="0" anchor="ctr"/>
          <a:lstStyle/>
          <a:p>
            <a:pPr indent="0" marL="0">
              <a:buNone/>
            </a:pPr>
            <a:r>
              <a:rPr lang="en-US" sz="800" spc="50" kern="0" dirty="0">
                <a:solidFill>
                  <a:srgbClr val="B9BEC4"/>
                </a:solidFill>
                <a:latin typeface="Calibri" pitchFamily="34" charset="0"/>
                <a:ea typeface="Calibri" pitchFamily="34" charset="-122"/>
                <a:cs typeface="Calibri" pitchFamily="34" charset="-120"/>
              </a:rPr>
              <a:t>SOUTH GUJARAT RMC MARKET ENTRY  ·  INDEPENDENT BUSINESS ANALYTICS PORTFOLIO PROJECT</a:t>
            </a:r>
            <a:endParaRPr lang="en-US" sz="800" dirty="0"/>
          </a:p>
        </p:txBody>
      </p:sp>
      <p:sp>
        <p:nvSpPr>
          <p:cNvPr id="12" name="Text 9"/>
          <p:cNvSpPr/>
          <p:nvPr/>
        </p:nvSpPr>
        <p:spPr>
          <a:xfrm>
            <a:off x="11094415" y="6547104"/>
            <a:ext cx="548640" cy="256032"/>
          </a:xfrm>
          <a:prstGeom prst="rect">
            <a:avLst/>
          </a:prstGeom>
          <a:noFill/>
          <a:ln/>
        </p:spPr>
        <p:txBody>
          <a:bodyPr wrap="square" lIns="0" tIns="0" rIns="0" bIns="0" rtlCol="0" anchor="ctr"/>
          <a:lstStyle/>
          <a:p>
            <a:pPr algn="r" indent="0" marL="0">
              <a:buNone/>
            </a:pPr>
            <a:r>
              <a:rPr lang="en-US" sz="850" b="1" dirty="0">
                <a:solidFill>
                  <a:srgbClr val="B9BEC4"/>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Gujarat RMC Market Entry — Feasibility Study &amp; Investment Recommendation</dc:title>
  <dc:subject>Independent Business Analytics Portfolio Project</dc:subject>
  <dc:creator>Abhinav Dubey</dc:creator>
  <cp:lastModifiedBy>Abhinav Dubey</cp:lastModifiedBy>
  <cp:revision>1</cp:revision>
  <dcterms:created xsi:type="dcterms:W3CDTF">2026-07-11T14:30:06Z</dcterms:created>
  <dcterms:modified xsi:type="dcterms:W3CDTF">2026-07-11T14:30:06Z</dcterms:modified>
</cp:coreProperties>
</file>